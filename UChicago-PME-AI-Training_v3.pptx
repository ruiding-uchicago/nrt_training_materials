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9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91" r:id="rId13"/>
    <p:sldId id="292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93" r:id="rId22"/>
    <p:sldId id="294" r:id="rId23"/>
    <p:sldId id="295" r:id="rId24"/>
    <p:sldId id="273" r:id="rId25"/>
    <p:sldId id="274" r:id="rId26"/>
    <p:sldId id="296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</p:sldIdLst>
  <p:sldSz cx="12192000" cy="6858000"/>
  <p:notesSz cx="6858000" cy="12192000"/>
  <p:embeddedFontLst>
    <p:embeddedFont>
      <p:font typeface="IBM Plex Mono" panose="020B0509050203000203" pitchFamily="49" charset="77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jlSHcwHVGMIm9R1lwFlkVRcDsy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23"/>
  </p:normalViewPr>
  <p:slideViewPr>
    <p:cSldViewPr snapToGrid="0">
      <p:cViewPr>
        <p:scale>
          <a:sx n="79" d="100"/>
          <a:sy n="79" d="100"/>
        </p:scale>
        <p:origin x="2048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D813-14E1-6DDD-DF57-7983B161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2DC90-6B75-6799-4ACA-CCB61A558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9C1D8-2A6D-F7F7-3DBF-6B06D8C20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51516-46E1-C85A-8213-D5CC44513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38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85BB7-ED39-52BA-F31C-974624433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5A938-4BED-D5E8-D1D7-8A3D9AFC9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0894B-DBA1-F0BF-EFA3-5654C9C28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6EFDE-6A60-0916-E11C-B35D01E9A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965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A40D8-2A7E-D46B-D7C0-D2950B5FF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949EB-BF67-0036-A9ED-C72D39EC1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F3BB6-8B69-3F0D-765D-E06D4DAEB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FBC40-3032-B973-5876-0B1DED17BA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40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8828ae9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g3f8828ae920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3f8828ae920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f8828ae92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g3f8828ae920_0_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f8828ae920_0_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8828ae920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g3f8828ae920_0_7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f8828ae920_0_7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8828ae92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g3f8828ae920_0_5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f8828ae920_0_5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8828ae92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g3f8828ae920_0_9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f8828ae920_0_9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8828ae920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g3f8828ae920_0_1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f8828ae920_0_1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8828ae920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g3f8828ae920_0_14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f8828ae920_0_14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8828ae920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1" name="Google Shape;511;g3f8828ae920_0_1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f8828ae920_0_1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8828ae920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g3f8828ae920_0_18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f8828ae920_0_18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8828ae920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g3f8828ae920_0_19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f8828ae920_0_19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8828ae920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f8828ae920_0_2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f8828ae920_0_2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8828ae920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9" name="Google Shape;579;g3f8828ae920_0_2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f8828ae920_0_2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8828ae920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6" name="Google Shape;596;g3f8828ae920_0_2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f8828ae920_0_2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8828ae920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3" name="Google Shape;613;g3f8828ae920_0_26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3f8828ae920_0_26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8828ae920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0" name="Google Shape;630;g3f8828ae920_0_27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f8828ae920_0_27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38200" y="6858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9113490" y="685800"/>
            <a:ext cx="231651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908A"/>
              </a:buClr>
              <a:buSzPts val="1110"/>
              <a:buFont typeface="IBM Plex Mono"/>
              <a:buNone/>
            </a:pPr>
            <a:r>
              <a:rPr lang="en-US" sz="1110">
                <a:solidFill>
                  <a:srgbClr val="C99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· MACHINE LEARNING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38200" y="1299493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38199" y="1575718"/>
            <a:ext cx="8127097" cy="2321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Arial"/>
              <a:buNone/>
            </a:pPr>
            <a:r>
              <a:rPr lang="en-US" sz="55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Training Materials for </a:t>
            </a:r>
            <a:r>
              <a:rPr lang="en-US" sz="5550" i="1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Molecular Engineering</a:t>
            </a:r>
            <a:endParaRPr sz="5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38200" y="4106912"/>
            <a:ext cx="8127096" cy="1109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Four teaching modules from tabular machine learning to multimodal extraction, to LLM fine tuning, built from published research and reproducible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539D26-19F9-ADD0-EC81-D9A421DE7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439" y="960689"/>
            <a:ext cx="5371204" cy="53712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20D354-6EB9-B0DF-AEA1-D1F2801CE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57" y="1217131"/>
            <a:ext cx="5817908" cy="38359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7DDB29-EA18-2F61-10ED-8A36EEAB48E7}"/>
              </a:ext>
            </a:extLst>
          </p:cNvPr>
          <p:cNvSpPr txBox="1"/>
          <p:nvPr/>
        </p:nvSpPr>
        <p:spPr>
          <a:xfrm>
            <a:off x="415357" y="652912"/>
            <a:ext cx="6098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/ruiding-</a:t>
            </a:r>
            <a:r>
              <a:rPr lang="en-US" dirty="0" err="1"/>
              <a:t>uchicago</a:t>
            </a:r>
            <a:r>
              <a:rPr lang="en-US" dirty="0"/>
              <a:t>/</a:t>
            </a:r>
            <a:r>
              <a:rPr lang="en-US" dirty="0" err="1"/>
              <a:t>NRT_Training_Materials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143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838200" y="901303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2094384" y="887016"/>
            <a:ext cx="300569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TABULAR ML · ACTIVITY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38200" y="1353741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38200" y="1591866"/>
            <a:ext cx="8182970" cy="2321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Arial"/>
              <a:buNone/>
            </a:pPr>
            <a:r>
              <a:rPr lang="en-US" sz="55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 catalyst activity from a synthesis </a:t>
            </a:r>
            <a:r>
              <a:rPr lang="en-US" sz="5550" i="1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recipe</a:t>
            </a:r>
            <a:endParaRPr sz="5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838200" y="4142110"/>
            <a:ext cx="8333096" cy="1109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734"/>
              <a:buFont typeface="Arial"/>
              <a:buNone/>
            </a:pPr>
            <a:r>
              <a:rPr lang="en-US" sz="1734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Mine literature records of acidic-OER electrocatalysts, then learn to predict overpotential η₁₀ (lower is better) from composition, synthesis, and testing conditions.</a:t>
            </a:r>
            <a:endParaRPr sz="17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2018184" y="609600"/>
            <a:ext cx="185246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PIPELINE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Featurize the database, then climb the model ladder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" name="Google Shape;42;p3"/>
          <p:cNvGrpSpPr/>
          <p:nvPr/>
        </p:nvGrpSpPr>
        <p:grpSpPr>
          <a:xfrm>
            <a:off x="723900" y="2187327"/>
            <a:ext cx="400050" cy="363871"/>
            <a:chOff x="723900" y="2090528"/>
            <a:chExt cx="400050" cy="363871"/>
          </a:xfrm>
        </p:grpSpPr>
        <p:sp>
          <p:nvSpPr>
            <p:cNvPr id="43" name="Google Shape;43;p3"/>
            <p:cNvSpPr/>
            <p:nvPr/>
          </p:nvSpPr>
          <p:spPr>
            <a:xfrm>
              <a:off x="762000" y="2130549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23900" y="2090528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rm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1238250" y="2159124"/>
            <a:ext cx="4768025" cy="139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Map elements to 8 atomic properties 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atomic radius, electronegativity, d-electrons… instead of one-hot. The step that matters most.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3"/>
          <p:cNvGrpSpPr/>
          <p:nvPr/>
        </p:nvGrpSpPr>
        <p:grpSpPr>
          <a:xfrm>
            <a:off x="723900" y="3273519"/>
            <a:ext cx="400050" cy="370604"/>
            <a:chOff x="723900" y="3138242"/>
            <a:chExt cx="400050" cy="370604"/>
          </a:xfrm>
        </p:grpSpPr>
        <p:sp>
          <p:nvSpPr>
            <p:cNvPr id="47" name="Google Shape;47;p3"/>
            <p:cNvSpPr/>
            <p:nvPr/>
          </p:nvSpPr>
          <p:spPr>
            <a:xfrm>
              <a:off x="762000" y="3184996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723900" y="3138242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rm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1238250" y="3273519"/>
            <a:ext cx="4768025" cy="139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Walk the model ladder </a:t>
            </a:r>
            <a:endParaRPr/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linear → decision tree (overfits) → Random Forest &amp; XGBoost → MLP → a committee with uncertainty.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" name="Google Shape;50;p3"/>
          <p:cNvGrpSpPr/>
          <p:nvPr/>
        </p:nvGrpSpPr>
        <p:grpSpPr>
          <a:xfrm>
            <a:off x="723900" y="4724894"/>
            <a:ext cx="400050" cy="361951"/>
            <a:chOff x="723900" y="4201343"/>
            <a:chExt cx="400050" cy="361951"/>
          </a:xfrm>
        </p:grpSpPr>
        <p:sp>
          <p:nvSpPr>
            <p:cNvPr id="51" name="Google Shape;51;p3"/>
            <p:cNvSpPr/>
            <p:nvPr/>
          </p:nvSpPr>
          <p:spPr>
            <a:xfrm>
              <a:off x="762000" y="4239444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23900" y="4201343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rm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3"/>
          <p:cNvSpPr/>
          <p:nvPr/>
        </p:nvSpPr>
        <p:spPr>
          <a:xfrm>
            <a:off x="1238250" y="4743291"/>
            <a:ext cx="4768025" cy="94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lang="en-US" sz="1526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Interpret with SHAP </a:t>
            </a:r>
            <a:endParaRPr/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526"/>
              <a:buFont typeface="Arial"/>
              <a:buNone/>
            </a:pPr>
            <a:r>
              <a:rPr lang="en-US" sz="1526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find the driving factors and spot testing-condition confounders.</a:t>
            </a:r>
            <a:endParaRPr sz="15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324600" y="2353791"/>
            <a:ext cx="5105400" cy="1247775"/>
          </a:xfrm>
          <a:prstGeom prst="roundRect">
            <a:avLst>
              <a:gd name="adj" fmla="val 7634"/>
            </a:avLst>
          </a:prstGeom>
          <a:solidFill>
            <a:srgbClr val="FDF7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324600" y="2353791"/>
            <a:ext cx="28575" cy="1247775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581775" y="2544291"/>
            <a:ext cx="475821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387"/>
              <a:buFont typeface="Arial"/>
              <a:buNone/>
            </a:pPr>
            <a:r>
              <a:rPr lang="en-US" sz="1388" b="1">
                <a:solidFill>
                  <a:srgbClr val="B07A00"/>
                </a:solidFill>
                <a:latin typeface="Arial"/>
                <a:ea typeface="Arial"/>
                <a:cs typeface="Arial"/>
                <a:sym typeface="Arial"/>
              </a:rPr>
              <a:t>The strong tabular baseline</a:t>
            </a:r>
            <a:endParaRPr sz="13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581775" y="2868141"/>
            <a:ext cx="4758214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lang="en-US" sz="1318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Tree ensembles dominate small, wide scientific tables. XGBoost reaches test R² ≈ 0.84 on activity.</a:t>
            </a:r>
            <a:endParaRPr sz="13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324600" y="3792066"/>
            <a:ext cx="916930" cy="376238"/>
          </a:xfrm>
          <a:prstGeom prst="roundRect">
            <a:avLst>
              <a:gd name="adj" fmla="val 50000"/>
            </a:avLst>
          </a:prstGeom>
          <a:solidFill>
            <a:srgbClr val="F3E3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77000" y="3858741"/>
            <a:ext cx="688330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linear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336780" y="3792066"/>
            <a:ext cx="1631007" cy="376238"/>
          </a:xfrm>
          <a:prstGeom prst="roundRect">
            <a:avLst>
              <a:gd name="adj" fmla="val 50000"/>
            </a:avLst>
          </a:prstGeom>
          <a:solidFill>
            <a:srgbClr val="F3E3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489180" y="3858741"/>
            <a:ext cx="1402407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decision tree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063038" y="3792066"/>
            <a:ext cx="1631007" cy="376238"/>
          </a:xfrm>
          <a:prstGeom prst="roundRect">
            <a:avLst>
              <a:gd name="adj" fmla="val 50000"/>
            </a:avLst>
          </a:prstGeom>
          <a:solidFill>
            <a:srgbClr val="F3E3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215438" y="3858741"/>
            <a:ext cx="1402407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random forest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324600" y="4263554"/>
            <a:ext cx="1018952" cy="376238"/>
          </a:xfrm>
          <a:prstGeom prst="roundRect">
            <a:avLst>
              <a:gd name="adj" fmla="val 50000"/>
            </a:avLst>
          </a:prstGeom>
          <a:solidFill>
            <a:srgbClr val="F3E3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77000" y="4330229"/>
            <a:ext cx="790352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xgboost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438802" y="4263554"/>
            <a:ext cx="610865" cy="376238"/>
          </a:xfrm>
          <a:prstGeom prst="roundRect">
            <a:avLst>
              <a:gd name="adj" fmla="val 50000"/>
            </a:avLst>
          </a:prstGeom>
          <a:solidFill>
            <a:srgbClr val="F3E3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591202" y="4330229"/>
            <a:ext cx="382265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mlp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144917" y="4263554"/>
            <a:ext cx="1222921" cy="376238"/>
          </a:xfrm>
          <a:prstGeom prst="roundRect">
            <a:avLst>
              <a:gd name="adj" fmla="val 50000"/>
            </a:avLst>
          </a:prstGeom>
          <a:solidFill>
            <a:srgbClr val="FDF7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297317" y="4330229"/>
            <a:ext cx="994321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committee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D476EB-374F-98E5-AFC0-2392D55FC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801" y="4826025"/>
            <a:ext cx="2934866" cy="14016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F67EA9-C549-8F40-FA0A-9A35AD9334B4}"/>
              </a:ext>
            </a:extLst>
          </p:cNvPr>
          <p:cNvSpPr txBox="1"/>
          <p:nvPr/>
        </p:nvSpPr>
        <p:spPr>
          <a:xfrm>
            <a:off x="5908710" y="5475245"/>
            <a:ext cx="25132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www.science.org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/full/10.1126/sciadv.adr9038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762000" y="108175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018184" y="1067470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62000" y="1534195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62000" y="1772320"/>
            <a:ext cx="4225137" cy="984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932"/>
              <a:buFont typeface="Arial"/>
              <a:buNone/>
            </a:pPr>
            <a:r>
              <a:rPr lang="en-US" sz="2933" b="1" dirty="0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models’ predicting performances</a:t>
            </a:r>
            <a:endParaRPr sz="29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62000" y="2985418"/>
            <a:ext cx="17879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75"/>
              <a:buFont typeface="IBM Plex Mono"/>
              <a:buNone/>
            </a:pPr>
            <a:r>
              <a:rPr lang="en-US" sz="1275" dirty="0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XGBOOST TEST R²</a:t>
            </a:r>
            <a:endParaRPr sz="127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2000" y="3380705"/>
            <a:ext cx="1521247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lang="en-US" sz="5134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0.84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62000" y="4123655"/>
            <a:ext cx="15212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higher is better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549947" y="2985418"/>
            <a:ext cx="9525" cy="16383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902372" y="2985418"/>
            <a:ext cx="1695004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lang="en-US" sz="1179" dirty="0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MAE</a:t>
            </a:r>
            <a:endParaRPr sz="117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902371" y="3323555"/>
            <a:ext cx="1930823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lang="en-US" sz="5134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27.8 </a:t>
            </a:r>
            <a:r>
              <a:rPr lang="en-US" sz="1665" b="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mV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902372" y="4123655"/>
            <a:ext cx="169500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lower is better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62000" y="4890418"/>
            <a:ext cx="3895711" cy="93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56"/>
              <a:buFont typeface="Arial"/>
              <a:buNone/>
            </a:pPr>
            <a:r>
              <a:rPr lang="en-US" sz="1457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Linear and a lone decision tree perform bad; the tree ensembles and the committee cluster at the top.</a:t>
            </a:r>
            <a:endParaRPr sz="145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397475" y="1157288"/>
            <a:ext cx="6032525" cy="4000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 cap="flat" cmpd="sng">
            <a:solidFill>
              <a:srgbClr val="E8E3D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A1714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8450" y="1338263"/>
            <a:ext cx="56705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5627840" y="5272088"/>
            <a:ext cx="580216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25"/>
              <a:buFont typeface="IBM Plex Mono"/>
              <a:buNone/>
            </a:pPr>
            <a:r>
              <a:rPr lang="en-US" sz="1125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R² (higher better) and MAE (lower better) across six models.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62000" y="979363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018184" y="965076"/>
            <a:ext cx="210621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INTERPRETATION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62000" y="1431801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62000" y="1669926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Which factors drive performance?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62000" y="2844924"/>
            <a:ext cx="4081272" cy="160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SHAP attributes each prediction back to its features. Atomic radius, electronegativity, and catalyst loading lead.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62000" y="4645149"/>
            <a:ext cx="4943698" cy="1247775"/>
          </a:xfrm>
          <a:prstGeom prst="roundRect">
            <a:avLst>
              <a:gd name="adj" fmla="val 7634"/>
            </a:avLst>
          </a:prstGeom>
          <a:solidFill>
            <a:srgbClr val="FA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62000" y="4645149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019175" y="4835649"/>
            <a:ext cx="459166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lang="en-US" sz="1388" b="1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Read it as a decision tool</a:t>
            </a:r>
            <a:endParaRPr sz="13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019175" y="5159499"/>
            <a:ext cx="459166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lang="en-US" sz="1318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Color is feature value; spread is impact. It tells you how importance a feature is and how it impacts the output</a:t>
            </a:r>
            <a:endParaRPr sz="13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239098" y="871538"/>
            <a:ext cx="5190902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E8E3D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A1714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0073" y="1052513"/>
            <a:ext cx="4828952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6096000" y="5557838"/>
            <a:ext cx="54691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SHAP beeswarm illustrates feature impact on the XGBoost activity model.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094384" y="1267644"/>
            <a:ext cx="313637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TABULAR ML · STABILITY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lang="en-US" sz="5134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same template, a </a:t>
            </a:r>
            <a:r>
              <a:rPr lang="en-US" sz="5134" i="1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new target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38200" y="3761556"/>
            <a:ext cx="8020792" cy="1109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Point the identical composition-to-property pipeline at stability namely predict catalyst performance decay rate, where lower means more stable. 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2018184" y="823689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62000" y="1528539"/>
            <a:ext cx="4225137" cy="145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new target, the same strong baseline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62000" y="3214836"/>
            <a:ext cx="2173932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RF / COMMITTEE R²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62000" y="3552974"/>
            <a:ext cx="2173932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lang="en-US" sz="5134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61999" y="4353074"/>
            <a:ext cx="353853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stability is the easier target here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62000" y="5134124"/>
            <a:ext cx="3895711" cy="93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56"/>
              <a:buFont typeface="Arial"/>
              <a:buNone/>
            </a:pPr>
            <a:r>
              <a:rPr lang="en-US" sz="1457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Random Forest and the committee reach R² ≈ 0.88–0.90：even stronger than activity, on a smaller table.</a:t>
            </a:r>
            <a:endParaRPr sz="145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397475" y="1264444"/>
            <a:ext cx="6032525" cy="4000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 cap="flat" cmpd="sng">
            <a:solidFill>
              <a:srgbClr val="E8E3D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A1714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8450" y="1445419"/>
            <a:ext cx="56705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6178525" y="5379244"/>
            <a:ext cx="476802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R² and MAE across models on the stability target.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62000" y="1000795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018184" y="986507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LESSON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762000" y="1453232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762000" y="1691357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Activity and stability are </a:t>
            </a:r>
            <a:r>
              <a:rPr lang="en-US" sz="3191" i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different problems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62000" y="2866355"/>
            <a:ext cx="4851566" cy="160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Comparing the two SHAP rankings shows they are governed by partly different factors. A model good at one is not automatically good at the other.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62000" y="4866605"/>
            <a:ext cx="4943698" cy="1004888"/>
          </a:xfrm>
          <a:prstGeom prst="roundRect">
            <a:avLst>
              <a:gd name="adj" fmla="val 6270"/>
            </a:avLst>
          </a:prstGeom>
          <a:solidFill>
            <a:srgbClr val="FDF7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62000" y="4352255"/>
            <a:ext cx="28575" cy="1519238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021905" y="4990128"/>
            <a:ext cx="4591661" cy="852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25"/>
              <a:buFont typeface="Arial"/>
              <a:buNone/>
            </a:pPr>
            <a:r>
              <a:rPr lang="en-US" sz="1425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Reusing the template on a second target to learn what transfers and what doesn't.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239098" y="978694"/>
            <a:ext cx="5190902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E8E3D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A1714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0073" y="1159669"/>
            <a:ext cx="4828952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7020148" y="5664994"/>
            <a:ext cx="4149947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SHAP beeswarm — drivers of the stability model.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2094384" y="1267644"/>
            <a:ext cx="313637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DATASET GALLERY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lang="en-US" sz="5134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pipeline, </a:t>
            </a:r>
            <a:r>
              <a:rPr lang="en-US" sz="5134" i="1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five domains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838200" y="3761556"/>
            <a:ext cx="8020792" cy="1109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A collection of other different chemistry/materials science related domains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 dirty="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</a:t>
            </a: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2018184" y="823689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762000" y="1528539"/>
            <a:ext cx="4225137" cy="145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Composition features → Model ladder → SHAP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762000" y="3214836"/>
            <a:ext cx="2173932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R²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762000" y="3552974"/>
            <a:ext cx="2173932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884"/>
              <a:buFont typeface="Arial"/>
              <a:buNone/>
            </a:pPr>
            <a:r>
              <a:rPr lang="en-US" sz="3885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0.86–0.98</a:t>
            </a:r>
            <a:endParaRPr sz="3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761999" y="4353074"/>
            <a:ext cx="3599794" cy="153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lang="en-US" sz="1480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Steels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lang="en-US" sz="1480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MAX-phase ceramics 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lang="en-US" sz="1480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Double perovskites (PV) 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lang="en-US" sz="1480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Heusler magnets 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lang="en-US" sz="1480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Formation enthalpy</a:t>
            </a:r>
            <a:endParaRPr sz="14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397475" y="1264444"/>
            <a:ext cx="6032525" cy="4000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 cap="flat" cmpd="sng">
            <a:solidFill>
              <a:srgbClr val="E8E3D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A1714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787"/>
              <a:buFont typeface="IBM Plex Mono"/>
              <a:buNone/>
            </a:pPr>
            <a:r>
              <a:rPr lang="en-US" sz="788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 — Dataset Gallery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0461" y="1843954"/>
            <a:ext cx="5774135" cy="2989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5FE4F-DB40-90AE-566D-2794360A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397D01-684D-3DA7-400D-2044CCBEE5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EB2235-12D9-F400-703C-E56850985C03}"/>
              </a:ext>
            </a:extLst>
          </p:cNvPr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1D</a:t>
            </a:r>
            <a:endParaRPr lang="en-US" sz="13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B6FFEE-5EC2-B618-BB3A-F3A0FD43A5F8}"/>
              </a:ext>
            </a:extLst>
          </p:cNvPr>
          <p:cNvSpPr/>
          <p:nvPr/>
        </p:nvSpPr>
        <p:spPr>
          <a:xfrm>
            <a:off x="2018183" y="823689"/>
            <a:ext cx="1997225" cy="419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BRING YOUR OWN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FA9B9E-427D-E93E-B6A5-2FDA3114A585}"/>
              </a:ext>
            </a:extLst>
          </p:cNvPr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5EE9828-D445-FA5D-E25B-3E0FCB6BDF61}"/>
              </a:ext>
            </a:extLst>
          </p:cNvPr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E76FB7-40DE-DACA-619A-5F47946F3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08" y="2080767"/>
            <a:ext cx="10055160" cy="788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9108D2-7943-6D77-FBBA-19EF20A20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421" y="3323557"/>
            <a:ext cx="10055158" cy="218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17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412603-AB91-2939-8D62-69D6F020F4E4}"/>
              </a:ext>
            </a:extLst>
          </p:cNvPr>
          <p:cNvSpPr txBox="1"/>
          <p:nvPr/>
        </p:nvSpPr>
        <p:spPr>
          <a:xfrm>
            <a:off x="169888" y="0"/>
            <a:ext cx="1147746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200" b="1" dirty="0">
                <a:solidFill>
                  <a:schemeClr val="tx1"/>
                </a:solidFill>
                <a:effectLst/>
                <a:latin typeface="+mn-lt"/>
              </a:rPr>
              <a:t>  Datasets — Module 1a / 1b (OER)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R. Ding et al., "Leveraging data mining, active learning, and domain adaptation for efficient discovery of advanced oxygen evolution electrocatalysts," Science Advances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  11, eadr9038 (2025). doi:10.1126/sciadv.adr9038 — DASH repo: https://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github.com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/ruiding-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uchicago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/DASH</a:t>
            </a:r>
          </a:p>
          <a:p>
            <a:pPr marL="0" marR="0">
              <a:buNone/>
            </a:pPr>
            <a:endParaRPr lang="en-US" sz="12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US" sz="1200" b="1" dirty="0">
                <a:solidFill>
                  <a:schemeClr val="tx1"/>
                </a:solidFill>
                <a:effectLst/>
                <a:latin typeface="+mn-lt"/>
              </a:rPr>
              <a:t>  Datasets — Module 1c (</a:t>
            </a:r>
            <a:r>
              <a:rPr lang="en-US" sz="1200" b="1" dirty="0" err="1">
                <a:solidFill>
                  <a:schemeClr val="tx1"/>
                </a:solidFill>
                <a:effectLst/>
                <a:latin typeface="+mn-lt"/>
              </a:rPr>
              <a:t>matminer</a:t>
            </a:r>
            <a:r>
              <a:rPr lang="en-US" sz="1200" b="1" dirty="0">
                <a:solidFill>
                  <a:schemeClr val="tx1"/>
                </a:solidFill>
                <a:effectLst/>
                <a:latin typeface="+mn-lt"/>
              </a:rPr>
              <a:t> dataset gallery)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L. Ward et al., "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Matminer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: An open source toolkit for materials data mining,"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Comput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. Mater. Sci. 152, 60–69 (2018). doi:10.1016/j.commatsci.2018.05.018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A. Dunn et al., "Benchmarking materials property prediction methods: the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Matbench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test set…,"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npj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Comput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. Mater. 6, 138 (2020). doi:10.1038/s41524-020-00406-3 (source of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 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matbench_steels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; data: Citrine Informatics)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M. F. Cover et al., "A comprehensive survey of M2AX phase elastic properties," J. Phys.: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Condens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. Matter 21, 305403 (2009). doi:10.1088/0953-8984/21/30/305403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G. Pilania et al., "Machine learning bandgaps of double perovskites," Sci. Rep. 6, 19375 (2016). doi:10.1038/srep19375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Heusler magnetic properties — Citrine Informatics, "University of Alabama Heusler database," https://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citrination.com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/datasets/150561/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G. Kim et al., "Experimental formation enthalpies for intermetallic phases and other inorganic compounds," Sci. Data 4, 170162 (2017). doi:10.1038/sdata.2017.162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 </a:t>
            </a:r>
          </a:p>
          <a:p>
            <a:pPr marL="0" marR="0">
              <a:buNone/>
            </a:pPr>
            <a:r>
              <a:rPr lang="en-US" sz="1200" b="1" dirty="0">
                <a:solidFill>
                  <a:schemeClr val="tx1"/>
                </a:solidFill>
                <a:effectLst/>
                <a:latin typeface="+mn-lt"/>
              </a:rPr>
              <a:t>  Datasets — Module 1d (</a:t>
            </a:r>
            <a:r>
              <a:rPr lang="en-US" sz="1200" b="1" dirty="0" err="1">
                <a:solidFill>
                  <a:schemeClr val="tx1"/>
                </a:solidFill>
                <a:effectLst/>
                <a:latin typeface="+mn-lt"/>
              </a:rPr>
              <a:t>sample_data</a:t>
            </a:r>
            <a:r>
              <a:rPr lang="en-US" sz="1200" b="1" dirty="0">
                <a:solidFill>
                  <a:schemeClr val="tx1"/>
                </a:solidFill>
                <a:effectLst/>
                <a:latin typeface="+mn-lt"/>
              </a:rPr>
              <a:t>/, bring-your-own-table examples)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Aqueous solubility (Delaney ESOL) — J. Delaney, J. Chem. Inf.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Comput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. Sci. 44, 1000 (2004); via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DeepChem</a:t>
            </a:r>
            <a:endParaRPr lang="en-US" sz="12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Li-battery electrolyte conductivity — CALiSol-23, Scientific Data 11, 750 (2024), CC BY. doi:10.1038/s41597-024-03575-8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Superconductor critical temperature — K.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Hamidieh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, UCI Superconductivity dataset (2018)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Superhard moduli — Mansouri Tehrani et al., JACS 140, 9844 (2018);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matminer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brgoch_superhard_training</a:t>
            </a:r>
            <a:endParaRPr lang="en-US" sz="12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- 2D-material band gap — K. Choudhary et al., Sci. Rep. 7, 5179 (2017);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matminer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jarvis_dft_2d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Dielectric / ferroelectric — I.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Petousis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et al. (2017);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matminer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dielectric_constant</a:t>
            </a:r>
            <a:endParaRPr lang="en-US" sz="12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Perovskite-oxide metal/insulator — A. Emery &amp; C. Wolverton, Sci. Data 4, 170153 (2017);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matminer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wolverton_oxides</a:t>
            </a:r>
            <a:endParaRPr lang="en-US" sz="12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Molecular biodegradability — K. Mansouri et al. (2013); UCI QSAR biodegradation 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High-entropy-alloy hardness — public dataset (Gupta, GitHub, 2022)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MOF CO₂ uptake —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CoRE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MOF 2019: Y. G. Chung et al., J. Chem. Eng. Data 64, 5985 (2019); via R. Chakraborty,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MOF_explore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(GitHub)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 </a:t>
            </a:r>
          </a:p>
          <a:p>
            <a:pPr marL="0" marR="0">
              <a:buNone/>
            </a:pPr>
            <a:r>
              <a:rPr lang="en-US" sz="1200" b="1" dirty="0">
                <a:solidFill>
                  <a:schemeClr val="tx1"/>
                </a:solidFill>
                <a:effectLst/>
                <a:latin typeface="+mn-lt"/>
              </a:rPr>
              <a:t>  Algorithms &amp; software (all of Module 1)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Random Forest — L.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Breiman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, Machine Learning 45, 5–32 (2001)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Gradient-boosted trees (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XGBoost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) — T. Chen &amp; C.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Guestrin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, KDD (2016)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SHAP feature attribution — S. Lundberg &amp; S.-I. Lee,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NeurIPS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(2017)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scikit-learn — F. Pedregosa et al., JMLR 12, 2825 (2011)</a:t>
            </a:r>
          </a:p>
          <a:p>
            <a:pPr marL="0" marR="0"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  -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matminer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/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pymatgen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(as above); pandas, NumPy, matplotlib</a:t>
            </a:r>
            <a:endParaRPr lang="en-US" sz="1200" dirty="0">
              <a:solidFill>
                <a:srgbClr val="F2F2F2"/>
              </a:solidFill>
              <a:effectLst/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6054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2094384" y="1267644"/>
            <a:ext cx="210658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→ DATASET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838200" y="1972494"/>
            <a:ext cx="6863923" cy="156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lang="en-US" sz="5134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papers to a </a:t>
            </a:r>
            <a:r>
              <a:rPr lang="en-US" sz="5134" i="1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clean dataset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838200" y="3761556"/>
            <a:ext cx="7093096" cy="1109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Turn a corpus of papers into a validated table with an LLM.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With auto prompt optimization applied. 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838200" y="5214119"/>
            <a:ext cx="2753171" cy="376238"/>
          </a:xfrm>
          <a:prstGeom prst="roundRect">
            <a:avLst>
              <a:gd name="adj" fmla="val 50000"/>
            </a:avLst>
          </a:prstGeom>
          <a:solidFill>
            <a:srgbClr val="EAAA00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990600" y="5280794"/>
            <a:ext cx="2530967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150 FET-biosensor papers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3686621" y="5214119"/>
            <a:ext cx="1120973" cy="376238"/>
          </a:xfrm>
          <a:prstGeom prst="roundRect">
            <a:avLst>
              <a:gd name="adj" fmla="val 50000"/>
            </a:avLst>
          </a:prstGeom>
          <a:solidFill>
            <a:srgbClr val="EAAA00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3839021" y="5280794"/>
            <a:ext cx="892373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8 fields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2018184" y="6096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METHOD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schema, three metrics, one loop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762000" y="2180244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723900" y="2130549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lang="en-US" sz="12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1238250" y="2159124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Pydantic schema </a:t>
            </a:r>
            <a:r>
              <a:rPr lang="en-US" sz="1650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is the contract for a clean dataset: the fields, types, and units you want out.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762000" y="3244630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723900" y="3184996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lang="en-US" sz="12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1238250" y="3213571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lang="en-US" sz="1526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Three kinds of metric : </a:t>
            </a:r>
            <a:r>
              <a:rPr lang="en-US" sz="1526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exact for categories, unit-normalized for numbers, an LLM judge for chemicals.</a:t>
            </a:r>
            <a:endParaRPr sz="15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762000" y="4279200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723900" y="4239444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lang="en-US" sz="1200" b="1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1238250" y="4268019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lang="en-US" sz="1526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train / val / test discipline </a:t>
            </a:r>
            <a:r>
              <a:rPr lang="en-US" sz="1526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turns prompt tweaks into measured decisions, the loop DSPy and TextGrad automate.</a:t>
            </a:r>
            <a:endParaRPr sz="15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324600" y="2502545"/>
            <a:ext cx="5105400" cy="1247775"/>
          </a:xfrm>
          <a:prstGeom prst="roundRect">
            <a:avLst>
              <a:gd name="adj" fmla="val 7634"/>
            </a:avLst>
          </a:prstGeom>
          <a:solidFill>
            <a:srgbClr val="FA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6324600" y="2502545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6581775" y="2693045"/>
            <a:ext cx="475821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lang="en-US" sz="1388" b="1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Evaluation is the point</a:t>
            </a:r>
            <a:endParaRPr sz="13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6581775" y="3016895"/>
            <a:ext cx="4758214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lang="en-US" sz="1318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Without a held-out test set, every prompt change is a guess. With one, it's a decision.</a:t>
            </a:r>
            <a:endParaRPr sz="13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6324600" y="3921770"/>
            <a:ext cx="1446014" cy="39528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C9C2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486525" y="3997970"/>
            <a:ext cx="1198364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exact match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7865864" y="3921770"/>
            <a:ext cx="1854101" cy="39528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C9C2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8027789" y="3997970"/>
            <a:ext cx="1606451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unit-normalized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9815215" y="3921770"/>
            <a:ext cx="1241971" cy="39528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C9C2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9977140" y="3997970"/>
            <a:ext cx="994321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LLM judge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324600" y="4412307"/>
            <a:ext cx="2141041" cy="376238"/>
          </a:xfrm>
          <a:prstGeom prst="roundRect">
            <a:avLst>
              <a:gd name="adj" fmla="val 50000"/>
            </a:avLst>
          </a:prstGeom>
          <a:solidFill>
            <a:srgbClr val="FDF7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477000" y="4478982"/>
            <a:ext cx="1912441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60 / 39 / 51 split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2018184" y="6096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METHOD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932"/>
              <a:buFont typeface="Arial"/>
              <a:buNone/>
            </a:pPr>
            <a:r>
              <a:rPr lang="en-US" sz="2933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From unstructured publication text to structured knowledge</a:t>
            </a:r>
            <a:endParaRPr sz="2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 descr="Document with solid fill"/>
          <p:cNvSpPr/>
          <p:nvPr/>
        </p:nvSpPr>
        <p:spPr>
          <a:xfrm>
            <a:off x="832776" y="2673502"/>
            <a:ext cx="2386441" cy="238644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0" name="Google Shape;270;p13" descr="Chat bubble with solid fill"/>
          <p:cNvSpPr/>
          <p:nvPr/>
        </p:nvSpPr>
        <p:spPr>
          <a:xfrm>
            <a:off x="3616896" y="3290454"/>
            <a:ext cx="1060334" cy="106033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71" name="Google Shape;271;p13" descr="Llm Images – Browse 57,682 Stock Photos, Vectors, and Video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8949" y="2830021"/>
            <a:ext cx="19812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/>
          <p:nvPr/>
        </p:nvSpPr>
        <p:spPr>
          <a:xfrm>
            <a:off x="7867562" y="2254374"/>
            <a:ext cx="4429992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sensor_type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Gas 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detect_target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Nitrogen Dioxide,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lower_detection_limit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10 pb,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upper_detection_limit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:1200 ppb,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probe_material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zinc oxide,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test_operating_temperature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40 °C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3289995" y="5417563"/>
            <a:ext cx="6408187" cy="40178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3703640" y="4268423"/>
            <a:ext cx="8868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/>
          </a:p>
        </p:txBody>
      </p:sp>
      <p:pic>
        <p:nvPicPr>
          <p:cNvPr id="2" name="Graphic 1" descr="Document with solid fill">
            <a:extLst>
              <a:ext uri="{FF2B5EF4-FFF2-40B4-BE49-F238E27FC236}">
                <a16:creationId xmlns:a16="http://schemas.microsoft.com/office/drawing/2014/main" id="{E1C03681-2C99-BF4B-A62C-519801B0E1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5176" y="2825902"/>
            <a:ext cx="2386441" cy="23864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762000" y="8783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2018184" y="864022"/>
            <a:ext cx="213818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IMPROVEMENT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762000" y="1330747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762000" y="1568872"/>
            <a:ext cx="4225137" cy="984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Stack the levers, climb the accuracy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762000" y="2743870"/>
            <a:ext cx="4225137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HELD-OUT TEST ACCURACY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762000" y="3082007"/>
            <a:ext cx="42251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lang="en-US" sz="3608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0.68 → 0.83</a:t>
            </a:r>
            <a:endParaRPr sz="360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762000" y="3672557"/>
            <a:ext cx="294636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7D52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2F7D52"/>
                </a:solidFill>
                <a:latin typeface="Arial"/>
                <a:ea typeface="Arial"/>
                <a:cs typeface="Arial"/>
                <a:sym typeface="Arial"/>
              </a:rPr>
              <a:t>▲ +0.15 across three stacked levers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1028700" y="4177382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lang="en-US" sz="1596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Prompt optimization </a:t>
            </a:r>
            <a:r>
              <a:rPr lang="en-US" sz="1596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on the training set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1028700" y="4926881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lang="en-US" sz="1596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Few-shot examples </a:t>
            </a:r>
            <a:r>
              <a:rPr lang="en-US" sz="1596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from the worst failures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1028700" y="5676379"/>
            <a:ext cx="3958437" cy="3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lang="en-US" sz="1596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second optimization pass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 cap="flat" cmpd="sng">
            <a:solidFill>
              <a:srgbClr val="E8E3D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A1714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8450" y="1290638"/>
            <a:ext cx="56705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4"/>
          <p:cNvSpPr/>
          <p:nvPr/>
        </p:nvSpPr>
        <p:spPr>
          <a:xfrm>
            <a:off x="5110907" y="5333999"/>
            <a:ext cx="660566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accuracy across prompt versions: baseline → optimized → few-shot → re-optimized.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2094384" y="1267644"/>
            <a:ext cx="210621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MULTIMODAL PDF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lang="en-US" sz="5134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the page, beyond just the </a:t>
            </a:r>
            <a:r>
              <a:rPr lang="en-US" sz="5134" i="1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838200" y="3761556"/>
            <a:ext cx="7365957" cy="1109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734"/>
              <a:buFont typeface="Arial"/>
              <a:buNone/>
            </a:pPr>
            <a:r>
              <a:rPr lang="en-US" sz="1734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Feed a vision model rendered page images instead of linearized text. Same worker, same prompt, one variable changed, so any difference is the modality itself.</a:t>
            </a:r>
            <a:endParaRPr sz="17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762000" y="1172245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2018184" y="1157957"/>
            <a:ext cx="197934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VS IMAGE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762000" y="1624682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762000" y="1862807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450"/>
              <a:buFont typeface="Arial"/>
              <a:buNone/>
            </a:pPr>
            <a:r>
              <a:rPr lang="en-US" sz="3450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Same prompt, two inputs</a:t>
            </a:r>
            <a:endParaRPr sz="3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762000" y="2860446"/>
            <a:ext cx="1000646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lang="en-US" sz="800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lang="en-US" sz="800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PRECISION</a:t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762000" y="3375943"/>
            <a:ext cx="1000646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lang="en-US" sz="3608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0.68</a:t>
            </a:r>
            <a:endParaRPr sz="360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2029346" y="3037805"/>
            <a:ext cx="9525" cy="1185863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2381771" y="2860446"/>
            <a:ext cx="2030090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lang="en-US" sz="800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lang="en-US" sz="800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PRECISION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2381771" y="3375943"/>
            <a:ext cx="203009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7"/>
              <a:buFont typeface="Arial"/>
              <a:buNone/>
            </a:pPr>
            <a:r>
              <a:rPr lang="en-US" sz="3608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sz="3608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2381771" y="3966493"/>
            <a:ext cx="203009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F1 0.68 vs 0.69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762000" y="4452268"/>
            <a:ext cx="4943698" cy="1247775"/>
          </a:xfrm>
          <a:prstGeom prst="roundRect">
            <a:avLst>
              <a:gd name="adj" fmla="val 7634"/>
            </a:avLst>
          </a:prstGeom>
          <a:solidFill>
            <a:srgbClr val="FA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762000" y="4452268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1019175" y="4642768"/>
            <a:ext cx="459166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lang="en-US" sz="1388" b="1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When the text layer fails</a:t>
            </a:r>
            <a:endParaRPr sz="13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1019175" y="4966618"/>
            <a:ext cx="459166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lang="en-US" sz="1318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On the scanned paper, the text arm scores 0.00 in some situation</a:t>
            </a:r>
            <a:endParaRPr sz="13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6239098" y="1026319"/>
            <a:ext cx="5190902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 cap="flat" cmpd="sng">
            <a:solidFill>
              <a:srgbClr val="E8E3D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A1714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0073" y="1207294"/>
            <a:ext cx="4828952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6"/>
          <p:cNvSpPr/>
          <p:nvPr/>
        </p:nvSpPr>
        <p:spPr>
          <a:xfrm>
            <a:off x="7020148" y="5617369"/>
            <a:ext cx="4414838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 vs image extraction F1, pooled and per paper.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762000" y="10339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2018184" y="1019621"/>
            <a:ext cx="223309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RAISING THE BAR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762000" y="1486346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762000" y="1724471"/>
            <a:ext cx="4225137" cy="51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To a higher F1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762000" y="2445321"/>
            <a:ext cx="4225137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MULTIMODAL F1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762000" y="2783458"/>
            <a:ext cx="42251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lang="en-US" sz="3608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0.71 → 0.86</a:t>
            </a:r>
            <a:endParaRPr sz="360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762000" y="3374008"/>
            <a:ext cx="217393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7D52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2F7D52"/>
                </a:solidFill>
                <a:latin typeface="Arial"/>
                <a:ea typeface="Arial"/>
                <a:cs typeface="Arial"/>
                <a:sym typeface="Arial"/>
              </a:rPr>
              <a:t>▲ +0.15 · recall 0.79 · precision 0.95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762000" y="4145533"/>
            <a:ext cx="3958437" cy="99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725"/>
              <a:buFont typeface="Arial"/>
              <a:buNone/>
            </a:pPr>
            <a:r>
              <a:rPr lang="en-US" sz="1725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Selectivity-ordering recovery </a:t>
            </a:r>
            <a:endParaRPr sz="1725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762000" y="5216426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lang="en-US" sz="1596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two-pass read </a:t>
            </a:r>
            <a:r>
              <a:rPr lang="en-US" sz="1596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with an exhaustive prompt (basic multi-agent)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 cap="flat" cmpd="sng">
            <a:solidFill>
              <a:srgbClr val="E8E3D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A1714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6161708" y="5319713"/>
            <a:ext cx="5426341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F1 climb from 0.71 to 0.86 under selectivity-ordering recovery.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8372" y="1457771"/>
            <a:ext cx="5834935" cy="3471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A7867-96BE-B9CC-3BB0-C6628821C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FFF45B-66A4-23A4-9E9C-F7582A775E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244617-8BE7-4E0D-CA8B-094FB9B5D52C}"/>
              </a:ext>
            </a:extLst>
          </p:cNvPr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</a:t>
            </a:r>
            <a:r>
              <a:rPr lang="en-US" sz="1350" spc="189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2C</a:t>
            </a:r>
            <a:endParaRPr lang="en-US" sz="13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71C733-63DB-5405-16A5-9902C672A389}"/>
              </a:ext>
            </a:extLst>
          </p:cNvPr>
          <p:cNvSpPr/>
          <p:nvPr/>
        </p:nvSpPr>
        <p:spPr>
          <a:xfrm>
            <a:off x="2094383" y="1267644"/>
            <a:ext cx="30702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1350" kern="0" spc="189" dirty="0">
                <a:solidFill>
                  <a:srgbClr val="D9A8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TEXT → TWIN</a:t>
            </a:r>
            <a:r>
              <a:rPr lang="zh-CN" altLang="en-US" sz="1350" kern="0" spc="189" dirty="0">
                <a:solidFill>
                  <a:srgbClr val="D9A8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1350" kern="0" spc="189" dirty="0">
                <a:solidFill>
                  <a:srgbClr val="D9A8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r>
              <a:rPr lang="zh-CN" altLang="en-US" sz="1350" kern="0" spc="189" dirty="0">
                <a:solidFill>
                  <a:srgbClr val="D9A8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altLang="zh-CN" sz="1350" kern="0" spc="189" dirty="0">
                <a:solidFill>
                  <a:srgbClr val="D9A8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TRANSLATION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E408E5C-F279-E794-C653-C89319CB272C}"/>
              </a:ext>
            </a:extLst>
          </p:cNvPr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0228EA-86E4-A6F5-4CCE-219E490B8315}"/>
              </a:ext>
            </a:extLst>
          </p:cNvPr>
          <p:cNvSpPr/>
          <p:nvPr/>
        </p:nvSpPr>
        <p:spPr>
          <a:xfrm>
            <a:off x="838200" y="1972494"/>
            <a:ext cx="9152467" cy="154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50" b="1" kern="0" spc="-1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r>
              <a:rPr lang="zh-CN" altLang="en-US" sz="5550" b="1" kern="0" spc="-1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5550" b="1" kern="0" spc="-1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Loop: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5550" b="1" kern="0" spc="-11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Text-Twin-Translation</a:t>
            </a:r>
            <a:endParaRPr lang="en-US" sz="55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1ECA62-FE86-81A7-2D2F-0502695CFC47}"/>
              </a:ext>
            </a:extLst>
          </p:cNvPr>
          <p:cNvSpPr/>
          <p:nvPr/>
        </p:nvSpPr>
        <p:spPr>
          <a:xfrm>
            <a:off x="838200" y="3761556"/>
            <a:ext cx="7093096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Pipeline from Domain Corpus Harvesting to ML Modeling</a:t>
            </a:r>
            <a:endParaRPr lang="en-US" sz="1875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48AF382-7A8A-126D-0F38-5178A43B7F6C}"/>
              </a:ext>
            </a:extLst>
          </p:cNvPr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F2C026F-BD16-4401-F9BC-4799CCADE7D9}"/>
              </a:ext>
            </a:extLst>
          </p:cNvPr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41A4124-1F3F-2B61-0893-A73AAF23E3FD}"/>
              </a:ext>
            </a:extLst>
          </p:cNvPr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B375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2c — Text to data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2418193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33C25-DC81-E948-FEFE-1B3F76F8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B5D9E7-43AA-B4F6-92BC-47D151AAE8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7836EA-75AC-ED0D-3D78-4708818EE8DD}"/>
              </a:ext>
            </a:extLst>
          </p:cNvPr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2C</a:t>
            </a:r>
            <a:endParaRPr lang="en-US" sz="13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DB3AE8-E061-B3CC-05CB-29CF9D492D0F}"/>
              </a:ext>
            </a:extLst>
          </p:cNvPr>
          <p:cNvSpPr/>
          <p:nvPr/>
        </p:nvSpPr>
        <p:spPr>
          <a:xfrm>
            <a:off x="2018183" y="609600"/>
            <a:ext cx="370528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TEXT TWIN TRANSLATION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606C48-5999-35E5-BC61-5BF5DB700612}"/>
              </a:ext>
            </a:extLst>
          </p:cNvPr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BB2271-7677-D8BD-3828-DBFC5AF415E2}"/>
              </a:ext>
            </a:extLst>
          </p:cNvPr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Capacity Use Case: A Whole Pipeline</a:t>
            </a:r>
            <a:endParaRPr lang="en-US" sz="34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4E710E5-AB29-E3A2-5540-4ABB34DD84FE}"/>
              </a:ext>
            </a:extLst>
          </p:cNvPr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72F28B-3B9C-296A-CD69-7F7811A4E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42" y="2063873"/>
            <a:ext cx="8551228" cy="381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51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A5D639-FA45-9337-EFCF-4826DA7E09B8}"/>
              </a:ext>
            </a:extLst>
          </p:cNvPr>
          <p:cNvSpPr txBox="1"/>
          <p:nvPr/>
        </p:nvSpPr>
        <p:spPr>
          <a:xfrm>
            <a:off x="1204233" y="1140030"/>
            <a:ext cx="937668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Arial"/>
              </a:rPr>
              <a:t>  Module 2a — LLM text extraction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Data / task: Rui Ding, Zixin Ding, Rodrigo Pires Ferreira, Yuxin Chen, Junhong Chen, "Text-Twin-Translation (T³): A Full-Stack Machine Learning Framework for Functional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  Material-Device Systems Discovery," KDD '26 (2026)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Models: DeepSeek (v4-flash as worker, v4-pro as prompt optimizer) via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OpenRouter</a:t>
            </a:r>
            <a:endParaRPr lang="en-US" sz="1400" dirty="0">
              <a:solidFill>
                <a:srgbClr val="000000"/>
              </a:solidFill>
              <a:effectLst/>
              <a:latin typeface="Arial"/>
            </a:endParaRP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Software: pandas, matplotlib, requests,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pydantic</a:t>
            </a:r>
            <a:endParaRPr lang="en-US" sz="1400" dirty="0">
              <a:solidFill>
                <a:srgbClr val="000000"/>
              </a:solidFill>
              <a:effectLst/>
              <a:latin typeface="Arial"/>
            </a:endParaRPr>
          </a:p>
          <a:p>
            <a:pPr marL="0" marR="0">
              <a:buNone/>
            </a:pPr>
            <a:br>
              <a:rPr lang="en-US" sz="1400" dirty="0">
                <a:solidFill>
                  <a:srgbClr val="000000"/>
                </a:solidFill>
                <a:effectLst/>
                <a:latin typeface="Arial"/>
              </a:rPr>
            </a:br>
            <a:endParaRPr lang="en-US" sz="1400" dirty="0">
              <a:solidFill>
                <a:srgbClr val="000000"/>
              </a:solidFill>
              <a:effectLst/>
              <a:latin typeface="Arial"/>
            </a:endParaRPr>
          </a:p>
          <a:p>
            <a:pPr marL="0" marR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Arial"/>
              </a:rPr>
              <a:t>  Module 2b — Multimodal PDF extraction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Data / task: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WetSenseBench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 and the T³ project (R. Ding et al.; same as KDD '26 above); paper PDFs remain the property of their publishers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Model: Qwen team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qwen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/qwen3-vl-30b-a3b-thinking via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OpenRouter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Software: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poppler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-utils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pdftotext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 /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pdftoppm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), Pillow, NumPy, pandas, matplotlib, requests,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pydantic</a:t>
            </a:r>
            <a:endParaRPr lang="en-US" sz="1400" dirty="0">
              <a:solidFill>
                <a:srgbClr val="000000"/>
              </a:solidFill>
              <a:effectLst/>
              <a:latin typeface="Arial"/>
            </a:endParaRP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 </a:t>
            </a:r>
          </a:p>
          <a:p>
            <a:pPr marL="0" marR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Arial"/>
              </a:rPr>
              <a:t>  Module 2c — Literature to dataset to model (closed loop)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Literature metadata / search: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OpenAlex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 API (data CC0, https://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openalex.org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)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Full-text extraction: DeepSeek (v4-flash)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Full-text PDFs come from open-access publishers and remain their property; harvested for noncommercial educational use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Algorithms: Random Forest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Breiman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, Machine Learning 45, 5–32, 2001);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XGBoost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 (Chen &amp;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Guestrin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, KDD, 2016)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Software: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PyMuPDF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, requests, scikit-learn (Pedregosa et al., JMLR 12, 2825, 2011), pandas, NumPy, matplotlib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 </a:t>
            </a:r>
            <a:endParaRPr lang="en-US" sz="750" dirty="0">
              <a:solidFill>
                <a:srgbClr val="F2F2F2"/>
              </a:solidFill>
              <a:effectLst/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07532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2094383" y="1267645"/>
            <a:ext cx="3413037" cy="27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DISTILATION &amp; FINE TUNING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838199" y="1972494"/>
            <a:ext cx="8140005" cy="156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lang="en-US" sz="388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DISTILLATION AND FINE TUNING YOUR OWN </a:t>
            </a:r>
            <a:r>
              <a:rPr lang="en-US" sz="3885" i="1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Student LLM</a:t>
            </a:r>
            <a:endParaRPr sz="3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838200" y="3761556"/>
            <a:ext cx="7365957" cy="1109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We would teach a small model to reason from a large one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762000" y="10339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2018184" y="1019621"/>
            <a:ext cx="223309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DISTILLATION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762000" y="1486346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761999" y="1724470"/>
            <a:ext cx="4514193" cy="83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897"/>
              <a:buFont typeface="Arial"/>
              <a:buNone/>
            </a:pPr>
            <a:r>
              <a:rPr lang="en-US" sz="1898" b="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Task: pick the better solvent for a compound (solubench, binary A/B, no reasoning given)</a:t>
            </a:r>
            <a:endParaRPr sz="189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762000" y="2593777"/>
            <a:ext cx="4635474" cy="3449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DeepSeek v4-flash0731 writes the reasoning;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Qwen3-1.7B,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trap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show the teacher the answer → it rationalizes → student scores 0.41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correct way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teacher answers blind, keep only the chains it gets right → 2114 real derivations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Set Result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student 0.01 → 0.825, matching the teacher's own 0.846 accuracy indicating real capability transfer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 cap="flat" cmpd="sng">
            <a:solidFill>
              <a:srgbClr val="E8E3DB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5400000" algn="bl" rotWithShape="0">
              <a:srgbClr val="1A1714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 — DISTILLATION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4587" y="1400175"/>
            <a:ext cx="41783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9" descr="DeepSeek Logo and symbol, meaning, history, PNG, bra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0925" y="1823530"/>
            <a:ext cx="1125483" cy="63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19" descr="Logos Download | Qwe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71814" y="2452493"/>
            <a:ext cx="1003704" cy="293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E86505-A87E-187B-3994-D83A4236A566}"/>
              </a:ext>
            </a:extLst>
          </p:cNvPr>
          <p:cNvSpPr txBox="1"/>
          <p:nvPr/>
        </p:nvSpPr>
        <p:spPr>
          <a:xfrm>
            <a:off x="1694089" y="2628781"/>
            <a:ext cx="815203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Arial"/>
              </a:rPr>
              <a:t>  Module 3 — Reasoning distillation / fine-tuning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Student model: Qwen3-1.7B (Qwen team); Teacher model: DeepSeek v4-flash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Methods: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LoRA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 — Hu et al., ICLR (2022); rejection sampling /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STaR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 — Zelikman et al.,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NeurIPS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 (2022)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Data: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solubench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 (a public solubility benchmark); the reasoning chains and train/test split shipped here are generated by us from its answer-only data</a:t>
            </a:r>
          </a:p>
          <a:p>
            <a:pPr marL="0" marR="0"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  - Software: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Arial"/>
              </a:rPr>
              <a:t>PyTorch</a:t>
            </a:r>
            <a:r>
              <a:rPr lang="en-US" sz="1400" dirty="0">
                <a:solidFill>
                  <a:srgbClr val="000000"/>
                </a:solidFill>
                <a:effectLst/>
                <a:latin typeface="Arial"/>
              </a:rPr>
              <a:t>, Hugging Face Transformers, TRL, PEFT, datasets, pandas, matplotlib</a:t>
            </a:r>
            <a:endParaRPr lang="en-US" sz="750" dirty="0">
              <a:solidFill>
                <a:srgbClr val="F2F2F2"/>
              </a:solidFill>
              <a:effectLst/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45210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8828ae920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f8828ae920_0_0"/>
          <p:cNvSpPr/>
          <p:nvPr/>
        </p:nvSpPr>
        <p:spPr>
          <a:xfrm>
            <a:off x="838200" y="1281931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8828ae920_0_0"/>
          <p:cNvSpPr/>
          <p:nvPr/>
        </p:nvSpPr>
        <p:spPr>
          <a:xfrm>
            <a:off x="2094383" y="1267645"/>
            <a:ext cx="34131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 PROCESSING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f8828ae920_0_0"/>
          <p:cNvSpPr/>
          <p:nvPr/>
        </p:nvSpPr>
        <p:spPr>
          <a:xfrm>
            <a:off x="838200" y="1734369"/>
            <a:ext cx="457200" cy="28500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f8828ae920_0_0"/>
          <p:cNvSpPr/>
          <p:nvPr/>
        </p:nvSpPr>
        <p:spPr>
          <a:xfrm>
            <a:off x="838199" y="1972494"/>
            <a:ext cx="8139900" cy="1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lang="en-US" sz="3885" b="1">
                <a:solidFill>
                  <a:srgbClr val="FFFFFF"/>
                </a:solidFill>
              </a:rPr>
              <a:t>Image Processing via </a:t>
            </a:r>
            <a:endParaRPr sz="3885" b="1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lang="en-US" sz="3885" i="1">
                <a:solidFill>
                  <a:srgbClr val="EAAA00"/>
                </a:solidFill>
              </a:rPr>
              <a:t>Machine Learning</a:t>
            </a:r>
            <a:endParaRPr sz="3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f8828ae920_0_0"/>
          <p:cNvSpPr/>
          <p:nvPr/>
        </p:nvSpPr>
        <p:spPr>
          <a:xfrm>
            <a:off x="838200" y="3761556"/>
            <a:ext cx="7365900" cy="1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</a:rPr>
              <a:t>How to detect and track objects in a noisy data stream?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f8828ae920_0_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f8828ae920_0_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f8828ae920_0_0"/>
          <p:cNvSpPr/>
          <p:nvPr/>
        </p:nvSpPr>
        <p:spPr>
          <a:xfrm>
            <a:off x="8978205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4 -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8828ae920_0_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f8828ae920_0_1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f8828ae920_0_1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PHENOMENON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f8828ae920_0_1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f8828ae920_0_1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4" name="Google Shape;414;g3f8828ae920_0_1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15" name="Google Shape;415;g3f8828ae920_0_1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g3f8828ae920_0_1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7" name="Google Shape;417;g3f8828ae920_0_1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phenomenon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Pt NPs micelles disassembling in liquid-phase transmission electron microscopy (LP-TEM) movies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Micelle breaks → Pt NPs scatter → Pt NPs bond → Pt dumbbells → dissociate → swap partners &amp; re-assemble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 i="1">
                <a:solidFill>
                  <a:srgbClr val="403B36"/>
                </a:solidFill>
              </a:rPr>
              <a:t>Disclaimer: all data presented in this module is a courtesy of Dr. Xiaoben Zhang (post-doc @ Chen group)</a:t>
            </a:r>
            <a:endParaRPr sz="1650" i="1">
              <a:solidFill>
                <a:srgbClr val="403B36"/>
              </a:solidFill>
            </a:endParaRPr>
          </a:p>
        </p:txBody>
      </p:sp>
      <p:sp>
        <p:nvSpPr>
          <p:cNvPr id="418" name="Google Shape;418;g3f8828ae920_0_1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8828ae920_0_1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8828ae920_0_1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8828ae920_0_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f8828ae920_0_7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f8828ae920_0_7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PHENOMENON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8828ae920_0_7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8828ae920_0_7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g3f8828ae920_0_7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32" name="Google Shape;432;g3f8828ae920_0_7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g3f8828ae920_0_7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4" name="Google Shape;434;g3f8828ae920_0_7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phenomenon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</p:txBody>
      </p:sp>
      <p:sp>
        <p:nvSpPr>
          <p:cNvPr id="435" name="Google Shape;435;g3f8828ae920_0_7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f8828ae920_0_7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f8828ae920_0_7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g3f8828ae920_0_78" title="Screenshot 2026-08-27 at 10.22.1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100" y="1955350"/>
            <a:ext cx="6981852" cy="42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8828ae920_0_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f8828ae920_0_5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f8828ae920_0_5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PROBLEM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f8828ae920_0_5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f8828ae920_0_5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9" name="Google Shape;449;g3f8828ae920_0_5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50" name="Google Shape;450;g3f8828ae920_0_5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g3f8828ae920_0_5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g3f8828ae920_0_5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problem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It’s very challenging to detect and keep track of those Pt dumbbells!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</p:txBody>
      </p:sp>
      <p:sp>
        <p:nvSpPr>
          <p:cNvPr id="453" name="Google Shape;453;g3f8828ae920_0_5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f8828ae920_0_5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f8828ae920_0_5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g3f8828ae920_0_53" title="Screenshot 2026-08-27 at 10.27.2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725" y="2829475"/>
            <a:ext cx="3388323" cy="334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8828ae920_0_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f8828ae920_0_95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8828ae920_0_95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TASK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8828ae920_0_95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8828ae920_0_95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7" name="Google Shape;467;g3f8828ae920_0_95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68" name="Google Shape;468;g3f8828ae920_0_95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g3f8828ae920_0_95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" name="Google Shape;470;g3f8828ae920_0_95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task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Design a ML algorithm that: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arenR"/>
            </a:pPr>
            <a:r>
              <a:rPr lang="en-US" sz="1650">
                <a:solidFill>
                  <a:srgbClr val="403B36"/>
                </a:solidFill>
              </a:rPr>
              <a:t>takes the raw, noisy TEM frames 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arenR"/>
            </a:pPr>
            <a:r>
              <a:rPr lang="en-US" sz="1650">
                <a:solidFill>
                  <a:srgbClr val="403B36"/>
                </a:solidFill>
              </a:rPr>
              <a:t>denoises the frames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arenR"/>
            </a:pPr>
            <a:r>
              <a:rPr lang="en-US" sz="1650">
                <a:solidFill>
                  <a:srgbClr val="403B36"/>
                </a:solidFill>
              </a:rPr>
              <a:t>detects when and where Pt dumbbells are formed 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arenR"/>
            </a:pPr>
            <a:r>
              <a:rPr lang="en-US" sz="1650">
                <a:solidFill>
                  <a:srgbClr val="403B36"/>
                </a:solidFill>
              </a:rPr>
              <a:t>keeps track of the dumbbells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arenR"/>
            </a:pPr>
            <a:r>
              <a:rPr lang="en-US" sz="1650">
                <a:solidFill>
                  <a:srgbClr val="403B36"/>
                </a:solidFill>
              </a:rPr>
              <a:t>returns the dumbbells life statistics (mean lifetime and population over time)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</p:txBody>
      </p:sp>
      <p:sp>
        <p:nvSpPr>
          <p:cNvPr id="471" name="Google Shape;471;g3f8828ae920_0_95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f8828ae920_0_95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8828ae920_0_95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8828ae920_0_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8828ae920_0_11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8828ae920_0_11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TASK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8828ae920_0_11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f8828ae920_0_11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4" name="Google Shape;484;g3f8828ae920_0_11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85" name="Google Shape;485;g3f8828ae920_0_11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g3f8828ae920_0_11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7" name="Google Shape;487;g3f8828ae920_0_11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task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</p:txBody>
      </p:sp>
      <p:sp>
        <p:nvSpPr>
          <p:cNvPr id="488" name="Google Shape;488;g3f8828ae920_0_11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8828ae920_0_11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8828ae920_0_11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g3f8828ae920_0_113" title="population_dumbbell_dynamics_10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499" y="2741925"/>
            <a:ext cx="11718999" cy="3244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8828ae920_0_1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f8828ae920_0_14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8828ae920_0_14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f8828ae920_0_14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8828ae920_0_14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2" name="Google Shape;502;g3f8828ae920_0_14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03" name="Google Shape;503;g3f8828ae920_0_14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g3f8828ae920_0_14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g3f8828ae920_0_14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f8828ae920_0_14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f8828ae920_0_14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f8828ae920_0_14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model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The most important question to answer: </a:t>
            </a:r>
            <a:r>
              <a:rPr lang="en-US" sz="1650" i="1">
                <a:solidFill>
                  <a:srgbClr val="403B36"/>
                </a:solidFill>
              </a:rPr>
              <a:t>what defines a dumbbell?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8828ae920_0_1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f8828ae920_0_13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f8828ae920_0_13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f8828ae920_0_13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f8828ae920_0_13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9" name="Google Shape;519;g3f8828ae920_0_13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20" name="Google Shape;520;g3f8828ae920_0_13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g3f8828ae920_0_13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2" name="Google Shape;522;g3f8828ae920_0_13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f8828ae920_0_13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8828ae920_0_13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f8828ae920_0_13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model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The most important question to answer: </a:t>
            </a:r>
            <a:r>
              <a:rPr lang="en-US" sz="1650" i="1">
                <a:solidFill>
                  <a:srgbClr val="403B36"/>
                </a:solidFill>
              </a:rPr>
              <a:t>what defines a dumbbell? </a:t>
            </a:r>
            <a:endParaRPr sz="1650" i="1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from experiments, it fundamentally depends on the </a:t>
            </a:r>
            <a:r>
              <a:rPr lang="en-US" sz="1650" i="1">
                <a:solidFill>
                  <a:srgbClr val="403B36"/>
                </a:solidFill>
              </a:rPr>
              <a:t>distance </a:t>
            </a:r>
            <a:r>
              <a:rPr lang="en-US" sz="1650">
                <a:solidFill>
                  <a:srgbClr val="403B36"/>
                </a:solidFill>
              </a:rPr>
              <a:t>and </a:t>
            </a:r>
            <a:r>
              <a:rPr lang="en-US" sz="1650" i="1">
                <a:solidFill>
                  <a:srgbClr val="403B36"/>
                </a:solidFill>
              </a:rPr>
              <a:t>velocity</a:t>
            </a:r>
            <a:r>
              <a:rPr lang="en-US" sz="1650">
                <a:solidFill>
                  <a:srgbClr val="403B36"/>
                </a:solidFill>
              </a:rPr>
              <a:t> of the particles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define bands/thresholds for distance and velocity correlation</a:t>
            </a:r>
            <a:endParaRPr sz="1650">
              <a:solidFill>
                <a:srgbClr val="403B36"/>
              </a:solidFill>
            </a:endParaRPr>
          </a:p>
          <a:p>
            <a:pPr marL="914400" marR="0" lvl="1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○"/>
            </a:pPr>
            <a:r>
              <a:rPr lang="en-US" sz="1650" i="1">
                <a:solidFill>
                  <a:srgbClr val="403B36"/>
                </a:solidFill>
              </a:rPr>
              <a:t>which physical parameters define your problem? which values are acceptable?</a:t>
            </a: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8828ae920_0_1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f8828ae920_0_18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f8828ae920_0_18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f8828ae920_0_18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8828ae920_0_18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6" name="Google Shape;536;g3f8828ae920_0_18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37" name="Google Shape;537;g3f8828ae920_0_18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g3f8828ae920_0_18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9" name="Google Shape;539;g3f8828ae920_0_18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f8828ae920_0_18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f8828ae920_0_18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f8828ae920_0_18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model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The most important question to answer: </a:t>
            </a:r>
            <a:r>
              <a:rPr lang="en-US" sz="1650" i="1">
                <a:solidFill>
                  <a:srgbClr val="403B36"/>
                </a:solidFill>
              </a:rPr>
              <a:t>what defines a dumbbell? </a:t>
            </a: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A dumbbell is born if…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2.5 nm ≤ </a:t>
            </a:r>
            <a:r>
              <a:rPr lang="en-US" sz="1650" i="1">
                <a:solidFill>
                  <a:srgbClr val="403B36"/>
                </a:solidFill>
              </a:rPr>
              <a:t>d</a:t>
            </a:r>
            <a:r>
              <a:rPr lang="en-US" sz="1650">
                <a:solidFill>
                  <a:srgbClr val="403B36"/>
                </a:solidFill>
              </a:rPr>
              <a:t> ≤ 6.5 nm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mean velocity correlation </a:t>
            </a:r>
            <a:r>
              <a:rPr lang="en-US" sz="1650" i="1">
                <a:solidFill>
                  <a:srgbClr val="403B36"/>
                </a:solidFill>
              </a:rPr>
              <a:t>vc</a:t>
            </a:r>
            <a:r>
              <a:rPr lang="en-US" sz="1650">
                <a:solidFill>
                  <a:srgbClr val="403B36"/>
                </a:solidFill>
              </a:rPr>
              <a:t> ≥ 0.5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it persists for </a:t>
            </a:r>
            <a:r>
              <a:rPr lang="en-US" sz="1650" i="1">
                <a:solidFill>
                  <a:srgbClr val="403B36"/>
                </a:solidFill>
              </a:rPr>
              <a:t>N</a:t>
            </a:r>
            <a:r>
              <a:rPr lang="en-US" sz="1650">
                <a:solidFill>
                  <a:srgbClr val="403B36"/>
                </a:solidFill>
              </a:rPr>
              <a:t> consecutive frames </a:t>
            </a: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8828ae920_0_1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f8828ae920_0_196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f8828ae920_0_196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f8828ae920_0_196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f8828ae920_0_196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3" name="Google Shape;553;g3f8828ae920_0_196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54" name="Google Shape;554;g3f8828ae920_0_196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g3f8828ae920_0_196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6" name="Google Shape;556;g3f8828ae920_0_196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f8828ae920_0_196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f8828ae920_0_196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f8828ae920_0_196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model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The most important question to answer: </a:t>
            </a:r>
            <a:r>
              <a:rPr lang="en-US" sz="1650" i="1">
                <a:solidFill>
                  <a:srgbClr val="403B36"/>
                </a:solidFill>
              </a:rPr>
              <a:t>what defines a dumbbell? </a:t>
            </a: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A dumbbell is born if…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2.5 nm ≤ </a:t>
            </a:r>
            <a:r>
              <a:rPr lang="en-US" sz="1650" i="1">
                <a:solidFill>
                  <a:srgbClr val="403B36"/>
                </a:solidFill>
              </a:rPr>
              <a:t>d</a:t>
            </a:r>
            <a:r>
              <a:rPr lang="en-US" sz="1650">
                <a:solidFill>
                  <a:srgbClr val="403B36"/>
                </a:solidFill>
              </a:rPr>
              <a:t> ≤ 6.5 nm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mean velocity correlation </a:t>
            </a:r>
            <a:r>
              <a:rPr lang="en-US" sz="1650" i="1">
                <a:solidFill>
                  <a:srgbClr val="403B36"/>
                </a:solidFill>
              </a:rPr>
              <a:t>vc</a:t>
            </a:r>
            <a:r>
              <a:rPr lang="en-US" sz="1650">
                <a:solidFill>
                  <a:srgbClr val="403B36"/>
                </a:solidFill>
              </a:rPr>
              <a:t> ≥ 0.5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it persists for </a:t>
            </a:r>
            <a:r>
              <a:rPr lang="en-US" sz="1650" i="1">
                <a:solidFill>
                  <a:srgbClr val="403B36"/>
                </a:solidFill>
              </a:rPr>
              <a:t>N</a:t>
            </a:r>
            <a:r>
              <a:rPr lang="en-US" sz="1650">
                <a:solidFill>
                  <a:srgbClr val="403B36"/>
                </a:solidFill>
              </a:rPr>
              <a:t> consecutive frames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A dumbbell dies if…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any of those conditions becomes false (</a:t>
            </a:r>
            <a:r>
              <a:rPr lang="en-US" sz="1650" i="1">
                <a:solidFill>
                  <a:srgbClr val="403B36"/>
                </a:solidFill>
              </a:rPr>
              <a:t>e.g. d = 7 nm</a:t>
            </a:r>
            <a:r>
              <a:rPr lang="en-US" sz="1650">
                <a:solidFill>
                  <a:srgbClr val="403B36"/>
                </a:solidFill>
              </a:rPr>
              <a:t>)</a:t>
            </a: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f8828ae920_0_2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f8828ae920_0_212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f8828ae920_0_212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f8828ae920_0_212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8828ae920_0_212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0" name="Google Shape;570;g3f8828ae920_0_212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71" name="Google Shape;571;g3f8828ae920_0_212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g3f8828ae920_0_212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3" name="Google Shape;573;g3f8828ae920_0_212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f8828ae920_0_212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f8828ae920_0_212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f8828ae920_0_212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validation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Our model seems reasonable. Is it really, though?</a:t>
            </a: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8828ae920_0_2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f8828ae920_0_22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f8828ae920_0_22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f8828ae920_0_22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f8828ae920_0_22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7" name="Google Shape;587;g3f8828ae920_0_22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88" name="Google Shape;588;g3f8828ae920_0_22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g3f8828ae920_0_22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0" name="Google Shape;590;g3f8828ae920_0_22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f8828ae920_0_22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8828ae920_0_22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f8828ae920_0_22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validation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Our model seems reasonable. Is it really, though?</a:t>
            </a: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Ideally, you should have some </a:t>
            </a:r>
            <a:r>
              <a:rPr lang="en-US" sz="1650" i="1">
                <a:solidFill>
                  <a:srgbClr val="403B36"/>
                </a:solidFill>
              </a:rPr>
              <a:t>ground truth </a:t>
            </a:r>
            <a:r>
              <a:rPr lang="en-US" sz="1650">
                <a:solidFill>
                  <a:srgbClr val="403B36"/>
                </a:solidFill>
              </a:rPr>
              <a:t>(GT) data, </a:t>
            </a:r>
            <a:r>
              <a:rPr lang="en-US" sz="1650" i="1">
                <a:solidFill>
                  <a:srgbClr val="403B36"/>
                </a:solidFill>
              </a:rPr>
              <a:t>i.e., </a:t>
            </a:r>
            <a:r>
              <a:rPr lang="en-US" sz="1650">
                <a:solidFill>
                  <a:srgbClr val="403B36"/>
                </a:solidFill>
              </a:rPr>
              <a:t>high-confidence data that </a:t>
            </a:r>
            <a:r>
              <a:rPr lang="en-US" sz="1650" i="1">
                <a:solidFill>
                  <a:srgbClr val="403B36"/>
                </a:solidFill>
              </a:rPr>
              <a:t>really</a:t>
            </a:r>
            <a:r>
              <a:rPr lang="en-US" sz="1650">
                <a:solidFill>
                  <a:srgbClr val="403B36"/>
                </a:solidFill>
              </a:rPr>
              <a:t> represents your phenomenon.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f8828ae920_0_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f8828ae920_0_244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f8828ae920_0_244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f8828ae920_0_244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f8828ae920_0_244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4" name="Google Shape;604;g3f8828ae920_0_244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05" name="Google Shape;605;g3f8828ae920_0_244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g3f8828ae920_0_244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7" name="Google Shape;607;g3f8828ae920_0_244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f8828ae920_0_244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f8828ae920_0_244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g3f8828ae920_0_244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validation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Our model seems reasonable. Is it really, though?</a:t>
            </a: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Ideally, you should have some </a:t>
            </a:r>
            <a:r>
              <a:rPr lang="en-US" sz="1650" i="1">
                <a:solidFill>
                  <a:srgbClr val="403B36"/>
                </a:solidFill>
              </a:rPr>
              <a:t>ground truth </a:t>
            </a:r>
            <a:r>
              <a:rPr lang="en-US" sz="1650">
                <a:solidFill>
                  <a:srgbClr val="403B36"/>
                </a:solidFill>
              </a:rPr>
              <a:t>(GT) data, </a:t>
            </a:r>
            <a:r>
              <a:rPr lang="en-US" sz="1650" i="1">
                <a:solidFill>
                  <a:srgbClr val="403B36"/>
                </a:solidFill>
              </a:rPr>
              <a:t>i.e., </a:t>
            </a:r>
            <a:r>
              <a:rPr lang="en-US" sz="1650">
                <a:solidFill>
                  <a:srgbClr val="403B36"/>
                </a:solidFill>
              </a:rPr>
              <a:t>high-confidence data that </a:t>
            </a:r>
            <a:r>
              <a:rPr lang="en-US" sz="1650" i="1">
                <a:solidFill>
                  <a:srgbClr val="403B36"/>
                </a:solidFill>
              </a:rPr>
              <a:t>really</a:t>
            </a:r>
            <a:r>
              <a:rPr lang="en-US" sz="1650">
                <a:solidFill>
                  <a:srgbClr val="403B36"/>
                </a:solidFill>
              </a:rPr>
              <a:t> represents your phenomenon.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in our case, we have </a:t>
            </a:r>
            <a:r>
              <a:rPr lang="en-US" sz="1650" i="1">
                <a:solidFill>
                  <a:srgbClr val="403B36"/>
                </a:solidFill>
              </a:rPr>
              <a:t>annotated dumbbell positions </a:t>
            </a:r>
            <a:r>
              <a:rPr lang="en-US" sz="1650">
                <a:solidFill>
                  <a:srgbClr val="403B36"/>
                </a:solidFill>
              </a:rPr>
              <a:t>in a small portion of the TEM frames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we will run our model with those assumptions to see if our output correctly matches the annotated positions (GT data)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f8828ae920_0_2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f8828ae920_0_26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f8828ae920_0_26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f8828ae920_0_26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f8828ae920_0_26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1" name="Google Shape;621;g3f8828ae920_0_26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22" name="Google Shape;622;g3f8828ae920_0_26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g3f8828ae920_0_26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4" name="Google Shape;624;g3f8828ae920_0_26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f8828ae920_0_26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f8828ae920_0_26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f8828ae920_0_26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validation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Our model seems reasonable. Is it really, though?</a:t>
            </a: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Ideally, you should have some </a:t>
            </a:r>
            <a:r>
              <a:rPr lang="en-US" sz="1650" i="1">
                <a:solidFill>
                  <a:srgbClr val="403B36"/>
                </a:solidFill>
              </a:rPr>
              <a:t>ground truth </a:t>
            </a:r>
            <a:r>
              <a:rPr lang="en-US" sz="1650">
                <a:solidFill>
                  <a:srgbClr val="403B36"/>
                </a:solidFill>
              </a:rPr>
              <a:t>(GT) data, </a:t>
            </a:r>
            <a:r>
              <a:rPr lang="en-US" sz="1650" i="1">
                <a:solidFill>
                  <a:srgbClr val="403B36"/>
                </a:solidFill>
              </a:rPr>
              <a:t>i.e., </a:t>
            </a:r>
            <a:r>
              <a:rPr lang="en-US" sz="1650">
                <a:solidFill>
                  <a:srgbClr val="403B36"/>
                </a:solidFill>
              </a:rPr>
              <a:t>high-confidence data that </a:t>
            </a:r>
            <a:r>
              <a:rPr lang="en-US" sz="1650" i="1">
                <a:solidFill>
                  <a:srgbClr val="403B36"/>
                </a:solidFill>
              </a:rPr>
              <a:t>really</a:t>
            </a:r>
            <a:r>
              <a:rPr lang="en-US" sz="1650">
                <a:solidFill>
                  <a:srgbClr val="403B36"/>
                </a:solidFill>
              </a:rPr>
              <a:t> represents your phenomenon.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in our case, we have </a:t>
            </a:r>
            <a:r>
              <a:rPr lang="en-US" sz="1650" i="1">
                <a:solidFill>
                  <a:srgbClr val="403B36"/>
                </a:solidFill>
              </a:rPr>
              <a:t>annotated dumbbell positions </a:t>
            </a:r>
            <a:r>
              <a:rPr lang="en-US" sz="1650">
                <a:solidFill>
                  <a:srgbClr val="403B36"/>
                </a:solidFill>
              </a:rPr>
              <a:t>in a small portion of the TEM frames</a:t>
            </a:r>
            <a:endParaRPr sz="1650">
              <a:solidFill>
                <a:srgbClr val="403B36"/>
              </a:solidFill>
            </a:endParaRPr>
          </a:p>
          <a:p>
            <a:pPr marL="457200" marR="0" lvl="0" indent="-33337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we will run our model with those assumptions to see if our output correctly matches the annotated positions (GT data)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i="1">
                <a:solidFill>
                  <a:srgbClr val="403B36"/>
                </a:solidFill>
              </a:rPr>
              <a:t>PS1: in practice, we iterate/update the parameters until we match the GT data</a:t>
            </a: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i="1">
                <a:solidFill>
                  <a:srgbClr val="403B36"/>
                </a:solidFill>
              </a:rPr>
              <a:t>PS2: what happens if you don’t have any GT data?</a:t>
            </a: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 </a:t>
            </a:r>
            <a:endParaRPr sz="1650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f8828ae920_0_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f8828ae920_0_276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g3f8828ae920_0_276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CODE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3f8828ae920_0_276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f8828ae920_0_276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lang="en-US" sz="3191" b="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8" name="Google Shape;638;g3f8828ae920_0_276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39" name="Google Shape;639;g3f8828ae920_0_276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g3f8828ae920_0_276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lang="en-US" sz="1200" b="1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1" name="Google Shape;641;g3f8828ae920_0_276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f8828ae920_0_276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g3f8828ae920_0_276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g3f8828ae920_0_276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1A1714"/>
                </a:solidFill>
              </a:rPr>
              <a:t>The code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Jupyter notebook on github!</a:t>
            </a:r>
            <a:endParaRPr sz="1650" i="1">
              <a:solidFill>
                <a:srgbClr val="403B36"/>
              </a:solidFill>
            </a:endParaRPr>
          </a:p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3258</Words>
  <Application>Microsoft Macintosh PowerPoint</Application>
  <PresentationFormat>Widescreen</PresentationFormat>
  <Paragraphs>469</Paragraphs>
  <Slides>41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IBM Plex Mono</vt:lpstr>
      <vt:lpstr>Arial</vt:lpstr>
      <vt:lpstr>Calibri</vt:lpstr>
      <vt:lpstr>Monaco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Rui Ding</cp:lastModifiedBy>
  <cp:revision>5</cp:revision>
  <dcterms:created xsi:type="dcterms:W3CDTF">2026-06-06T19:55:52Z</dcterms:created>
  <dcterms:modified xsi:type="dcterms:W3CDTF">2026-08-27T23:34:51Z</dcterms:modified>
</cp:coreProperties>
</file>