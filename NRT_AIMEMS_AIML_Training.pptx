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0" r:id="rId4"/>
    <p:sldMasterId id="214748365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6858000" cx="12192000"/>
  <p:notesSz cx="6858000" cy="9144000"/>
  <p:embeddedFontLst>
    <p:embeddedFont>
      <p:font typeface="IBM Plex Mono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6" roundtripDataSignature="AMtx7mgZZgv05YybtUuhGdognoWvmcGW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IBMPlexMono-bold.fntdata"/><Relationship Id="rId52" Type="http://schemas.openxmlformats.org/officeDocument/2006/relationships/font" Target="fonts/IBMPlexMono-regular.fntdata"/><Relationship Id="rId11" Type="http://schemas.openxmlformats.org/officeDocument/2006/relationships/slide" Target="slides/slide5.xml"/><Relationship Id="rId55" Type="http://schemas.openxmlformats.org/officeDocument/2006/relationships/font" Target="fonts/IBMPlexMono-boldItalic.fntdata"/><Relationship Id="rId10" Type="http://schemas.openxmlformats.org/officeDocument/2006/relationships/slide" Target="slides/slide4.xml"/><Relationship Id="rId54" Type="http://schemas.openxmlformats.org/officeDocument/2006/relationships/font" Target="fonts/IBMPlexMon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6" name="Google Shape;306;p1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4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9" name="Google Shape;329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6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3" name="Google Shape;363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7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3" name="Google Shape;383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8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5" name="Google Shape;405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9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9" name="Google Shape;419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0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5" name="Google Shape;445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1:notes"/>
          <p:cNvSpPr/>
          <p:nvPr>
            <p:ph idx="2" type="sldImg"/>
          </p:nvPr>
        </p:nvSpPr>
        <p:spPr>
          <a:xfrm>
            <a:off x="-635000" y="914400"/>
            <a:ext cx="8128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2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7" name="Google Shape;467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2:notes"/>
          <p:cNvSpPr/>
          <p:nvPr>
            <p:ph idx="2" type="sldImg"/>
          </p:nvPr>
        </p:nvSpPr>
        <p:spPr>
          <a:xfrm>
            <a:off x="-635000" y="914400"/>
            <a:ext cx="8128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2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1" name="Google Shape;481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4" name="Google Shape;494;p2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4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9" name="Google Shape;499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5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3" name="Google Shape;513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1" name="Google Shape;531;p26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6" name="Google Shape;536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0" name="Google Shape;550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7" name="Google Shape;567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5" name="Google Shape;585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3" name="Google Shape;603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0" name="Google Shape;620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8" name="Google Shape;638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5" name="Google Shape;655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2" name="Google Shape;672;p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9" name="Google Shape;689;p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3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6" name="Google Shape;706;p3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3" name="Google Shape;723;p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0" name="Google Shape;740;p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7" name="Google Shape;757;p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4" name="Google Shape;774;p4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4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4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3" name="Google Shape;813;p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9" name="Google Shape;839;p4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4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4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6" name="Google Shape;856;p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3" name="Google Shape;873;p4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4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1"/>
          <p:cNvSpPr txBox="1"/>
          <p:nvPr>
            <p:ph type="ctr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1"/>
          <p:cNvSpPr txBox="1"/>
          <p:nvPr>
            <p:ph idx="1" type="subTitle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4"/>
          <p:cNvSpPr txBox="1"/>
          <p:nvPr>
            <p:ph idx="2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55"/>
          <p:cNvSpPr txBox="1"/>
          <p:nvPr>
            <p:ph idx="2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55"/>
          <p:cNvSpPr txBox="1"/>
          <p:nvPr>
            <p:ph idx="3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55"/>
          <p:cNvSpPr txBox="1"/>
          <p:nvPr>
            <p:ph idx="4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58"/>
          <p:cNvSpPr txBox="1"/>
          <p:nvPr>
            <p:ph idx="2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9"/>
          <p:cNvSpPr/>
          <p:nvPr>
            <p:ph idx="2" type="pic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1"/>
          <p:cNvSpPr txBox="1"/>
          <p:nvPr>
            <p:ph type="title"/>
          </p:nvPr>
        </p:nvSpPr>
        <p:spPr>
          <a:xfrm rot="5400000">
            <a:off x="4000500" y="-3268662"/>
            <a:ext cx="11430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5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2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Relationship Id="rId4" Type="http://schemas.openxmlformats.org/officeDocument/2006/relationships/image" Target="../media/image17.jpg"/><Relationship Id="rId5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drive.google.com/file/d/1PpRQdX03XaFVusbjZ5tILVMR_Yo6hYmC/view?usp=share_link" TargetMode="External"/><Relationship Id="rId4" Type="http://schemas.openxmlformats.org/officeDocument/2006/relationships/image" Target="../media/image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drive.google.com/file/d/1pVlOld2cO3SEY8RcOB7kjWu9JSoFs1BU/view?usp=share_link" TargetMode="External"/><Relationship Id="rId4" Type="http://schemas.openxmlformats.org/officeDocument/2006/relationships/image" Target="../media/image1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838200" y="685800"/>
            <a:ext cx="15987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9113490" y="685800"/>
            <a:ext cx="23165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908A"/>
              </a:buClr>
              <a:buSzPts val="1110"/>
              <a:buFont typeface="IBM Plex Mono"/>
              <a:buNone/>
            </a:pPr>
            <a:r>
              <a:rPr b="0" i="0" lang="en-US" sz="1027" u="none" cap="none" strike="noStrike">
                <a:solidFill>
                  <a:srgbClr val="C9908A"/>
                </a:solidFill>
                <a:latin typeface="IBM Plex Mono"/>
                <a:ea typeface="IBM Plex Mono"/>
                <a:cs typeface="IBM Plex Mono"/>
                <a:sym typeface="IBM Plex Mono"/>
              </a:rPr>
              <a:t>AI · MACHINE LEARNING</a:t>
            </a:r>
            <a:endParaRPr b="0" i="0" sz="10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838200" y="1299493"/>
            <a:ext cx="457200" cy="28575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838199" y="1575718"/>
            <a:ext cx="8127097" cy="23216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50"/>
              <a:buFont typeface="Arial"/>
              <a:buNone/>
            </a:pPr>
            <a:r>
              <a:rPr b="1" i="0" lang="en-US" sz="5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Training Materials for </a:t>
            </a:r>
            <a:r>
              <a:rPr b="0" i="1" lang="en-US" sz="5550" u="none" cap="none" strike="noStrike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Molecular Engineering</a:t>
            </a:r>
            <a:endParaRPr b="0" i="0" sz="5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838200" y="4106912"/>
            <a:ext cx="8127096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Four teaching modules from tabular machine learning to multimodal extraction, to LLM fine tuning and image processing, built from published research and reproducible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2683950" y="5646950"/>
            <a:ext cx="6824100" cy="9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5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</a:rPr>
              <a:t>Dr. Haihui Pu, Dr. Rui Ding, Rodrigo Ferreira</a:t>
            </a:r>
            <a:br>
              <a:rPr b="1" lang="en-US" sz="2400">
                <a:solidFill>
                  <a:srgbClr val="FFFFFF"/>
                </a:solidFill>
              </a:rPr>
            </a:br>
            <a:r>
              <a:rPr b="1" lang="en-US" sz="2400">
                <a:solidFill>
                  <a:srgbClr val="FFFFFF"/>
                </a:solidFill>
              </a:rPr>
              <a:t>August 28, 2026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5439" y="960689"/>
            <a:ext cx="5371204" cy="5371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5357" y="1217131"/>
            <a:ext cx="5817908" cy="38359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415357" y="652912"/>
            <a:ext cx="60987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https://github.com/ruiding-uchicago/NRT_Training_Materials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ui (Ray) Ding" id="103" name="Google Shape;10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79881" y="5056741"/>
            <a:ext cx="1686192" cy="168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838200" y="901303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2094384" y="887016"/>
            <a:ext cx="300569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TABULAR ML · ACTIVITY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838200" y="1353741"/>
            <a:ext cx="457200" cy="28575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38200" y="1591866"/>
            <a:ext cx="8182970" cy="23216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50"/>
              <a:buFont typeface="Arial"/>
              <a:buNone/>
            </a:pPr>
            <a:r>
              <a:rPr b="1" i="0" lang="en-US" sz="5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Predict catalyst activity from a synthesis </a:t>
            </a:r>
            <a:r>
              <a:rPr b="0" i="1" lang="en-US" sz="5550" u="none" cap="none" strike="noStrike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recipe</a:t>
            </a:r>
            <a:endParaRPr b="0" i="0" sz="5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838200" y="4142110"/>
            <a:ext cx="8333096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734"/>
              <a:buFont typeface="Arial"/>
              <a:buNone/>
            </a:pPr>
            <a:r>
              <a:rPr b="0" i="0" lang="en-US" sz="1604" u="none" cap="none" strike="noStrike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Mine literature records of acidic-OER electrocatalysts, then learn to predict overpotential η₁₀ (lower is better) from composition, synthesis, and testing conditions.</a:t>
            </a:r>
            <a:endParaRPr b="0" i="0" sz="16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9544050" y="6319838"/>
            <a:ext cx="19621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 — Activity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762000" y="623888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2018184" y="609600"/>
            <a:ext cx="185246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PIPELINE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762000" y="1076325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762000" y="1314450"/>
            <a:ext cx="10988040" cy="511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Featurize the database, then climb the model ladder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" name="Google Shape;128;p4"/>
          <p:cNvGrpSpPr/>
          <p:nvPr/>
        </p:nvGrpSpPr>
        <p:grpSpPr>
          <a:xfrm>
            <a:off x="723900" y="2187327"/>
            <a:ext cx="400050" cy="363871"/>
            <a:chOff x="723900" y="2090528"/>
            <a:chExt cx="400050" cy="363871"/>
          </a:xfrm>
        </p:grpSpPr>
        <p:sp>
          <p:nvSpPr>
            <p:cNvPr id="129" name="Google Shape;129;p4"/>
            <p:cNvSpPr/>
            <p:nvPr/>
          </p:nvSpPr>
          <p:spPr>
            <a:xfrm>
              <a:off x="762000" y="2130549"/>
              <a:ext cx="323850" cy="32385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723900" y="2090528"/>
              <a:ext cx="400050" cy="361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rm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1" name="Google Shape;131;p4"/>
          <p:cNvSpPr/>
          <p:nvPr/>
        </p:nvSpPr>
        <p:spPr>
          <a:xfrm>
            <a:off x="1238250" y="2159124"/>
            <a:ext cx="4768025" cy="13963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Map elements to 8 atomic properties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atomic radius, electronegativity, d-electrons… instead of one-hot. The step that matters most.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" name="Google Shape;132;p4"/>
          <p:cNvGrpSpPr/>
          <p:nvPr/>
        </p:nvGrpSpPr>
        <p:grpSpPr>
          <a:xfrm>
            <a:off x="723900" y="3273519"/>
            <a:ext cx="400050" cy="370604"/>
            <a:chOff x="723900" y="3138242"/>
            <a:chExt cx="400050" cy="370604"/>
          </a:xfrm>
        </p:grpSpPr>
        <p:sp>
          <p:nvSpPr>
            <p:cNvPr id="133" name="Google Shape;133;p4"/>
            <p:cNvSpPr/>
            <p:nvPr/>
          </p:nvSpPr>
          <p:spPr>
            <a:xfrm>
              <a:off x="762000" y="3184996"/>
              <a:ext cx="323850" cy="32385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723900" y="3138242"/>
              <a:ext cx="400050" cy="361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rm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2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4"/>
          <p:cNvSpPr/>
          <p:nvPr/>
        </p:nvSpPr>
        <p:spPr>
          <a:xfrm>
            <a:off x="1238250" y="3273519"/>
            <a:ext cx="4768025" cy="13963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Walk the model ladder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linear → decision tree (overfits) → Random Forest &amp; XGBoost → MLP → a committee with uncertainty.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6" name="Google Shape;136;p4"/>
          <p:cNvGrpSpPr/>
          <p:nvPr/>
        </p:nvGrpSpPr>
        <p:grpSpPr>
          <a:xfrm>
            <a:off x="723900" y="4724894"/>
            <a:ext cx="400050" cy="361951"/>
            <a:chOff x="723900" y="4201343"/>
            <a:chExt cx="400050" cy="361951"/>
          </a:xfrm>
        </p:grpSpPr>
        <p:sp>
          <p:nvSpPr>
            <p:cNvPr id="137" name="Google Shape;137;p4"/>
            <p:cNvSpPr/>
            <p:nvPr/>
          </p:nvSpPr>
          <p:spPr>
            <a:xfrm>
              <a:off x="762000" y="4239444"/>
              <a:ext cx="323850" cy="32385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723900" y="4201343"/>
              <a:ext cx="400050" cy="361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rm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3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p4"/>
          <p:cNvSpPr/>
          <p:nvPr/>
        </p:nvSpPr>
        <p:spPr>
          <a:xfrm>
            <a:off x="1238250" y="4743291"/>
            <a:ext cx="4768025" cy="9499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26"/>
              <a:buFont typeface="Arial"/>
              <a:buNone/>
            </a:pPr>
            <a:r>
              <a:rPr b="1" i="0" lang="en-US" sz="1526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Interpret with SHAP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526"/>
              <a:buFont typeface="Arial"/>
              <a:buNone/>
            </a:pPr>
            <a:r>
              <a:rPr b="0" i="0" lang="en-US" sz="1526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find the driving factors and spot testing-condition confounders.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6324600" y="2353791"/>
            <a:ext cx="5105400" cy="1247775"/>
          </a:xfrm>
          <a:prstGeom prst="roundRect">
            <a:avLst>
              <a:gd fmla="val 7634" name="adj"/>
            </a:avLst>
          </a:prstGeom>
          <a:solidFill>
            <a:srgbClr val="FDF7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6324600" y="2353791"/>
            <a:ext cx="28575" cy="1247775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6581775" y="2544291"/>
            <a:ext cx="475821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387"/>
              <a:buFont typeface="Arial"/>
              <a:buNone/>
            </a:pPr>
            <a:r>
              <a:rPr b="1" i="0" lang="en-US" sz="1284" u="none" cap="none" strike="noStrike">
                <a:solidFill>
                  <a:srgbClr val="B07A00"/>
                </a:solidFill>
                <a:latin typeface="Arial"/>
                <a:ea typeface="Arial"/>
                <a:cs typeface="Arial"/>
                <a:sym typeface="Arial"/>
              </a:rPr>
              <a:t>The strong tabular baseline</a:t>
            </a:r>
            <a:endParaRPr b="0" i="0" sz="12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6581775" y="2868141"/>
            <a:ext cx="4758214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318"/>
              <a:buFont typeface="Arial"/>
              <a:buNone/>
            </a:pPr>
            <a:r>
              <a:rPr b="0" i="0" lang="en-US" sz="1318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Tree ensembles dominate small, wide scientific tables. XGBoost reaches test R² ≈ 0.84 on activity.</a:t>
            </a:r>
            <a:endParaRPr b="0" i="0" sz="13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6324600" y="3792066"/>
            <a:ext cx="916930" cy="376238"/>
          </a:xfrm>
          <a:prstGeom prst="roundRect">
            <a:avLst>
              <a:gd fmla="val 50000" name="adj"/>
            </a:avLst>
          </a:prstGeom>
          <a:solidFill>
            <a:srgbClr val="F3E3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6477000" y="3858741"/>
            <a:ext cx="68833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linear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7336780" y="3792066"/>
            <a:ext cx="1631007" cy="376238"/>
          </a:xfrm>
          <a:prstGeom prst="roundRect">
            <a:avLst>
              <a:gd fmla="val 50000" name="adj"/>
            </a:avLst>
          </a:prstGeom>
          <a:solidFill>
            <a:srgbClr val="F3E3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7489180" y="3858741"/>
            <a:ext cx="140240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decision tree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9063038" y="3792066"/>
            <a:ext cx="1631007" cy="376238"/>
          </a:xfrm>
          <a:prstGeom prst="roundRect">
            <a:avLst>
              <a:gd fmla="val 50000" name="adj"/>
            </a:avLst>
          </a:prstGeom>
          <a:solidFill>
            <a:srgbClr val="F3E3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9215438" y="3858741"/>
            <a:ext cx="140240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random forest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6324600" y="4263554"/>
            <a:ext cx="1018952" cy="376238"/>
          </a:xfrm>
          <a:prstGeom prst="roundRect">
            <a:avLst>
              <a:gd fmla="val 50000" name="adj"/>
            </a:avLst>
          </a:prstGeom>
          <a:solidFill>
            <a:srgbClr val="F3E3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6477000" y="4330229"/>
            <a:ext cx="790352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xgboost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7438802" y="4263554"/>
            <a:ext cx="610865" cy="376238"/>
          </a:xfrm>
          <a:prstGeom prst="roundRect">
            <a:avLst>
              <a:gd fmla="val 50000" name="adj"/>
            </a:avLst>
          </a:prstGeom>
          <a:solidFill>
            <a:srgbClr val="F3E3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7591202" y="4330229"/>
            <a:ext cx="38226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mlp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8144917" y="4263554"/>
            <a:ext cx="1222921" cy="376238"/>
          </a:xfrm>
          <a:prstGeom prst="roundRect">
            <a:avLst>
              <a:gd fmla="val 50000" name="adj"/>
            </a:avLst>
          </a:prstGeom>
          <a:solidFill>
            <a:srgbClr val="FDF7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8297317" y="4330229"/>
            <a:ext cx="994321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committee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9544050" y="6319838"/>
            <a:ext cx="19621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 — Activity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3801" y="4826025"/>
            <a:ext cx="2934866" cy="140162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4"/>
          <p:cNvSpPr txBox="1"/>
          <p:nvPr/>
        </p:nvSpPr>
        <p:spPr>
          <a:xfrm>
            <a:off x="5908710" y="5475245"/>
            <a:ext cx="251323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https://www.science.org/doi/full/10.1126/sciadv.adr9038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762000" y="1081757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2018184" y="1067470"/>
            <a:ext cx="121808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RESULTS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762000" y="1534195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762000" y="1772320"/>
            <a:ext cx="4225137" cy="9844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2932"/>
              <a:buFont typeface="Arial"/>
              <a:buNone/>
            </a:pPr>
            <a:r>
              <a:rPr b="1" i="0" lang="en-US" sz="2933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models’ predicting performances</a:t>
            </a:r>
            <a:endParaRPr b="0" i="0" sz="29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762000" y="2985418"/>
            <a:ext cx="17879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275"/>
              <a:buFont typeface="IBM Plex Mono"/>
              <a:buNone/>
            </a:pPr>
            <a:r>
              <a:rPr b="0" i="0" lang="en-US" sz="1275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XGBOOST TEST R²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762000" y="3380705"/>
            <a:ext cx="1521247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5133"/>
              <a:buFont typeface="Arial"/>
              <a:buNone/>
            </a:pPr>
            <a:r>
              <a:rPr b="1" i="0" lang="en-US" sz="5134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0.84</a:t>
            </a:r>
            <a:endParaRPr b="0" i="0" sz="51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762000" y="4123655"/>
            <a:ext cx="152124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248"/>
              <a:buFont typeface="Arial"/>
              <a:buNone/>
            </a:pPr>
            <a:r>
              <a:rPr b="0" i="0" lang="en-US" sz="1155" u="none" cap="none" strike="noStrike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higher is better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2549947" y="2985418"/>
            <a:ext cx="9525" cy="16383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2902372" y="2985418"/>
            <a:ext cx="1695004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TEST MAE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2902371" y="3323555"/>
            <a:ext cx="1930823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5133"/>
              <a:buFont typeface="Arial"/>
              <a:buNone/>
            </a:pPr>
            <a:r>
              <a:rPr b="1" i="0" lang="en-US" sz="5134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27.8 </a:t>
            </a:r>
            <a:r>
              <a:rPr b="1" i="0" lang="en-US" sz="1665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mV</a:t>
            </a:r>
            <a:endParaRPr b="0" i="0" sz="51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2902372" y="4123655"/>
            <a:ext cx="169500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248"/>
              <a:buFont typeface="Arial"/>
              <a:buNone/>
            </a:pPr>
            <a:r>
              <a:rPr b="0" i="0" lang="en-US" sz="1155" u="none" cap="none" strike="noStrike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lower is better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762000" y="4890418"/>
            <a:ext cx="3895711" cy="9382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456"/>
              <a:buFont typeface="Arial"/>
              <a:buNone/>
            </a:pPr>
            <a:r>
              <a:rPr b="0" i="0" lang="en-US" sz="1457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Linear and a lone decision tree perform bad; the tree ensembles and the committee cluster at the top.</a:t>
            </a:r>
            <a:endParaRPr b="0" i="0" sz="14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5397475" y="1157288"/>
            <a:ext cx="6032525" cy="40005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0" name="Google Shape;18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8450" y="1338263"/>
            <a:ext cx="5670575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5"/>
          <p:cNvSpPr/>
          <p:nvPr/>
        </p:nvSpPr>
        <p:spPr>
          <a:xfrm>
            <a:off x="5627840" y="5272088"/>
            <a:ext cx="580216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125"/>
              <a:buFont typeface="IBM Plex Mono"/>
              <a:buNone/>
            </a:pPr>
            <a:r>
              <a:rPr b="0" i="0" lang="en-US" sz="1125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Test R² (higher better) and MAE (lower better) across six models.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9544050" y="6319838"/>
            <a:ext cx="19621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 — Activity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762000" y="979363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2018184" y="965076"/>
            <a:ext cx="210621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INTERPRETATION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762000" y="1431801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762000" y="1669926"/>
            <a:ext cx="5092009" cy="9844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Which factors drive performance?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762000" y="2844924"/>
            <a:ext cx="4081272" cy="160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SHAP attributes each prediction back to its features. Atomic radius, electronegativity, and catalyst loading lead.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762000" y="4645149"/>
            <a:ext cx="4943698" cy="1247775"/>
          </a:xfrm>
          <a:prstGeom prst="roundRect">
            <a:avLst>
              <a:gd fmla="val 7634" name="adj"/>
            </a:avLst>
          </a:prstGeom>
          <a:solidFill>
            <a:srgbClr val="FA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762000" y="4645149"/>
            <a:ext cx="28575" cy="12477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1019175" y="4835649"/>
            <a:ext cx="459166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387"/>
              <a:buFont typeface="Arial"/>
              <a:buNone/>
            </a:pPr>
            <a:r>
              <a:rPr b="1" i="0" lang="en-US" sz="1284" u="none" cap="none" strike="noStrike">
                <a:solidFill>
                  <a:srgbClr val="5B0000"/>
                </a:solidFill>
                <a:latin typeface="Arial"/>
                <a:ea typeface="Arial"/>
                <a:cs typeface="Arial"/>
                <a:sym typeface="Arial"/>
              </a:rPr>
              <a:t>Read it as a decision tool</a:t>
            </a:r>
            <a:endParaRPr b="0" i="0" sz="12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1019175" y="5159499"/>
            <a:ext cx="4591661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318"/>
              <a:buFont typeface="Arial"/>
              <a:buNone/>
            </a:pPr>
            <a:r>
              <a:rPr b="0" i="0" lang="en-US" sz="1318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Color is feature value; spread is impact. It tells you how importance a feature is and how it impacts the output</a:t>
            </a:r>
            <a:endParaRPr b="0" i="0" sz="13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6239098" y="871538"/>
            <a:ext cx="5190902" cy="457200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1" name="Google Shape;20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0073" y="1052513"/>
            <a:ext cx="4828952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6"/>
          <p:cNvSpPr/>
          <p:nvPr/>
        </p:nvSpPr>
        <p:spPr>
          <a:xfrm>
            <a:off x="6096000" y="5557838"/>
            <a:ext cx="54691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SHAP beeswarm illustrates feature impact on the XGBoost activity model.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9544050" y="6319838"/>
            <a:ext cx="19621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 — Activity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2094384" y="1267644"/>
            <a:ext cx="313637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TABULAR ML · STABILITY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838200" y="1972494"/>
            <a:ext cx="7267696" cy="1560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33"/>
              <a:buFont typeface="Arial"/>
              <a:buNone/>
            </a:pPr>
            <a:r>
              <a:rPr b="1" i="0" lang="en-US" sz="513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same template, a </a:t>
            </a:r>
            <a:r>
              <a:rPr b="0" i="1" lang="en-US" sz="5134" u="none" cap="none" strike="noStrike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new target</a:t>
            </a:r>
            <a:endParaRPr b="0" i="0" sz="51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838200" y="3761556"/>
            <a:ext cx="8020792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Point the identical composition-to-property pipeline at stability namely predict catalyst performance decay rate, where lower means more stable.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9449693" y="6319838"/>
            <a:ext cx="2056507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 — Stability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762000" y="837977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2018184" y="823689"/>
            <a:ext cx="121808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RESULTS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762000" y="1290414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762000" y="1528539"/>
            <a:ext cx="4225137" cy="14576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A new target, the same strong baseline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762000" y="3214836"/>
            <a:ext cx="2173932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RF / COMMITTEE R²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762000" y="3552974"/>
            <a:ext cx="2173932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5133"/>
              <a:buFont typeface="Arial"/>
              <a:buNone/>
            </a:pPr>
            <a:r>
              <a:rPr b="1" i="0" lang="en-US" sz="5134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0.90</a:t>
            </a:r>
            <a:endParaRPr b="0" i="0" sz="51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761999" y="4353074"/>
            <a:ext cx="3538539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stability is the easier target here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762000" y="5134124"/>
            <a:ext cx="3895711" cy="9382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456"/>
              <a:buFont typeface="Arial"/>
              <a:buNone/>
            </a:pPr>
            <a:r>
              <a:rPr b="0" i="0" lang="en-US" sz="1457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Random Forest and the committee reach R² ≈ 0.88–0.90：even stronger than activity, on a smaller table.</a:t>
            </a:r>
            <a:endParaRPr b="0" i="0" sz="14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5397475" y="1264444"/>
            <a:ext cx="6032525" cy="40005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5" name="Google Shape;23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8450" y="1445419"/>
            <a:ext cx="5670575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8"/>
          <p:cNvSpPr/>
          <p:nvPr/>
        </p:nvSpPr>
        <p:spPr>
          <a:xfrm>
            <a:off x="6178525" y="5379244"/>
            <a:ext cx="476802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Test R² and MAE across models on the stability target.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9449693" y="6319838"/>
            <a:ext cx="2056507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 — Stability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762000" y="1000795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2018184" y="986507"/>
            <a:ext cx="15987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LESSON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762000" y="1453232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762000" y="1691357"/>
            <a:ext cx="5092009" cy="9844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Activity and stability are </a:t>
            </a:r>
            <a:r>
              <a:rPr b="0" i="1" lang="en-US" sz="3191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different problems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762000" y="2866355"/>
            <a:ext cx="4851566" cy="16026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Comparing the two SHAP rankings shows they are governed by partly different factors. A model good at one is not automatically good at the other.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762000" y="4866605"/>
            <a:ext cx="4943698" cy="1004888"/>
          </a:xfrm>
          <a:prstGeom prst="roundRect">
            <a:avLst>
              <a:gd fmla="val 6270" name="adj"/>
            </a:avLst>
          </a:prstGeom>
          <a:solidFill>
            <a:srgbClr val="FDF7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762000" y="4352255"/>
            <a:ext cx="28575" cy="1519238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1021905" y="4990128"/>
            <a:ext cx="4591661" cy="852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Reusing the template on a second target to learn what transfers and what doesn't.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6239098" y="978694"/>
            <a:ext cx="5190902" cy="457200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5" name="Google Shape;25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0073" y="1159669"/>
            <a:ext cx="4828952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9"/>
          <p:cNvSpPr/>
          <p:nvPr/>
        </p:nvSpPr>
        <p:spPr>
          <a:xfrm>
            <a:off x="7020148" y="5664994"/>
            <a:ext cx="4149947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SHAP beeswarm — drivers of the stability model.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9449693" y="6319838"/>
            <a:ext cx="2056507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 — Stability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1C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2094384" y="1267644"/>
            <a:ext cx="313637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/ DATASET GALLERY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838200" y="1972494"/>
            <a:ext cx="7267696" cy="1560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33"/>
              <a:buFont typeface="Arial"/>
              <a:buNone/>
            </a:pPr>
            <a:r>
              <a:rPr b="1" i="0" lang="en-US" sz="513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pipeline, </a:t>
            </a:r>
            <a:r>
              <a:rPr b="0" i="1" lang="en-US" sz="5134" u="none" cap="none" strike="noStrike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five domains</a:t>
            </a:r>
            <a:endParaRPr b="0" i="0" sz="51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838200" y="3761556"/>
            <a:ext cx="8020792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A collection of other different chemistry/materials science related domains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9449693" y="6319838"/>
            <a:ext cx="2056507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 — Stability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762000" y="837977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1C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2018184" y="823689"/>
            <a:ext cx="121808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RESULTS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762000" y="1290414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762000" y="1528539"/>
            <a:ext cx="4225137" cy="14576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Composition features → Model ladder → SHAP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762000" y="3214836"/>
            <a:ext cx="2173932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R²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762000" y="3552974"/>
            <a:ext cx="2173932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884"/>
              <a:buFont typeface="Arial"/>
              <a:buNone/>
            </a:pPr>
            <a:r>
              <a:rPr b="1" i="0" lang="en-US" sz="3594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0.86–0.98</a:t>
            </a:r>
            <a:endParaRPr b="0" i="0" sz="35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761999" y="4353074"/>
            <a:ext cx="3599794" cy="153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Steels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MAX-phase ceramics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Double perovskites (PV)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Heusler magnets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Formation enthalpy</a:t>
            </a:r>
            <a:endParaRPr b="0" i="0" sz="14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5397475" y="1264444"/>
            <a:ext cx="6032525" cy="40005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9449693" y="6319838"/>
            <a:ext cx="2056507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787"/>
              <a:buFont typeface="IBM Plex Mono"/>
              <a:buNone/>
            </a:pPr>
            <a:r>
              <a:rPr b="0" i="0" lang="en-US" sz="788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1c — Dataset Gallery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0461" y="1843954"/>
            <a:ext cx="5774135" cy="2989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762000" y="837977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1D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2018183" y="823689"/>
            <a:ext cx="1997225" cy="4191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BRING YOUR OWN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762000" y="1290414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2" name="Google Shape;30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2508" y="2080767"/>
            <a:ext cx="10055160" cy="78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8421" y="3323557"/>
            <a:ext cx="10055158" cy="2189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3"/>
          <p:cNvSpPr txBox="1"/>
          <p:nvPr/>
        </p:nvSpPr>
        <p:spPr>
          <a:xfrm>
            <a:off x="169888" y="0"/>
            <a:ext cx="11477469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Datasets — Module 1a / 1b (OER)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R. Ding et al., "Leveraging data mining, active learning, and domain adaptation for efficient discovery of advanced oxygen evolution electrocatalysts," Science Advances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  11, eadr9038 (2025). doi:10.1126/sciadv.adr9038 — DASH repo: https://github.com/ruiding-uchicago/DASH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Datasets — Module 1c (matminer dataset gallery)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L. Ward et al., "Matminer: An open source toolkit for materials data mining," Comput. Mater. Sci. 152, 60–69 (2018). doi:10.1016/j.commatsci.2018.05.018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A. Dunn et al., "Benchmarking materials property prediction methods: the Matbench test set…," npj Comput. Mater. 6, 138 (2020). doi:10.1038/s41524-020-00406-3 (source of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  matbench_steels; data: Citrine Informatics)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M. F. Cover et al., "A comprehensive survey of M2AX phase elastic properties," J. Phys.: Condens. Matter 21, 305403 (2009). doi:10.1088/0953-8984/21/30/305403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G. Pilania et al., "Machine learning bandgaps of double perovskites," Sci. Rep. 6, 19375 (2016). doi:10.1038/srep19375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Heusler magnetic properties — Citrine Informatics, "University of Alabama Heusler database," https://citrination.com/datasets/150561/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G. Kim et al., "Experimental formation enthalpies for intermetallic phases and other inorganic compounds," Sci. Data 4, 170162 (2017). doi:10.1038/sdata.2017.162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Datasets — Module 1d (sample_data/, bring-your-own-table examples)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Aqueous solubility (Delaney ESOL) — J. Delaney, J. Chem. Inf. Comput. Sci. 44, 1000 (2004); via DeepChem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Li-battery electrolyte conductivity — CALiSol-23, Scientific Data 11, 750 (2024), CC BY. doi:10.1038/s41597-024-03575-8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Superconductor critical temperature — K. Hamidieh, UCI Superconductivity dataset (2018)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Superhard moduli — Mansouri Tehrani et al., JACS 140, 9844 (2018); matminer brgoch_superhard_training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- 2D-material band gap — K. Choudhary et al., Sci. Rep. 7, 5179 (2017); matminer jarvis_dft_2d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Dielectric / ferroelectric — I. Petousis et al. (2017); matminer dielectric_constant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Perovskite-oxide metal/insulator — A. Emery &amp; C. Wolverton, Sci. Data 4, 170153 (2017); matminer wolverton_oxides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Molecular biodegradability — K. Mansouri et al. (2013); UCI QSAR biodegradation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High-entropy-alloy hardness — public dataset (Gupta, GitHub, 2022)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MOF CO₂ uptake — CoRE MOF 2019: Y. G. Chung et al., J. Chem. Eng. Data 64, 5985 (2019); via R. Chakraborty, MOF_explore (GitHub)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Algorithms &amp; software (all of Module 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Random Forest — L. Breiman, Machine Learning 45, 5–32 (2001)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Gradient-boosted trees (XGBoost) — T. Chen &amp; C. Guestrin, KDD (2016)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SHAP feature attribution — S. Lundberg &amp; S.-I. Lee, NeurIPS (2017)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scikit-learn — F. Pedregosa et al., JMLR 12, 2825 (2011)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matminer / pymatgen (as above); pandas, NumPy, matplotlib</a:t>
            </a:r>
            <a:endParaRPr b="0" i="0" sz="1200" u="none" cap="none" strike="noStrik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2094384" y="1267644"/>
            <a:ext cx="210658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TEXT → DATASET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838200" y="1972494"/>
            <a:ext cx="6863923" cy="1560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33"/>
              <a:buFont typeface="Arial"/>
              <a:buNone/>
            </a:pPr>
            <a:r>
              <a:rPr b="1" i="0" lang="en-US" sz="513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From papers to a </a:t>
            </a:r>
            <a:r>
              <a:rPr b="0" i="1" lang="en-US" sz="5134" u="none" cap="none" strike="noStrike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clean dataset</a:t>
            </a:r>
            <a:endParaRPr b="0" i="0" sz="51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838200" y="3761556"/>
            <a:ext cx="7093096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Turn a corpus of papers into a validated table with an LLM.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With auto prompt optimization applied.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838200" y="5214119"/>
            <a:ext cx="2753171" cy="376238"/>
          </a:xfrm>
          <a:prstGeom prst="roundRect">
            <a:avLst>
              <a:gd fmla="val 50000" name="adj"/>
            </a:avLst>
          </a:prstGeom>
          <a:solidFill>
            <a:srgbClr val="EAAA00">
              <a:alpha val="1607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990600" y="5280794"/>
            <a:ext cx="253096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150 FET-biosensor papers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3686621" y="5214119"/>
            <a:ext cx="1120973" cy="376238"/>
          </a:xfrm>
          <a:prstGeom prst="roundRect">
            <a:avLst>
              <a:gd fmla="val 50000" name="adj"/>
            </a:avLst>
          </a:prstGeom>
          <a:solidFill>
            <a:srgbClr val="EAAA00">
              <a:alpha val="1607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3839021" y="5280794"/>
            <a:ext cx="89237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8 fields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9166845" y="6319838"/>
            <a:ext cx="233935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 — Text to data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762000" y="623888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2018184" y="609600"/>
            <a:ext cx="15987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METHOD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762000" y="1076325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762000" y="1314450"/>
            <a:ext cx="10988040" cy="511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A schema, three metrics, one loop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762000" y="2180244"/>
            <a:ext cx="323850" cy="323850"/>
          </a:xfrm>
          <a:prstGeom prst="ellipse">
            <a:avLst/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723900" y="2130549"/>
            <a:ext cx="4000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BM Plex Mon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1238250" y="2159124"/>
            <a:ext cx="4768025" cy="9306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A Pydantic schema 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is the contract for a clean dataset: the fields, types, and units you want out.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762000" y="3244630"/>
            <a:ext cx="323850" cy="323850"/>
          </a:xfrm>
          <a:prstGeom prst="ellipse">
            <a:avLst/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723900" y="3184996"/>
            <a:ext cx="4000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BM Plex Mon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5"/>
          <p:cNvSpPr/>
          <p:nvPr/>
        </p:nvSpPr>
        <p:spPr>
          <a:xfrm>
            <a:off x="1238250" y="3213571"/>
            <a:ext cx="4768025" cy="9306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26"/>
              <a:buFont typeface="Arial"/>
              <a:buNone/>
            </a:pPr>
            <a:r>
              <a:rPr b="1" i="0" lang="en-US" sz="1526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Three kinds of metric : </a:t>
            </a:r>
            <a:r>
              <a:rPr b="0" i="0" lang="en-US" sz="1526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exact for categories, unit-normalized for numbers, an LLM judge for chemicals.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762000" y="4279200"/>
            <a:ext cx="323850" cy="323850"/>
          </a:xfrm>
          <a:prstGeom prst="ellipse">
            <a:avLst/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723900" y="4239444"/>
            <a:ext cx="4000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BM Plex Mon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1238250" y="4268019"/>
            <a:ext cx="4768025" cy="9306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26"/>
              <a:buFont typeface="Arial"/>
              <a:buNone/>
            </a:pPr>
            <a:r>
              <a:rPr b="1" i="0" lang="en-US" sz="1526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train / val / test discipline </a:t>
            </a:r>
            <a:r>
              <a:rPr b="0" i="0" lang="en-US" sz="1526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turns prompt tweaks into measured decisions, the loop DSPy and TextGrad automate.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6324600" y="2502545"/>
            <a:ext cx="5105400" cy="1247775"/>
          </a:xfrm>
          <a:prstGeom prst="roundRect">
            <a:avLst>
              <a:gd fmla="val 7634" name="adj"/>
            </a:avLst>
          </a:prstGeom>
          <a:solidFill>
            <a:srgbClr val="FA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6324600" y="2502545"/>
            <a:ext cx="28575" cy="12477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6581775" y="2693045"/>
            <a:ext cx="475821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387"/>
              <a:buFont typeface="Arial"/>
              <a:buNone/>
            </a:pPr>
            <a:r>
              <a:rPr b="1" i="0" lang="en-US" sz="1284" u="none" cap="none" strike="noStrike">
                <a:solidFill>
                  <a:srgbClr val="5B0000"/>
                </a:solidFill>
                <a:latin typeface="Arial"/>
                <a:ea typeface="Arial"/>
                <a:cs typeface="Arial"/>
                <a:sym typeface="Arial"/>
              </a:rPr>
              <a:t>Evaluation is the point</a:t>
            </a:r>
            <a:endParaRPr b="0" i="0" sz="12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6581775" y="3016895"/>
            <a:ext cx="4758214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318"/>
              <a:buFont typeface="Arial"/>
              <a:buNone/>
            </a:pPr>
            <a:r>
              <a:rPr b="0" i="0" lang="en-US" sz="1318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Without a held-out test set, every prompt change is a guess. With one, it's a decision.</a:t>
            </a:r>
            <a:endParaRPr b="0" i="0" sz="13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6324600" y="3921770"/>
            <a:ext cx="1446014" cy="395288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C9C2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6486525" y="3997970"/>
            <a:ext cx="1198364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403B36"/>
                </a:solidFill>
                <a:latin typeface="IBM Plex Mono"/>
                <a:ea typeface="IBM Plex Mono"/>
                <a:cs typeface="IBM Plex Mono"/>
                <a:sym typeface="IBM Plex Mono"/>
              </a:rPr>
              <a:t>exact match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7865864" y="3921770"/>
            <a:ext cx="1854101" cy="395288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C9C2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8027789" y="3997970"/>
            <a:ext cx="1606451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403B36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unit-normalized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9815215" y="3921770"/>
            <a:ext cx="1241971" cy="395288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C9C2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9977140" y="3997970"/>
            <a:ext cx="994321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403B36"/>
                </a:solidFill>
                <a:latin typeface="IBM Plex Mono"/>
                <a:ea typeface="IBM Plex Mono"/>
                <a:cs typeface="IBM Plex Mono"/>
                <a:sym typeface="IBM Plex Mono"/>
              </a:rPr>
              <a:t>LLM judge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6324600" y="4412307"/>
            <a:ext cx="2141041" cy="376238"/>
          </a:xfrm>
          <a:prstGeom prst="roundRect">
            <a:avLst>
              <a:gd fmla="val 50000" name="adj"/>
            </a:avLst>
          </a:prstGeom>
          <a:solidFill>
            <a:srgbClr val="FDF7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6477000" y="4478982"/>
            <a:ext cx="1912441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60 / 39 / 51 split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9166845" y="6319838"/>
            <a:ext cx="233935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 — Text to data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6"/>
          <p:cNvSpPr/>
          <p:nvPr/>
        </p:nvSpPr>
        <p:spPr>
          <a:xfrm>
            <a:off x="762000" y="623888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6"/>
          <p:cNvSpPr/>
          <p:nvPr/>
        </p:nvSpPr>
        <p:spPr>
          <a:xfrm>
            <a:off x="2018184" y="609600"/>
            <a:ext cx="15987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METHOD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6"/>
          <p:cNvSpPr/>
          <p:nvPr/>
        </p:nvSpPr>
        <p:spPr>
          <a:xfrm>
            <a:off x="762000" y="1076325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6"/>
          <p:cNvSpPr/>
          <p:nvPr/>
        </p:nvSpPr>
        <p:spPr>
          <a:xfrm>
            <a:off x="762000" y="1314450"/>
            <a:ext cx="10988040" cy="511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2932"/>
              <a:buFont typeface="Arial"/>
              <a:buNone/>
            </a:pPr>
            <a:r>
              <a:rPr b="1" i="0" lang="en-US" sz="2933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From unstructured publication text to structured knowledge</a:t>
            </a:r>
            <a:endParaRPr b="0" i="0" sz="29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6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6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6"/>
          <p:cNvSpPr/>
          <p:nvPr/>
        </p:nvSpPr>
        <p:spPr>
          <a:xfrm>
            <a:off x="9166845" y="6319838"/>
            <a:ext cx="233935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 — Text to data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ocument with solid fill" id="374" name="Google Shape;374;p16"/>
          <p:cNvSpPr/>
          <p:nvPr/>
        </p:nvSpPr>
        <p:spPr>
          <a:xfrm>
            <a:off x="832776" y="2673502"/>
            <a:ext cx="2386441" cy="2386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Chat bubble with solid fill" id="375" name="Google Shape;375;p16"/>
          <p:cNvSpPr/>
          <p:nvPr/>
        </p:nvSpPr>
        <p:spPr>
          <a:xfrm>
            <a:off x="3616896" y="3290454"/>
            <a:ext cx="1060334" cy="10603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lm Images – Browse 57,682 Stock Photos, Vectors, and Video ...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8949" y="2830021"/>
            <a:ext cx="1981200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6"/>
          <p:cNvSpPr txBox="1"/>
          <p:nvPr/>
        </p:nvSpPr>
        <p:spPr>
          <a:xfrm>
            <a:off x="7867562" y="2254374"/>
            <a:ext cx="4429992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sensor_type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Gas 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detect_target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Nitrogen Dioxide,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lower_detection_limit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10 pb,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upper_detection_limit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:1200 ppb,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probe_material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zinc oxide,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test_operating_temperature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40 °C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6"/>
          <p:cNvSpPr/>
          <p:nvPr/>
        </p:nvSpPr>
        <p:spPr>
          <a:xfrm>
            <a:off x="3289995" y="5417563"/>
            <a:ext cx="6408187" cy="40178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6"/>
          <p:cNvSpPr txBox="1"/>
          <p:nvPr/>
        </p:nvSpPr>
        <p:spPr>
          <a:xfrm>
            <a:off x="3703640" y="4268423"/>
            <a:ext cx="8868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Document with solid fill" id="380" name="Google Shape;380;p16"/>
          <p:cNvSpPr/>
          <p:nvPr/>
        </p:nvSpPr>
        <p:spPr>
          <a:xfrm>
            <a:off x="985176" y="2825902"/>
            <a:ext cx="2386441" cy="2386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762000" y="878309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7"/>
          <p:cNvSpPr/>
          <p:nvPr/>
        </p:nvSpPr>
        <p:spPr>
          <a:xfrm>
            <a:off x="2018184" y="864022"/>
            <a:ext cx="213818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IMPROVEMENT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7"/>
          <p:cNvSpPr/>
          <p:nvPr/>
        </p:nvSpPr>
        <p:spPr>
          <a:xfrm>
            <a:off x="762000" y="1330747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7"/>
          <p:cNvSpPr/>
          <p:nvPr/>
        </p:nvSpPr>
        <p:spPr>
          <a:xfrm>
            <a:off x="762000" y="1568872"/>
            <a:ext cx="4225137" cy="9844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Stack the levers, climb the accuracy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7"/>
          <p:cNvSpPr/>
          <p:nvPr/>
        </p:nvSpPr>
        <p:spPr>
          <a:xfrm>
            <a:off x="762000" y="2743870"/>
            <a:ext cx="422513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HELD-OUT TEST ACCURACY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7"/>
          <p:cNvSpPr/>
          <p:nvPr/>
        </p:nvSpPr>
        <p:spPr>
          <a:xfrm>
            <a:off x="762000" y="3082007"/>
            <a:ext cx="422513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607"/>
              <a:buFont typeface="Arial"/>
              <a:buNone/>
            </a:pPr>
            <a:r>
              <a:rPr b="1" i="0" lang="en-US" sz="3608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0.68 → 0.83</a:t>
            </a:r>
            <a:endParaRPr b="0" i="0" sz="36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7"/>
          <p:cNvSpPr/>
          <p:nvPr/>
        </p:nvSpPr>
        <p:spPr>
          <a:xfrm>
            <a:off x="762000" y="3672557"/>
            <a:ext cx="294636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F7D52"/>
              </a:buClr>
              <a:buSzPts val="1248"/>
              <a:buFont typeface="Arial"/>
              <a:buNone/>
            </a:pPr>
            <a:r>
              <a:rPr b="0" i="0" lang="en-US" sz="1155" u="none" cap="none" strike="noStrike">
                <a:solidFill>
                  <a:srgbClr val="2F7D52"/>
                </a:solidFill>
                <a:latin typeface="Arial"/>
                <a:ea typeface="Arial"/>
                <a:cs typeface="Arial"/>
                <a:sym typeface="Arial"/>
              </a:rPr>
              <a:t>▲ +0.15 across three stacked levers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7"/>
          <p:cNvSpPr/>
          <p:nvPr/>
        </p:nvSpPr>
        <p:spPr>
          <a:xfrm>
            <a:off x="1028700" y="4177382"/>
            <a:ext cx="3958437" cy="673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95"/>
              <a:buFont typeface="Arial"/>
              <a:buNone/>
            </a:pPr>
            <a:r>
              <a:rPr b="1" i="0" lang="en-US" sz="1596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Prompt optimization </a:t>
            </a:r>
            <a:r>
              <a:rPr b="0" i="0" lang="en-US" sz="1596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on the training set</a:t>
            </a:r>
            <a:endParaRPr b="0" i="0" sz="15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7"/>
          <p:cNvSpPr/>
          <p:nvPr/>
        </p:nvSpPr>
        <p:spPr>
          <a:xfrm>
            <a:off x="1028700" y="4926881"/>
            <a:ext cx="3958437" cy="673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95"/>
              <a:buFont typeface="Arial"/>
              <a:buNone/>
            </a:pPr>
            <a:r>
              <a:rPr b="1" i="0" lang="en-US" sz="1596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Few-shot examples </a:t>
            </a:r>
            <a:r>
              <a:rPr b="0" i="0" lang="en-US" sz="1596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from the worst failures</a:t>
            </a:r>
            <a:endParaRPr b="0" i="0" sz="15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7"/>
          <p:cNvSpPr/>
          <p:nvPr/>
        </p:nvSpPr>
        <p:spPr>
          <a:xfrm>
            <a:off x="1028700" y="5676379"/>
            <a:ext cx="3958437" cy="3556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95"/>
              <a:buFont typeface="Arial"/>
              <a:buNone/>
            </a:pPr>
            <a:r>
              <a:rPr b="1" i="0" lang="en-US" sz="1596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A second optimization pass</a:t>
            </a:r>
            <a:endParaRPr b="0" i="0" sz="15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7"/>
          <p:cNvSpPr/>
          <p:nvPr/>
        </p:nvSpPr>
        <p:spPr>
          <a:xfrm>
            <a:off x="5397475" y="1109663"/>
            <a:ext cx="6032525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8" name="Google Shape;39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8450" y="1290638"/>
            <a:ext cx="5670575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7"/>
          <p:cNvSpPr/>
          <p:nvPr/>
        </p:nvSpPr>
        <p:spPr>
          <a:xfrm>
            <a:off x="5110907" y="5333999"/>
            <a:ext cx="660566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Test accuracy across prompt versions: baseline → optimized → few-shot → re-optimized.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7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7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7"/>
          <p:cNvSpPr/>
          <p:nvPr/>
        </p:nvSpPr>
        <p:spPr>
          <a:xfrm>
            <a:off x="9166845" y="6319838"/>
            <a:ext cx="233935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 — Text to data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8"/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8"/>
          <p:cNvSpPr/>
          <p:nvPr/>
        </p:nvSpPr>
        <p:spPr>
          <a:xfrm>
            <a:off x="2094384" y="1267644"/>
            <a:ext cx="210621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/ MULTIMODAL PDF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8"/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8"/>
          <p:cNvSpPr/>
          <p:nvPr/>
        </p:nvSpPr>
        <p:spPr>
          <a:xfrm>
            <a:off x="838200" y="1972494"/>
            <a:ext cx="7267696" cy="1560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33"/>
              <a:buFont typeface="Arial"/>
              <a:buNone/>
            </a:pPr>
            <a:r>
              <a:rPr b="1" i="0" lang="en-US" sz="513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 the page, beyond just the </a:t>
            </a:r>
            <a:r>
              <a:rPr b="0" i="1" lang="en-US" sz="5134" u="none" cap="none" strike="noStrike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endParaRPr b="0" i="0" sz="51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8"/>
          <p:cNvSpPr/>
          <p:nvPr/>
        </p:nvSpPr>
        <p:spPr>
          <a:xfrm>
            <a:off x="838200" y="3761556"/>
            <a:ext cx="7365957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734"/>
              <a:buFont typeface="Arial"/>
              <a:buNone/>
            </a:pPr>
            <a:r>
              <a:rPr b="0" i="0" lang="en-US" sz="1734" u="none" cap="none" strike="noStrike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Feed a vision model rendered page images instead of linearized text. Same worker, same prompt, one variable changed, so any difference is the modality itself.</a:t>
            </a:r>
            <a:endParaRPr b="0" i="0" sz="1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8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8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8"/>
          <p:cNvSpPr/>
          <p:nvPr/>
        </p:nvSpPr>
        <p:spPr>
          <a:xfrm>
            <a:off x="8978205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 — Multimodal PDF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9"/>
          <p:cNvSpPr/>
          <p:nvPr/>
        </p:nvSpPr>
        <p:spPr>
          <a:xfrm>
            <a:off x="762000" y="1172245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9"/>
          <p:cNvSpPr/>
          <p:nvPr/>
        </p:nvSpPr>
        <p:spPr>
          <a:xfrm>
            <a:off x="2018184" y="1157957"/>
            <a:ext cx="197934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TEXT VS IMAGE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9"/>
          <p:cNvSpPr/>
          <p:nvPr/>
        </p:nvSpPr>
        <p:spPr>
          <a:xfrm>
            <a:off x="762000" y="1624682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9"/>
          <p:cNvSpPr/>
          <p:nvPr/>
        </p:nvSpPr>
        <p:spPr>
          <a:xfrm>
            <a:off x="762000" y="1862807"/>
            <a:ext cx="5092009" cy="9844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450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Same prompt, two inputs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9"/>
          <p:cNvSpPr/>
          <p:nvPr/>
        </p:nvSpPr>
        <p:spPr>
          <a:xfrm>
            <a:off x="762000" y="2860446"/>
            <a:ext cx="1000646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800"/>
              <a:buFont typeface="IBM Plex Mono"/>
              <a:buNone/>
            </a:pPr>
            <a:r>
              <a:rPr b="0" i="0" lang="en-US" sz="800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800"/>
              <a:buFont typeface="IBM Plex Mono"/>
              <a:buNone/>
            </a:pPr>
            <a:r>
              <a:rPr b="0" i="0" lang="en-US" sz="800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PRECISION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9"/>
          <p:cNvSpPr/>
          <p:nvPr/>
        </p:nvSpPr>
        <p:spPr>
          <a:xfrm>
            <a:off x="762000" y="3375943"/>
            <a:ext cx="1000646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607"/>
              <a:buFont typeface="Arial"/>
              <a:buNone/>
            </a:pPr>
            <a:r>
              <a:rPr b="1" i="0" lang="en-US" sz="3608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0.68</a:t>
            </a:r>
            <a:endParaRPr b="0" i="0" sz="36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9"/>
          <p:cNvSpPr/>
          <p:nvPr/>
        </p:nvSpPr>
        <p:spPr>
          <a:xfrm>
            <a:off x="2029346" y="3037805"/>
            <a:ext cx="9525" cy="1185863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9"/>
          <p:cNvSpPr/>
          <p:nvPr/>
        </p:nvSpPr>
        <p:spPr>
          <a:xfrm>
            <a:off x="2381771" y="2860446"/>
            <a:ext cx="203009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800"/>
              <a:buFont typeface="IBM Plex Mono"/>
              <a:buNone/>
            </a:pPr>
            <a:r>
              <a:rPr b="0" i="0" lang="en-US" sz="800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IMAGE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800"/>
              <a:buFont typeface="IBM Plex Mono"/>
              <a:buNone/>
            </a:pPr>
            <a:r>
              <a:rPr b="0" i="0" lang="en-US" sz="800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PRECISION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9"/>
          <p:cNvSpPr/>
          <p:nvPr/>
        </p:nvSpPr>
        <p:spPr>
          <a:xfrm>
            <a:off x="2381771" y="3375943"/>
            <a:ext cx="203009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7"/>
              <a:buFont typeface="Arial"/>
              <a:buNone/>
            </a:pPr>
            <a:r>
              <a:rPr b="1" i="0" lang="en-US" sz="3608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0.81</a:t>
            </a:r>
            <a:endParaRPr b="0" i="0" sz="3608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9"/>
          <p:cNvSpPr/>
          <p:nvPr/>
        </p:nvSpPr>
        <p:spPr>
          <a:xfrm>
            <a:off x="2381771" y="3966493"/>
            <a:ext cx="203009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248"/>
              <a:buFont typeface="Arial"/>
              <a:buNone/>
            </a:pPr>
            <a:r>
              <a:rPr b="0" i="0" lang="en-US" sz="1155" u="none" cap="none" strike="noStrike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F1 0.68 vs 0.69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9"/>
          <p:cNvSpPr/>
          <p:nvPr/>
        </p:nvSpPr>
        <p:spPr>
          <a:xfrm>
            <a:off x="762000" y="4452268"/>
            <a:ext cx="4943698" cy="1247775"/>
          </a:xfrm>
          <a:prstGeom prst="roundRect">
            <a:avLst>
              <a:gd fmla="val 7634" name="adj"/>
            </a:avLst>
          </a:prstGeom>
          <a:solidFill>
            <a:srgbClr val="FA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9"/>
          <p:cNvSpPr/>
          <p:nvPr/>
        </p:nvSpPr>
        <p:spPr>
          <a:xfrm>
            <a:off x="762000" y="4452268"/>
            <a:ext cx="28575" cy="12477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9"/>
          <p:cNvSpPr/>
          <p:nvPr/>
        </p:nvSpPr>
        <p:spPr>
          <a:xfrm>
            <a:off x="1019175" y="4642768"/>
            <a:ext cx="459166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387"/>
              <a:buFont typeface="Arial"/>
              <a:buNone/>
            </a:pPr>
            <a:r>
              <a:rPr b="1" i="0" lang="en-US" sz="1284" u="none" cap="none" strike="noStrike">
                <a:solidFill>
                  <a:srgbClr val="5B0000"/>
                </a:solidFill>
                <a:latin typeface="Arial"/>
                <a:ea typeface="Arial"/>
                <a:cs typeface="Arial"/>
                <a:sym typeface="Arial"/>
              </a:rPr>
              <a:t>When the text layer fails</a:t>
            </a:r>
            <a:endParaRPr b="0" i="0" sz="12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9"/>
          <p:cNvSpPr/>
          <p:nvPr/>
        </p:nvSpPr>
        <p:spPr>
          <a:xfrm>
            <a:off x="1019175" y="4966618"/>
            <a:ext cx="4591661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318"/>
              <a:buFont typeface="Arial"/>
              <a:buNone/>
            </a:pPr>
            <a:r>
              <a:rPr b="0" i="0" lang="en-US" sz="1318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On the scanned paper, the text arm scores 0.00 in some situation</a:t>
            </a:r>
            <a:endParaRPr b="0" i="0" sz="13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9"/>
          <p:cNvSpPr/>
          <p:nvPr/>
        </p:nvSpPr>
        <p:spPr>
          <a:xfrm>
            <a:off x="6239098" y="1026319"/>
            <a:ext cx="5190902" cy="4476750"/>
          </a:xfrm>
          <a:prstGeom prst="roundRect">
            <a:avLst>
              <a:gd fmla="val 2553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8" name="Google Shape;43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0073" y="1207294"/>
            <a:ext cx="4828952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9"/>
          <p:cNvSpPr/>
          <p:nvPr/>
        </p:nvSpPr>
        <p:spPr>
          <a:xfrm>
            <a:off x="7020148" y="5617369"/>
            <a:ext cx="4414838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Text vs image extraction F1, pooled and per paper.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9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9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9"/>
          <p:cNvSpPr/>
          <p:nvPr/>
        </p:nvSpPr>
        <p:spPr>
          <a:xfrm>
            <a:off x="8978205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 — Multimodal PDF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0"/>
          <p:cNvSpPr/>
          <p:nvPr/>
        </p:nvSpPr>
        <p:spPr>
          <a:xfrm>
            <a:off x="762000" y="1033909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0"/>
          <p:cNvSpPr/>
          <p:nvPr/>
        </p:nvSpPr>
        <p:spPr>
          <a:xfrm>
            <a:off x="2018184" y="1019621"/>
            <a:ext cx="223309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RAISING THE BAR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0"/>
          <p:cNvSpPr/>
          <p:nvPr/>
        </p:nvSpPr>
        <p:spPr>
          <a:xfrm>
            <a:off x="762000" y="1486346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0"/>
          <p:cNvSpPr/>
          <p:nvPr/>
        </p:nvSpPr>
        <p:spPr>
          <a:xfrm>
            <a:off x="762000" y="1724471"/>
            <a:ext cx="4225137" cy="511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To a higher F1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0"/>
          <p:cNvSpPr/>
          <p:nvPr/>
        </p:nvSpPr>
        <p:spPr>
          <a:xfrm>
            <a:off x="762000" y="2445321"/>
            <a:ext cx="422513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MULTIMODAL F1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0"/>
          <p:cNvSpPr/>
          <p:nvPr/>
        </p:nvSpPr>
        <p:spPr>
          <a:xfrm>
            <a:off x="762000" y="2783458"/>
            <a:ext cx="422513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607"/>
              <a:buFont typeface="Arial"/>
              <a:buNone/>
            </a:pPr>
            <a:r>
              <a:rPr b="1" i="0" lang="en-US" sz="3608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0.71 → 0.86</a:t>
            </a:r>
            <a:endParaRPr b="0" i="0" sz="36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0"/>
          <p:cNvSpPr/>
          <p:nvPr/>
        </p:nvSpPr>
        <p:spPr>
          <a:xfrm>
            <a:off x="762000" y="3374008"/>
            <a:ext cx="217393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F7D52"/>
              </a:buClr>
              <a:buSzPts val="1248"/>
              <a:buFont typeface="Arial"/>
              <a:buNone/>
            </a:pPr>
            <a:r>
              <a:rPr b="0" i="0" lang="en-US" sz="1249" u="none" cap="none" strike="noStrike">
                <a:solidFill>
                  <a:srgbClr val="2F7D52"/>
                </a:solidFill>
                <a:latin typeface="Arial"/>
                <a:ea typeface="Arial"/>
                <a:cs typeface="Arial"/>
                <a:sym typeface="Arial"/>
              </a:rPr>
              <a:t>▲ +0.15 · recall 0.79 · precision 0.95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0"/>
          <p:cNvSpPr/>
          <p:nvPr/>
        </p:nvSpPr>
        <p:spPr>
          <a:xfrm>
            <a:off x="762000" y="4145533"/>
            <a:ext cx="3958437" cy="990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Selectivity-ordering recovery </a:t>
            </a:r>
            <a:endParaRPr b="0" i="0" sz="1725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0"/>
          <p:cNvSpPr/>
          <p:nvPr/>
        </p:nvSpPr>
        <p:spPr>
          <a:xfrm>
            <a:off x="762000" y="5216426"/>
            <a:ext cx="3958437" cy="673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95"/>
              <a:buFont typeface="Arial"/>
              <a:buNone/>
            </a:pPr>
            <a:r>
              <a:rPr b="1" i="0" lang="en-US" sz="1596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A two-pass read </a:t>
            </a:r>
            <a:r>
              <a:rPr b="0" i="0" lang="en-US" sz="1596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with an exhaustive prompt (basic multi-agent)</a:t>
            </a:r>
            <a:endParaRPr b="0" i="0" sz="15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0"/>
          <p:cNvSpPr/>
          <p:nvPr/>
        </p:nvSpPr>
        <p:spPr>
          <a:xfrm>
            <a:off x="5397475" y="1109663"/>
            <a:ext cx="6032525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0"/>
          <p:cNvSpPr/>
          <p:nvPr/>
        </p:nvSpPr>
        <p:spPr>
          <a:xfrm>
            <a:off x="6161708" y="5319713"/>
            <a:ext cx="5426341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F1 climb from 0.71 to 0.86 under selectivity-ordering recovery.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0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0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0"/>
          <p:cNvSpPr/>
          <p:nvPr/>
        </p:nvSpPr>
        <p:spPr>
          <a:xfrm>
            <a:off x="8978205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 — Multimodal PDF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3" name="Google Shape;46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8372" y="1457771"/>
            <a:ext cx="5834935" cy="3471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1"/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2C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1"/>
          <p:cNvSpPr/>
          <p:nvPr/>
        </p:nvSpPr>
        <p:spPr>
          <a:xfrm>
            <a:off x="2094383" y="1267644"/>
            <a:ext cx="307028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8"/>
              <a:buFont typeface="Arial"/>
              <a:buNone/>
            </a:pPr>
            <a:r>
              <a:rPr b="0" i="0" lang="en-US" sz="1148" u="none" cap="none" strike="noStrike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TEXT → TWIN → TRANSLATION</a:t>
            </a:r>
            <a:endParaRPr b="0" i="0" sz="114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1"/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1"/>
          <p:cNvSpPr/>
          <p:nvPr/>
        </p:nvSpPr>
        <p:spPr>
          <a:xfrm>
            <a:off x="838200" y="1972494"/>
            <a:ext cx="9152467" cy="154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33"/>
              <a:buFont typeface="Arial"/>
              <a:buNone/>
            </a:pPr>
            <a:r>
              <a:rPr b="1" i="0" lang="en-US" sz="513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Closing the Loop: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33"/>
              <a:buFont typeface="Arial"/>
              <a:buNone/>
            </a:pPr>
            <a:r>
              <a:rPr b="1" i="0" lang="en-US" sz="513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Text-Twin-Translation</a:t>
            </a:r>
            <a:endParaRPr b="0" i="0" sz="51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1"/>
          <p:cNvSpPr/>
          <p:nvPr/>
        </p:nvSpPr>
        <p:spPr>
          <a:xfrm>
            <a:off x="838200" y="3761556"/>
            <a:ext cx="7093096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A Whole Pipeline from Domain Corpus Harvesting to ML Modeling</a:t>
            </a:r>
            <a:endParaRPr b="0" i="0" sz="18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1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1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None/>
            </a:pPr>
            <a:r>
              <a:rPr b="0" i="0" lang="en-US" sz="1041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1"/>
          <p:cNvSpPr/>
          <p:nvPr/>
        </p:nvSpPr>
        <p:spPr>
          <a:xfrm>
            <a:off x="9166845" y="6319838"/>
            <a:ext cx="233935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None/>
            </a:pPr>
            <a:r>
              <a:rPr b="0" i="0" lang="en-US" sz="1041" u="none" cap="none" strike="noStrike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2c — Text to data</a:t>
            </a:r>
            <a:endParaRPr b="0" i="0" sz="10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2"/>
          <p:cNvSpPr/>
          <p:nvPr/>
        </p:nvSpPr>
        <p:spPr>
          <a:xfrm>
            <a:off x="762000" y="623888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2C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2"/>
          <p:cNvSpPr/>
          <p:nvPr/>
        </p:nvSpPr>
        <p:spPr>
          <a:xfrm>
            <a:off x="2018183" y="609600"/>
            <a:ext cx="370528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TEXT TWIN TRANSLATION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2"/>
          <p:cNvSpPr/>
          <p:nvPr/>
        </p:nvSpPr>
        <p:spPr>
          <a:xfrm>
            <a:off x="762000" y="1076325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2"/>
          <p:cNvSpPr/>
          <p:nvPr/>
        </p:nvSpPr>
        <p:spPr>
          <a:xfrm>
            <a:off x="762000" y="1314450"/>
            <a:ext cx="10988040" cy="511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Battery Capacity Use Case: A Whole Pipeline</a:t>
            </a:r>
            <a:endParaRPr b="0" i="0" sz="31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2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9" name="Google Shape;48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042" y="2063873"/>
            <a:ext cx="8551228" cy="3811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08591" y="0"/>
            <a:ext cx="3383409" cy="1409415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22"/>
          <p:cNvSpPr txBox="1"/>
          <p:nvPr/>
        </p:nvSpPr>
        <p:spPr>
          <a:xfrm>
            <a:off x="4740129" y="43160"/>
            <a:ext cx="406846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https://dl.acm.org/doi/10.1145/3770855.3819013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3"/>
          <p:cNvSpPr txBox="1"/>
          <p:nvPr/>
        </p:nvSpPr>
        <p:spPr>
          <a:xfrm>
            <a:off x="1204233" y="1140030"/>
            <a:ext cx="9376682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Module 2a — LLM text extraction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Data / task: Rui Ding, Zixin Ding, Rodrigo Pires Ferreira, Yuxin Chen, Junhong Chen, "Text-Twin-Translation (T³): A Full-Stack Machine Learning Framework for Functional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Material-Device Systems Discovery," KDD '26 (2026)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Models: DeepSeek (v4-flash as worker, v4-pro as prompt optimizer) via OpenRouter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Software: pandas, matplotlib, requests, pydantic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Module 2b — Multimodal PDF extraction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Data / task: WetSenseBench and the T³ project (R. Ding et al.; same as KDD '26 above); paper PDFs remain the property of their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Model: Qwen team qwen/qwen3-vl-30b-a3b-thinking via OpenRouter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Software: poppler-utils (pdftotext / pdftoppm), Pillow, NumPy, pandas, matplotlib, requests, pydantic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Module 2c — Literature to dataset to model (closed loop)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Literature metadata / search: OpenAlex API (data CC0, https://openalex.org)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Full-text extraction: DeepSeek (v4-flash)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Full-text PDFs come from open-access publishers and remain their property; harvested for noncommercial educational use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Algorithms: Random Forest (Breiman, Machine Learning 45, 5–32, 2001); XGBoost (Chen &amp; Guestrin, KDD, 2016)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Software: PyMuPDF, requests, scikit-learn (Pedregosa et al., JMLR 12, 2825, 2011), pandas, NumPy, matplotlib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</a:t>
            </a:r>
            <a:endParaRPr b="0" i="0" sz="750" u="none" cap="none" strike="noStrik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4"/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3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4"/>
          <p:cNvSpPr/>
          <p:nvPr/>
        </p:nvSpPr>
        <p:spPr>
          <a:xfrm>
            <a:off x="2094383" y="1267645"/>
            <a:ext cx="3413037" cy="2762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/ DISTILATION &amp; FINE TUNING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4"/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4"/>
          <p:cNvSpPr/>
          <p:nvPr/>
        </p:nvSpPr>
        <p:spPr>
          <a:xfrm>
            <a:off x="838199" y="1972494"/>
            <a:ext cx="8140005" cy="1560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84"/>
              <a:buFont typeface="Arial"/>
              <a:buNone/>
            </a:pPr>
            <a:r>
              <a:rPr b="1" i="0" lang="en-US" sz="388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DISTILLATION AND FINE TUNING YOUR OWN </a:t>
            </a:r>
            <a:r>
              <a:rPr b="0" i="1" lang="en-US" sz="3885" u="none" cap="none" strike="noStrike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Student LLM</a:t>
            </a:r>
            <a:endParaRPr b="0" i="0" sz="3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4"/>
          <p:cNvSpPr/>
          <p:nvPr/>
        </p:nvSpPr>
        <p:spPr>
          <a:xfrm>
            <a:off x="838200" y="3761556"/>
            <a:ext cx="7365957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We would teach a small model to reason from a large one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4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4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4"/>
          <p:cNvSpPr/>
          <p:nvPr/>
        </p:nvSpPr>
        <p:spPr>
          <a:xfrm>
            <a:off x="8978205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 — Multimodal PDF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5"/>
          <p:cNvSpPr/>
          <p:nvPr/>
        </p:nvSpPr>
        <p:spPr>
          <a:xfrm>
            <a:off x="762000" y="1033909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3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5"/>
          <p:cNvSpPr/>
          <p:nvPr/>
        </p:nvSpPr>
        <p:spPr>
          <a:xfrm>
            <a:off x="2018184" y="1019621"/>
            <a:ext cx="2233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DISTILLATION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5"/>
          <p:cNvSpPr/>
          <p:nvPr/>
        </p:nvSpPr>
        <p:spPr>
          <a:xfrm>
            <a:off x="762000" y="1486346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5"/>
          <p:cNvSpPr/>
          <p:nvPr/>
        </p:nvSpPr>
        <p:spPr>
          <a:xfrm>
            <a:off x="761999" y="1724470"/>
            <a:ext cx="451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897"/>
              <a:buFont typeface="Arial"/>
              <a:buNone/>
            </a:pPr>
            <a:r>
              <a:rPr b="1" i="0" lang="en-US" sz="1898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Task: pick the better solvent for a compound (solubench, binary A/B, no reasoning given)</a:t>
            </a:r>
            <a:endParaRPr b="0" i="0" sz="18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5"/>
          <p:cNvSpPr/>
          <p:nvPr/>
        </p:nvSpPr>
        <p:spPr>
          <a:xfrm>
            <a:off x="762000" y="2593777"/>
            <a:ext cx="4635600" cy="3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Teacher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DeepSeek v4-flash0731 writes the reasoning;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Qwen3-1.7B,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trap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show the teacher the answer → it rationalizes → student scores 0.41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correct way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teacher answers blind, keep only the chains it gets right → 2114 real derivations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Set Result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student 0.01 → 0.825, matching the teacher's own 0.846 accuracy indicating real capability transfer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5"/>
          <p:cNvSpPr/>
          <p:nvPr/>
        </p:nvSpPr>
        <p:spPr>
          <a:xfrm>
            <a:off x="5397475" y="1109663"/>
            <a:ext cx="6032400" cy="409590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5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5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5"/>
          <p:cNvSpPr/>
          <p:nvPr/>
        </p:nvSpPr>
        <p:spPr>
          <a:xfrm>
            <a:off x="8978205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3 — DISTILLATION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6" name="Google Shape;52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587" y="1400175"/>
            <a:ext cx="417830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epSeek Logo and symbol, meaning, history, PNG, brand" id="527" name="Google Shape;52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10925" y="1823530"/>
            <a:ext cx="1125484" cy="6330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s Download | Qwen" id="528" name="Google Shape;52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71814" y="2452493"/>
            <a:ext cx="1003704" cy="293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6"/>
          <p:cNvSpPr txBox="1"/>
          <p:nvPr/>
        </p:nvSpPr>
        <p:spPr>
          <a:xfrm>
            <a:off x="1694089" y="2628781"/>
            <a:ext cx="81519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Module 3 — Reasoning distillation / 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Student model: Qwen3-1.7B (Qwen team); Teacher model: DeepSeek v4-flash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Methods: LoRA — Hu et al., ICLR (2022); rejection sampling / STaR — Zelikman et al., NeurIPS (2022)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Data: solubench (a public solubility benchmark); the reasoning chains and train/test split shipped here are generated by us from its answer-only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Software: PyTorch, Hugging Face Transformers, TRL, PEFT, datasets, pandas, matplotlib</a:t>
            </a:r>
            <a:endParaRPr b="0" i="0" sz="750" u="none" cap="none" strike="noStrik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7"/>
          <p:cNvSpPr/>
          <p:nvPr/>
        </p:nvSpPr>
        <p:spPr>
          <a:xfrm>
            <a:off x="838200" y="1281931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7"/>
          <p:cNvSpPr/>
          <p:nvPr/>
        </p:nvSpPr>
        <p:spPr>
          <a:xfrm>
            <a:off x="2094383" y="1267645"/>
            <a:ext cx="34131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IMAGE PROCESSING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7"/>
          <p:cNvSpPr/>
          <p:nvPr/>
        </p:nvSpPr>
        <p:spPr>
          <a:xfrm>
            <a:off x="838200" y="1734369"/>
            <a:ext cx="457200" cy="28500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7"/>
          <p:cNvSpPr/>
          <p:nvPr/>
        </p:nvSpPr>
        <p:spPr>
          <a:xfrm>
            <a:off x="838199" y="1972494"/>
            <a:ext cx="8139900" cy="15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84"/>
              <a:buFont typeface="Arial"/>
              <a:buNone/>
            </a:pPr>
            <a:r>
              <a:rPr b="1" i="0" lang="en-US" sz="388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Image Processing via </a:t>
            </a:r>
            <a:endParaRPr b="1" i="0" sz="3885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84"/>
              <a:buFont typeface="Arial"/>
              <a:buNone/>
            </a:pPr>
            <a:r>
              <a:rPr b="0" i="1" lang="en-US" sz="3885" u="none" cap="none" strike="noStrike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endParaRPr b="0" i="0" sz="3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7"/>
          <p:cNvSpPr/>
          <p:nvPr/>
        </p:nvSpPr>
        <p:spPr>
          <a:xfrm>
            <a:off x="838200" y="3761556"/>
            <a:ext cx="7365900" cy="1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How to detect and track objects in a noisy data stream?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7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7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7"/>
          <p:cNvSpPr/>
          <p:nvPr/>
        </p:nvSpPr>
        <p:spPr>
          <a:xfrm>
            <a:off x="8978205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4 -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8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8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PHENOMENON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8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8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8" name="Google Shape;558;p28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559" name="Google Shape;559;p28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28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1" name="Google Shape;561;p28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phenomenon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Pt NPs micelles disassembling in liquid-phase transmission electron microscopy (LP-TEM) movies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Micelle breaks → Pt NPs scatter → Pt NPs bond → Pt dumbbells → dissociate → swap partners &amp; re-assemble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Disclaimer: all data presented in this module is a courtesy of Dr. Xiaoben Zhang (post-doc @ Chen group)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28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8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8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9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9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PHENOMENON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9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9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5" name="Google Shape;575;p29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576" name="Google Shape;576;p29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29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8" name="Google Shape;578;p29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phenomenon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9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9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9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2" name="Google Shape;582;p29" title="Screenshot 2026-08-27 at 10.22.13 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0100" y="1955350"/>
            <a:ext cx="6981852" cy="422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0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0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PROBLEM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0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0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3" name="Google Shape;593;p30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594" name="Google Shape;594;p30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30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2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6" name="Google Shape;596;p30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It’s very challenging to detect and keep track of those Pt dumbbells! </a:t>
            </a:r>
            <a:r>
              <a:rPr b="0" i="0" lang="en-US" sz="165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Sample video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0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30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30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0" name="Google Shape;600;p30" title="Screenshot 2026-08-27 at 10.27.23 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8725" y="2829475"/>
            <a:ext cx="3388323" cy="334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1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1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TASK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1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1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1" name="Google Shape;611;p31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612" name="Google Shape;612;p31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31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3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4" name="Google Shape;614;p31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task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Design a ML algorithm that: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AutoNum type="arabicParenR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takes the raw, noisy TEM frames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AutoNum type="arabicParenR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denoises the frames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AutoNum type="arabicParenR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detects when and where Pt dumbbells are formed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AutoNum type="arabicParenR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keeps track of the dumbbells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AutoNum type="arabicParenR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returns the dumbbells life statistics (mean lifetime and population over time)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1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1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1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32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2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TASK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2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2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8" name="Google Shape;628;p32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629" name="Google Shape;629;p32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32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3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1" name="Google Shape;631;p32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task</a:t>
            </a:r>
            <a:r>
              <a:rPr b="0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65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output video</a:t>
            </a:r>
            <a:r>
              <a:rPr b="0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32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2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2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5" name="Google Shape;635;p32" title="population_dumbbell_dynamics_105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499" y="2741925"/>
            <a:ext cx="11718999" cy="3244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3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3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MODEL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33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3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6" name="Google Shape;646;p33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647" name="Google Shape;647;p33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33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4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9" name="Google Shape;649;p33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3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3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33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model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The most important question to answer: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what defines a dumbbell?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4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4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MODEL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4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4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3" name="Google Shape;663;p34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664" name="Google Shape;664;p34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34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4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6" name="Google Shape;666;p34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4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4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4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model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The most important question to answer: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what defines a dumbbell? 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from experiments, it fundamentally depends on the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distance 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velocity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of the particles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define bands/thresholds for distance and velocity correlation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1" marL="9144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○"/>
            </a:pP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which physical parameters define your problem? which values are acceptable?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5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5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MODEL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5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5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0" name="Google Shape;680;p35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681" name="Google Shape;681;p35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35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4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3" name="Google Shape;683;p35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5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5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5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model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The most important question to answer: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what defines a dumbbell? 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A dumbbell is born if…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2.5 nm ≤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≤ 6.5 nm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mean velocity correlation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vc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≥ 0.5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it persists for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consecutive frames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6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6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MODEL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6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6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7" name="Google Shape;697;p36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698" name="Google Shape;698;p36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36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4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0" name="Google Shape;700;p36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6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6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6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model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The most important question to answer: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what defines a dumbbell? 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A dumbbell is born if…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2.5 nm ≤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≤ 6.5 nm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mean velocity correlation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vc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≥ 0.5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it persists for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consecutive frames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A dumbbell dies if…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any of those conditions becomes false (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e.g. d = 7 nm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7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7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VALIDATION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7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7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4" name="Google Shape;714;p37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715" name="Google Shape;715;p37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37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5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7" name="Google Shape;717;p37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7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7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7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validation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Our model seems reasonable. Is it really, though?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8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8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VALIDATION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8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8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1" name="Google Shape;731;p38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732" name="Google Shape;732;p38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38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5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4" name="Google Shape;734;p38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8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8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8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validation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Our model seems reasonable. Is it really, though?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Ideally, you should have some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ground truth 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(GT) data,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i.e., 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high-confidence data that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really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represents your phenomenon.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9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9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VALIDATION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9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9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8" name="Google Shape;748;p39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749" name="Google Shape;749;p39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39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5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1" name="Google Shape;751;p39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9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9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9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validation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Our model seems reasonable. Is it really, though?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Ideally, you should have some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ground truth 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(GT) data,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i.e., 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high-confidence data that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really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represents your phenomenon.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in our case, we have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annotated dumbbell positions 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in a small portion of the TEM frames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we will run our model with those assumptions to see if our output correctly matches the annotated positions (GT data)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40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40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VALIDATION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40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40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65" name="Google Shape;765;p40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766" name="Google Shape;766;p40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40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5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8" name="Google Shape;768;p40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40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40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40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validation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Our model seems reasonable. Is it really, though?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Ideally, you should have some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ground truth 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(GT) data,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i.e., 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high-confidence data that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really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represents your phenomenon.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in our case, we have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annotated dumbbell positions 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in a small portion of the TEM frames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we will run our model with those assumptions to see if our output correctly matches the annotated positions (GT data)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PS1: in practice, we iterate/update the parameters until we match the GT data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PS2: what happens if you don’t have any GT data?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41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41"/>
          <p:cNvSpPr/>
          <p:nvPr/>
        </p:nvSpPr>
        <p:spPr>
          <a:xfrm>
            <a:off x="2018172" y="609600"/>
            <a:ext cx="2528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WORKFLOW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41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41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82" name="Google Shape;782;p41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783" name="Google Shape;783;p41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41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6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5" name="Google Shape;785;p41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41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41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41"/>
          <p:cNvSpPr/>
          <p:nvPr/>
        </p:nvSpPr>
        <p:spPr>
          <a:xfrm>
            <a:off x="1124100" y="2133800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workflow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41"/>
          <p:cNvSpPr/>
          <p:nvPr/>
        </p:nvSpPr>
        <p:spPr>
          <a:xfrm>
            <a:off x="358200" y="2829852"/>
            <a:ext cx="1959600" cy="827100"/>
          </a:xfrm>
          <a:prstGeom prst="roundRect">
            <a:avLst>
              <a:gd fmla="val 50000" name="adj"/>
            </a:avLst>
          </a:prstGeom>
          <a:solidFill>
            <a:srgbClr val="F3E3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41"/>
          <p:cNvSpPr/>
          <p:nvPr/>
        </p:nvSpPr>
        <p:spPr>
          <a:xfrm>
            <a:off x="6864305" y="2829845"/>
            <a:ext cx="1959600" cy="827100"/>
          </a:xfrm>
          <a:prstGeom prst="roundRect">
            <a:avLst>
              <a:gd fmla="val 50000" name="adj"/>
            </a:avLst>
          </a:prstGeom>
          <a:solidFill>
            <a:srgbClr val="FDF7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41"/>
          <p:cNvSpPr/>
          <p:nvPr/>
        </p:nvSpPr>
        <p:spPr>
          <a:xfrm>
            <a:off x="569700" y="2829850"/>
            <a:ext cx="1536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i="0" lang="en-US" sz="1800" u="none" cap="none" strike="noStrike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Raw </a:t>
            </a:r>
            <a:endParaRPr b="1" i="0" sz="1800" u="none" cap="none" strike="noStrike">
              <a:solidFill>
                <a:srgbClr val="5B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i="0" lang="en-US" sz="1800" u="none" cap="none" strike="noStrike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frame </a:t>
            </a:r>
            <a:r>
              <a:rPr b="1" i="1" lang="en-US" sz="1800" u="none" cap="none" strike="noStrike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N</a:t>
            </a:r>
            <a:endParaRPr b="1" i="1" sz="1800" u="none" cap="none" strike="noStrike">
              <a:solidFill>
                <a:srgbClr val="5B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41"/>
          <p:cNvSpPr/>
          <p:nvPr/>
        </p:nvSpPr>
        <p:spPr>
          <a:xfrm>
            <a:off x="3854400" y="2829852"/>
            <a:ext cx="1959600" cy="827100"/>
          </a:xfrm>
          <a:prstGeom prst="roundRect">
            <a:avLst>
              <a:gd fmla="val 50000" name="adj"/>
            </a:avLst>
          </a:prstGeom>
          <a:solidFill>
            <a:srgbClr val="F3E3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41"/>
          <p:cNvSpPr/>
          <p:nvPr/>
        </p:nvSpPr>
        <p:spPr>
          <a:xfrm>
            <a:off x="4065900" y="2829850"/>
            <a:ext cx="1536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i="0" lang="en-US" sz="1800" u="none" cap="none" strike="noStrike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Denoised </a:t>
            </a:r>
            <a:endParaRPr b="1" i="0" sz="1800" u="none" cap="none" strike="noStrike">
              <a:solidFill>
                <a:srgbClr val="5B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i="0" lang="en-US" sz="1800" u="none" cap="none" strike="noStrike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frame </a:t>
            </a:r>
            <a:r>
              <a:rPr b="1" i="1" lang="en-US" sz="1800" u="none" cap="none" strike="noStrike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N</a:t>
            </a:r>
            <a:endParaRPr b="1" i="1" sz="1800" u="none" cap="none" strike="noStrike">
              <a:solidFill>
                <a:srgbClr val="5B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4" name="Google Shape;794;p41"/>
          <p:cNvCxnSpPr>
            <a:stCxn id="789" idx="3"/>
            <a:endCxn id="792" idx="1"/>
          </p:cNvCxnSpPr>
          <p:nvPr/>
        </p:nvCxnSpPr>
        <p:spPr>
          <a:xfrm>
            <a:off x="2317800" y="3243402"/>
            <a:ext cx="1536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95" name="Google Shape;795;p41"/>
          <p:cNvSpPr/>
          <p:nvPr/>
        </p:nvSpPr>
        <p:spPr>
          <a:xfrm>
            <a:off x="2317800" y="2732195"/>
            <a:ext cx="15366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denoiser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6" name="Google Shape;796;p41"/>
          <p:cNvCxnSpPr/>
          <p:nvPr/>
        </p:nvCxnSpPr>
        <p:spPr>
          <a:xfrm>
            <a:off x="5814000" y="3243402"/>
            <a:ext cx="1050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97" name="Google Shape;797;p41"/>
          <p:cNvSpPr/>
          <p:nvPr/>
        </p:nvSpPr>
        <p:spPr>
          <a:xfrm>
            <a:off x="7075800" y="2829850"/>
            <a:ext cx="1536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IBM Plex Mono"/>
                <a:ea typeface="IBM Plex Mono"/>
                <a:cs typeface="IBM Plex Mono"/>
                <a:sym typeface="IBM Plex Mono"/>
              </a:rPr>
              <a:t>Detector</a:t>
            </a:r>
            <a:br>
              <a:rPr b="1" i="0" lang="en-US" sz="1800" u="none" cap="none" strike="noStrike">
                <a:solidFill>
                  <a:schemeClr val="accent2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1" i="0" lang="en-US" sz="1800" u="none" cap="none" strike="noStrike">
                <a:solidFill>
                  <a:schemeClr val="accent2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b="1" i="0" sz="18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8" name="Google Shape;798;p41"/>
          <p:cNvCxnSpPr/>
          <p:nvPr/>
        </p:nvCxnSpPr>
        <p:spPr>
          <a:xfrm>
            <a:off x="8823900" y="3243402"/>
            <a:ext cx="1050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99" name="Google Shape;799;p41"/>
          <p:cNvSpPr/>
          <p:nvPr/>
        </p:nvSpPr>
        <p:spPr>
          <a:xfrm>
            <a:off x="9874200" y="2829852"/>
            <a:ext cx="1959600" cy="827100"/>
          </a:xfrm>
          <a:prstGeom prst="roundRect">
            <a:avLst>
              <a:gd fmla="val 50000" name="adj"/>
            </a:avLst>
          </a:prstGeom>
          <a:solidFill>
            <a:srgbClr val="F3E3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41"/>
          <p:cNvSpPr/>
          <p:nvPr/>
        </p:nvSpPr>
        <p:spPr>
          <a:xfrm>
            <a:off x="10085700" y="2829850"/>
            <a:ext cx="1536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i="0" lang="en-US" sz="1800" u="none" cap="none" strike="noStrike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Proposed</a:t>
            </a:r>
            <a:endParaRPr b="1" i="0" sz="1800" u="none" cap="none" strike="noStrike">
              <a:solidFill>
                <a:srgbClr val="5B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i="0" lang="en-US" sz="1800" u="none" cap="none" strike="noStrike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pairs(x,y)</a:t>
            </a:r>
            <a:endParaRPr b="1" i="0" sz="1800" u="none" cap="none" strike="noStrike">
              <a:solidFill>
                <a:srgbClr val="5B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01" name="Google Shape;801;p41"/>
          <p:cNvSpPr/>
          <p:nvPr/>
        </p:nvSpPr>
        <p:spPr>
          <a:xfrm>
            <a:off x="9874205" y="4503408"/>
            <a:ext cx="1959600" cy="827100"/>
          </a:xfrm>
          <a:prstGeom prst="roundRect">
            <a:avLst>
              <a:gd fmla="val 50000" name="adj"/>
            </a:avLst>
          </a:prstGeom>
          <a:solidFill>
            <a:srgbClr val="FDF7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2" name="Google Shape;802;p41"/>
          <p:cNvCxnSpPr>
            <a:stCxn id="800" idx="2"/>
            <a:endCxn id="801" idx="0"/>
          </p:cNvCxnSpPr>
          <p:nvPr/>
        </p:nvCxnSpPr>
        <p:spPr>
          <a:xfrm>
            <a:off x="10854000" y="3656950"/>
            <a:ext cx="0" cy="84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03" name="Google Shape;803;p41"/>
          <p:cNvSpPr/>
          <p:nvPr/>
        </p:nvSpPr>
        <p:spPr>
          <a:xfrm>
            <a:off x="9874200" y="4503413"/>
            <a:ext cx="1959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IBM Plex Mono"/>
                <a:ea typeface="IBM Plex Mono"/>
                <a:cs typeface="IBM Plex Mono"/>
                <a:sym typeface="IBM Plex Mono"/>
              </a:rPr>
              <a:t>Close to GT pairs(x,y)?</a:t>
            </a:r>
            <a:endParaRPr b="1" i="0" sz="18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4" name="Google Shape;804;p41"/>
          <p:cNvCxnSpPr>
            <a:endCxn id="803" idx="1"/>
          </p:cNvCxnSpPr>
          <p:nvPr/>
        </p:nvCxnSpPr>
        <p:spPr>
          <a:xfrm>
            <a:off x="7860600" y="3699563"/>
            <a:ext cx="2013600" cy="1217400"/>
          </a:xfrm>
          <a:prstGeom prst="bentConnector3">
            <a:avLst>
              <a:gd fmla="val -2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805" name="Google Shape;805;p41"/>
          <p:cNvSpPr/>
          <p:nvPr/>
        </p:nvSpPr>
        <p:spPr>
          <a:xfrm>
            <a:off x="8275350" y="4296625"/>
            <a:ext cx="10503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i="0" lang="en-US" sz="1800" u="none" cap="none" strike="noStrike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no</a:t>
            </a:r>
            <a:endParaRPr b="1" i="0" sz="1800" u="none" cap="none" strike="noStrike">
              <a:solidFill>
                <a:srgbClr val="5B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41"/>
          <p:cNvSpPr/>
          <p:nvPr/>
        </p:nvSpPr>
        <p:spPr>
          <a:xfrm>
            <a:off x="5730900" y="5193275"/>
            <a:ext cx="10503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i="0" lang="en-US" sz="1800" u="none" cap="none" strike="noStrike">
                <a:solidFill>
                  <a:srgbClr val="2F7D52"/>
                </a:solidFill>
                <a:latin typeface="IBM Plex Mono"/>
                <a:ea typeface="IBM Plex Mono"/>
                <a:cs typeface="IBM Plex Mono"/>
                <a:sym typeface="IBM Plex Mono"/>
              </a:rPr>
              <a:t>yes</a:t>
            </a:r>
            <a:endParaRPr b="1" i="0" sz="1800" u="none" cap="none" strike="noStrike">
              <a:solidFill>
                <a:srgbClr val="2F7D5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41"/>
          <p:cNvSpPr/>
          <p:nvPr/>
        </p:nvSpPr>
        <p:spPr>
          <a:xfrm>
            <a:off x="358200" y="4503414"/>
            <a:ext cx="1959600" cy="827100"/>
          </a:xfrm>
          <a:prstGeom prst="roundRect">
            <a:avLst>
              <a:gd fmla="val 50000" name="adj"/>
            </a:avLst>
          </a:prstGeom>
          <a:solidFill>
            <a:srgbClr val="F3E3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41"/>
          <p:cNvSpPr/>
          <p:nvPr/>
        </p:nvSpPr>
        <p:spPr>
          <a:xfrm>
            <a:off x="494100" y="4503413"/>
            <a:ext cx="17538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i="0" lang="en-US" sz="1800" u="none" cap="none" strike="noStrike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Update frame </a:t>
            </a:r>
            <a:r>
              <a:rPr b="1" i="1" lang="en-US" sz="1800" u="none" cap="none" strike="noStrike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N→N+1</a:t>
            </a:r>
            <a:endParaRPr b="1" i="1" sz="1800" u="none" cap="none" strike="noStrike">
              <a:solidFill>
                <a:srgbClr val="5B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9" name="Google Shape;809;p41"/>
          <p:cNvCxnSpPr/>
          <p:nvPr/>
        </p:nvCxnSpPr>
        <p:spPr>
          <a:xfrm>
            <a:off x="1338000" y="3649450"/>
            <a:ext cx="0" cy="84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810" name="Google Shape;810;p41"/>
          <p:cNvCxnSpPr>
            <a:stCxn id="808" idx="2"/>
            <a:endCxn id="803" idx="2"/>
          </p:cNvCxnSpPr>
          <p:nvPr/>
        </p:nvCxnSpPr>
        <p:spPr>
          <a:xfrm flipH="1" rot="-5400000">
            <a:off x="6112200" y="589313"/>
            <a:ext cx="600" cy="9483000"/>
          </a:xfrm>
          <a:prstGeom prst="bentConnector3">
            <a:avLst>
              <a:gd fmla="val 92102083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42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42"/>
          <p:cNvSpPr/>
          <p:nvPr/>
        </p:nvSpPr>
        <p:spPr>
          <a:xfrm>
            <a:off x="2018172" y="609600"/>
            <a:ext cx="2528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WORKFLOW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42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42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21" name="Google Shape;821;p42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822" name="Google Shape;822;p42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42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6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4" name="Google Shape;824;p42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42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42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42"/>
          <p:cNvSpPr/>
          <p:nvPr/>
        </p:nvSpPr>
        <p:spPr>
          <a:xfrm>
            <a:off x="1124100" y="2133800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workflow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42"/>
          <p:cNvSpPr/>
          <p:nvPr/>
        </p:nvSpPr>
        <p:spPr>
          <a:xfrm>
            <a:off x="6864305" y="2829845"/>
            <a:ext cx="1959600" cy="827100"/>
          </a:xfrm>
          <a:prstGeom prst="roundRect">
            <a:avLst>
              <a:gd fmla="val 50000" name="adj"/>
            </a:avLst>
          </a:prstGeom>
          <a:solidFill>
            <a:srgbClr val="FDF7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9" name="Google Shape;829;p42"/>
          <p:cNvCxnSpPr/>
          <p:nvPr/>
        </p:nvCxnSpPr>
        <p:spPr>
          <a:xfrm>
            <a:off x="2317800" y="3243402"/>
            <a:ext cx="1536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30" name="Google Shape;830;p42"/>
          <p:cNvSpPr/>
          <p:nvPr/>
        </p:nvSpPr>
        <p:spPr>
          <a:xfrm>
            <a:off x="2317800" y="2732195"/>
            <a:ext cx="15366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denoiser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42"/>
          <p:cNvSpPr/>
          <p:nvPr/>
        </p:nvSpPr>
        <p:spPr>
          <a:xfrm>
            <a:off x="7075800" y="2829850"/>
            <a:ext cx="1536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IBM Plex Mono"/>
                <a:ea typeface="IBM Plex Mono"/>
                <a:cs typeface="IBM Plex Mono"/>
                <a:sym typeface="IBM Plex Mono"/>
              </a:rPr>
              <a:t>Detector</a:t>
            </a:r>
            <a:br>
              <a:rPr b="1" i="0" lang="en-US" sz="1800" u="none" cap="none" strike="noStrike">
                <a:solidFill>
                  <a:schemeClr val="accent2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1" i="0" lang="en-US" sz="1800" u="none" cap="none" strike="noStrike">
                <a:solidFill>
                  <a:schemeClr val="accent2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b="1" i="0" sz="18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2" name="Google Shape;832;p42"/>
          <p:cNvCxnSpPr/>
          <p:nvPr/>
        </p:nvCxnSpPr>
        <p:spPr>
          <a:xfrm>
            <a:off x="8823900" y="3243402"/>
            <a:ext cx="1050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33" name="Google Shape;833;p42"/>
          <p:cNvSpPr/>
          <p:nvPr/>
        </p:nvSpPr>
        <p:spPr>
          <a:xfrm>
            <a:off x="1626298" y="3335929"/>
            <a:ext cx="2919600" cy="1626300"/>
          </a:xfrm>
          <a:prstGeom prst="roundRect">
            <a:avLst>
              <a:gd fmla="val 50000" name="adj"/>
            </a:avLst>
          </a:prstGeom>
          <a:solidFill>
            <a:srgbClr val="E7C9C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42"/>
          <p:cNvSpPr/>
          <p:nvPr/>
        </p:nvSpPr>
        <p:spPr>
          <a:xfrm>
            <a:off x="1583550" y="3421000"/>
            <a:ext cx="3005100" cy="13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*Gaussian filter</a:t>
            </a:r>
            <a:endParaRPr b="1" i="0" sz="1800" u="none" cap="none" strike="noStrike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non-local means</a:t>
            </a:r>
            <a:endParaRPr b="1" i="0" sz="1800" u="none" cap="none" strike="noStrike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wavelet/BayesShrink</a:t>
            </a:r>
            <a:endParaRPr b="1" i="0" sz="1800" u="none" cap="none" strike="noStrike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35" name="Google Shape;835;p42"/>
          <p:cNvSpPr/>
          <p:nvPr/>
        </p:nvSpPr>
        <p:spPr>
          <a:xfrm>
            <a:off x="6384298" y="3897042"/>
            <a:ext cx="2919600" cy="1626300"/>
          </a:xfrm>
          <a:prstGeom prst="roundRect">
            <a:avLst>
              <a:gd fmla="val 50000" name="adj"/>
            </a:avLst>
          </a:prstGeom>
          <a:solidFill>
            <a:srgbClr val="E7C9C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42"/>
          <p:cNvSpPr/>
          <p:nvPr/>
        </p:nvSpPr>
        <p:spPr>
          <a:xfrm>
            <a:off x="6341550" y="4058425"/>
            <a:ext cx="3005100" cy="13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1.draws boxes</a:t>
            </a:r>
            <a:endParaRPr b="1" i="0" sz="1800" u="none" cap="none" strike="noStrike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2.checks for </a:t>
            </a:r>
            <a:endParaRPr b="1" i="0" sz="1800" u="none" cap="none" strike="noStrike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physical constraints &amp; permanence</a:t>
            </a:r>
            <a:endParaRPr b="1" i="0" sz="1800" u="none" cap="none" strike="noStrike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43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43"/>
          <p:cNvSpPr/>
          <p:nvPr/>
        </p:nvSpPr>
        <p:spPr>
          <a:xfrm>
            <a:off x="2018172" y="609600"/>
            <a:ext cx="2528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CODE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43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43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7" name="Google Shape;847;p43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848" name="Google Shape;848;p43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43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7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50" name="Google Shape;850;p43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43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43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43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code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Jupyter notebook on github!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44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44"/>
          <p:cNvSpPr/>
          <p:nvPr/>
        </p:nvSpPr>
        <p:spPr>
          <a:xfrm>
            <a:off x="2018172" y="609600"/>
            <a:ext cx="2528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CODE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44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44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64" name="Google Shape;864;p44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865" name="Google Shape;865;p44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44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7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7" name="Google Shape;867;p44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44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44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44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code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How to do it yourself?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45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45"/>
          <p:cNvSpPr/>
          <p:nvPr/>
        </p:nvSpPr>
        <p:spPr>
          <a:xfrm>
            <a:off x="2018172" y="609600"/>
            <a:ext cx="2528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CODE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45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45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1" name="Google Shape;881;p45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882" name="Google Shape;882;p45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" name="Google Shape;883;p45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7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4" name="Google Shape;884;p45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45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45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45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code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How to do it yourself?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AutoNum type="arabicPeriod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Pick the best model you can (Claude Opus 5, Fable)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AutoNum type="arabicPeriod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Think deeply about what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truly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defines your problem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AutoNum type="arabicPeriod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Break it into small &amp; verifiable pieces--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always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check if the output matches your intuition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AutoNum type="arabicPeriod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If don’t have enough data, do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simple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things (e.g. linear regression, denoising, physical constraints)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AutoNum type="arabicPeriod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If you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do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have enough data, try modern transformer-based methods: general purpose (e.g. YOLO, DINO, DETR) or domain-specific (e.g. Cellpose, Noise2Atom, U-Net)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2026-08-28T20:30:24Z</dcterms:created>
</cp:coreProperties>
</file>