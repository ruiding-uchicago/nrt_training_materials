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12192000"/>
  <p:embeddedFontLst>
    <p:embeddedFont>
      <p:font typeface="IBM Plex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jlSHcwHVGMIm9R1lwFlkVRcDsy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.fntdata"/><Relationship Id="rId20" Type="http://schemas.openxmlformats.org/officeDocument/2006/relationships/slide" Target="slides/slide16.xml"/><Relationship Id="rId42" Type="http://schemas.openxmlformats.org/officeDocument/2006/relationships/font" Target="fonts/IBMPlexMono-boldItalic.fntdata"/><Relationship Id="rId41" Type="http://schemas.openxmlformats.org/officeDocument/2006/relationships/font" Target="fonts/IBMPlexMono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IBMPlexMono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8828ae92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g3f8828ae92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f8828ae92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8828ae920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f8828ae920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8828ae920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8828ae920_0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f8828ae920_0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8828ae920_0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8828ae920_0_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f8828ae920_0_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8828ae920_0_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8828ae920_0_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f8828ae920_0_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8828ae920_0_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8828ae920_0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g3f8828ae920_0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8828ae920_0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828ae920_0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f8828ae920_0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f8828ae920_0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8828ae920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f8828ae920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8828ae920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8828ae920_0_1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f8828ae920_0_1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8828ae920_0_1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8828ae920_0_1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g3f8828ae920_0_1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8828ae920_0_1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8828ae920_0_2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f8828ae920_0_2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8828ae920_0_2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8828ae920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g3f8828ae920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f8828ae920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8828ae920_0_2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g3f8828ae920_0_2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8828ae920_0_2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8828ae920_0_2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g3f8828ae920_0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8828ae920_0_2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8828ae920_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8828ae920_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8828ae920_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9.jp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908A"/>
              </a:buClr>
              <a:buSzPts val="1110"/>
              <a:buFont typeface="IBM Plex Mono"/>
              <a:buNone/>
            </a:pPr>
            <a:r>
              <a:rPr lang="en-US" sz="1110">
                <a:solidFill>
                  <a:srgbClr val="C99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· MACHINE LEARNING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Training Materials for </a:t>
            </a:r>
            <a:r>
              <a:rPr i="1" lang="en-US" sz="5550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Molecular Engineering</a:t>
            </a:r>
            <a:endParaRPr sz="5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Four teaching modules from tabular machine learning to multimodal extraction, to LLM fine tuning, built from published research and reproducible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ACTIVITY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lang="en-US" sz="5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catalyst activity from a synthesis </a:t>
            </a:r>
            <a:r>
              <a:rPr i="1" lang="en-US" sz="5550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sz="5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lang="en-US" sz="1734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Mine literature records of acidic-OER electrocatalysts, then learn to predict overpotential η₁₀ (lower is better) from composition, synthesis, and testing conditions.</a:t>
            </a:r>
            <a:endParaRPr sz="17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PIPELINE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Featurize the database, then climb the model ladder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3"/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43" name="Google Shape;43;p3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Map elements to 8 atomic properties 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atomic radius, electronegativity, d-electrons… instead of one-hot. The step that matters most.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3"/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47" name="Google Shape;47;p3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Walk the model ladder 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→ decision tree (overfits) → Random Forest &amp; XGBoost → MLP → a committee with uncertainty.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" name="Google Shape;50;p3"/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51" name="Google Shape;51;p3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3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lang="en-US" sz="152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Interpret with SHAP </a:t>
            </a:r>
            <a:endParaRPr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526"/>
              <a:buFont typeface="Arial"/>
              <a:buNone/>
            </a:pP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find the driving factors and spot testing-condition confounders.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B07A00"/>
                </a:solidFill>
                <a:latin typeface="Arial"/>
                <a:ea typeface="Arial"/>
                <a:cs typeface="Arial"/>
                <a:sym typeface="Arial"/>
              </a:rPr>
              <a:t>The strong tabular baseline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Tree ensembles dominate small, wide scientific tables. XGBoost reaches test R² ≈ 0.84 on activity.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linear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 tree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 forest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mlp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committee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lang="en-US" sz="2933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models’ predicting performances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75"/>
              <a:buFont typeface="IBM Plex Mono"/>
              <a:buNone/>
            </a:pPr>
            <a:r>
              <a:rPr lang="en-US" sz="1275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 TEST R²</a:t>
            </a:r>
            <a:endParaRPr sz="12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higher is better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MAE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27.8 </a:t>
            </a:r>
            <a:r>
              <a:rPr b="1" lang="en-US" sz="1665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mV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lower is better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lang="en-US" sz="1457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and a lone decision tree perform bad; the tree ensembles and the committee cluster at the top.</a:t>
            </a:r>
            <a:endParaRPr sz="14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25"/>
              <a:buFont typeface="IBM Plex Mono"/>
              <a:buNone/>
            </a:pPr>
            <a:r>
              <a:rPr lang="en-US" sz="1125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(higher better) and MAE (lower better) across six models.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INTERPRETATION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Which factors drive performance?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SHAP attributes each prediction back to its features. Atomic radius, electronegativity, and catalyst loading lead.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Read it as a decision tool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Color is feature value; spread is impact. It tells you how importance a feature is and how it impacts the output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illustrates feature impact on the XGBoost activity model.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STABILITY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template, a </a:t>
            </a:r>
            <a:r>
              <a:rPr i="1" lang="en-US" sz="5134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Point the identical composition-to-property pipeline at stability namely predict catalyst performance decay rate, where lower means more stable. 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new target, the same strong baseline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RF / COMMITTEE R²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stability is the easier target here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lang="en-US" sz="1457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Random Forest and the committee reach R² ≈ 0.88–0.90：even stronger than activity, on a smaller table.</a:t>
            </a:r>
            <a:endParaRPr sz="14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and MAE across models on the stability target.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LESSON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Activity and stability are </a:t>
            </a:r>
            <a:r>
              <a:rPr i="1" lang="en-US" sz="319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problems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62000" y="2866355"/>
            <a:ext cx="4851566" cy="16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Comparing the two SHAP rankings shows they are governed by partly different factors. A model good at one is not automatically good at the other.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62000" y="4866605"/>
            <a:ext cx="4943698" cy="1004888"/>
          </a:xfrm>
          <a:prstGeom prst="roundRect">
            <a:avLst>
              <a:gd fmla="val 627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21905" y="4990128"/>
            <a:ext cx="4591661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Reusing the template on a second target to learn what transfers and what doesn't.</a:t>
            </a:r>
            <a:endParaRPr sz="14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— drivers of the stability model.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DATASET GALLERY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pipeline, </a:t>
            </a:r>
            <a:r>
              <a:rPr i="1" lang="en-US" sz="5134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five domains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collection of other different chemistry/materials science related domains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Composition features → Model ladder → SHAP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R²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884"/>
              <a:buFont typeface="Arial"/>
              <a:buNone/>
            </a:pPr>
            <a:r>
              <a:rPr b="1" lang="en-US" sz="3885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0.86–0.98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Steels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MAX-phase ceramics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Double perovskites (PV)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Heusler magnets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lang="en-US" sz="1480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Formation enthalpy</a:t>
            </a:r>
            <a:endParaRPr sz="14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787"/>
              <a:buFont typeface="IBM Plex Mono"/>
              <a:buNone/>
            </a:pPr>
            <a:r>
              <a:rPr lang="en-US" sz="788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 — Dataset Gallery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0461" y="1843954"/>
            <a:ext cx="5774135" cy="298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DATASET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papers to a </a:t>
            </a:r>
            <a:r>
              <a:rPr i="1" lang="en-US" sz="5134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clean dataset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Turn a corpus of papers into a validated table with an LLM.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With auto prompt optimization applied. 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150 FET-biosensor papers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8 fields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schema, three metrics, one loop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lang="en-US" sz="12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Pydantic schema </a:t>
            </a:r>
            <a:r>
              <a:rPr lang="en-US" sz="1650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is the contract for a clean dataset: the fields, types, and units you want out.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lang="en-US" sz="12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lang="en-US" sz="152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Three kinds of metric : </a:t>
            </a: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exact for categories, unit-normalized for numbers, an LLM judge for chemicals.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lang="en-US" sz="12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lang="en-US" sz="152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train / val / test discipline </a:t>
            </a:r>
            <a:r>
              <a:rPr lang="en-US" sz="152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turns prompt tweaks into measured decisions, the loop DSPy and TextGrad automate.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Evaluation is the point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Without a held-out test set, every prompt change is a guess. With one, it's a decision.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exact match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unit-normalized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 judge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60 / 39 / 51 split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lang="en-US" sz="2933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From unstructured publication text to structured knowledge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ocument with solid fill" id="269" name="Google Shape;269;p13"/>
          <p:cNvSpPr/>
          <p:nvPr/>
        </p:nvSpPr>
        <p:spPr>
          <a:xfrm>
            <a:off x="832776" y="2673502"/>
            <a:ext cx="2386441" cy="2386441"/>
          </a:xfrm>
          <a:prstGeom prst="rect">
            <a:avLst/>
          </a:prstGeom>
          <a:noFill/>
          <a:ln>
            <a:noFill/>
          </a:ln>
        </p:spPr>
      </p:sp>
      <p:sp>
        <p:nvSpPr>
          <p:cNvPr descr="Chat bubble with solid fill" id="270" name="Google Shape;270;p13"/>
          <p:cNvSpPr/>
          <p:nvPr/>
        </p:nvSpPr>
        <p:spPr>
          <a:xfrm>
            <a:off x="3616896" y="3290454"/>
            <a:ext cx="1060334" cy="1060334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lm Images – Browse 57,682 Stock Photos, Vectors, and Video ..." id="271" name="Google Shape;2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949" y="2830021"/>
            <a:ext cx="1981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sensor_type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detect_target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Nitrogen Dioxide,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lower_detection_limit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pb,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upper_detection_limit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:1200 ppb,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probe_material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zinc oxide,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test_operating_temperature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40 °C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3289995" y="5417563"/>
            <a:ext cx="6408187" cy="4017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IMPROVEMENT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Stack the levers, climb the accuracy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HELD-OUT TEST ACCURACY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lang="en-US" sz="3608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 → 0.83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across three stacked levers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Prompt optimization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training set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Few-shot examples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the worst failures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second optimization pass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4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accuracy across prompt versions: baseline → optimized → few-shot → re-optimized.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MULTIMODAL PDF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lang="en-US" sz="5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the page, beyond just the </a:t>
            </a:r>
            <a:r>
              <a:rPr i="1" lang="en-US" sz="5134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51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lang="en-US" sz="1734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Feed a vision model rendered page images instead of linearized text. Same worker, same prompt, one variable changed, so any difference is the modality itself.</a:t>
            </a:r>
            <a:endParaRPr sz="17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VS IMAGE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Same prompt, two inputs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lang="en-US" sz="3608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lang="en-US" sz="800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7"/>
              <a:buFont typeface="Arial"/>
              <a:buNone/>
            </a:pPr>
            <a:r>
              <a:rPr b="1" lang="en-US" sz="3608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3608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F1 0.68 vs 0.69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lang="en-US" sz="1388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When the text layer fails</a:t>
            </a:r>
            <a:endParaRPr sz="13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lang="en-US" sz="1318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scanned paper, the text arm scores 0.00 in some situation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vs image extraction F1, pooled and per paper.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RAISING THE BAR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To a higher F1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lang="en-US" sz="1179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MULTIMODAL F1</a:t>
            </a:r>
            <a:endParaRPr sz="11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lang="en-US" sz="3608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0.71 → 0.86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lang="en-US" sz="1249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· recall 0.79 · precision 0.95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Selectivity-ordering recovery </a:t>
            </a:r>
            <a:endParaRPr sz="1725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lang="en-US" sz="1596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two-pass read </a:t>
            </a:r>
            <a:r>
              <a:rPr lang="en-US" sz="1596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 an exhaustive prompt (basic multi-agent)</a:t>
            </a:r>
            <a:endParaRPr sz="159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F1 climb from 0.71 to 0.86 under selectivity-ordering recovery.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8372" y="1457771"/>
            <a:ext cx="5834935" cy="347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DISTILATION &amp; FINE TUNING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lang="en-US" sz="388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 AND FINE TUNING YOUR OWN </a:t>
            </a:r>
            <a:r>
              <a:rPr i="1" lang="en-US" sz="3885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Student LLM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We would teach a small model to reason from a large one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DISTILLATION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761999" y="1724470"/>
            <a:ext cx="4514193" cy="831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897"/>
              <a:buFont typeface="Arial"/>
              <a:buNone/>
            </a:pPr>
            <a:r>
              <a:rPr b="1" lang="en-US" sz="1898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Task: pick the better solvent for a compound (solubench, binary A/B, no reasoning given)</a:t>
            </a:r>
            <a:endParaRPr sz="18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762000" y="2593777"/>
            <a:ext cx="4635474" cy="34498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DeepSeek v4-flash0731 writes the reasoning;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Qwen3-1.7B,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 the teacher the answer → it rationalizes → student scores 0.41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correct way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teacher answers blind, keep only the chains it gets right → 2114 real derivations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 Result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student 0.01 → 0.825, matching the teacher's own 0.846 accuracy indicating real capability transfer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 — DISTILLATION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587" y="1400175"/>
            <a:ext cx="4178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epSeek Logo and symbol, meaning, history, PNG, brand" id="388" name="Google Shape;3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925" y="1823530"/>
            <a:ext cx="1125483" cy="633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s Download | Qwen" id="389" name="Google Shape;3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1814" y="2452493"/>
            <a:ext cx="1003704" cy="29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828ae920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8828ae920_0_0"/>
          <p:cNvSpPr/>
          <p:nvPr/>
        </p:nvSpPr>
        <p:spPr>
          <a:xfrm>
            <a:off x="838200" y="1281931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828ae920_0_0"/>
          <p:cNvSpPr/>
          <p:nvPr/>
        </p:nvSpPr>
        <p:spPr>
          <a:xfrm>
            <a:off x="2094383" y="1267645"/>
            <a:ext cx="341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PROCESSING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8828ae920_0_0"/>
          <p:cNvSpPr/>
          <p:nvPr/>
        </p:nvSpPr>
        <p:spPr>
          <a:xfrm>
            <a:off x="838200" y="1734369"/>
            <a:ext cx="457200" cy="28500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8828ae920_0_0"/>
          <p:cNvSpPr/>
          <p:nvPr/>
        </p:nvSpPr>
        <p:spPr>
          <a:xfrm>
            <a:off x="838199" y="1972494"/>
            <a:ext cx="81399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lang="en-US" sz="3885">
                <a:solidFill>
                  <a:srgbClr val="FFFFFF"/>
                </a:solidFill>
              </a:rPr>
              <a:t>Image Processing via </a:t>
            </a:r>
            <a:endParaRPr b="1" sz="3885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i="1" lang="en-US" sz="3885">
                <a:solidFill>
                  <a:srgbClr val="EAAA00"/>
                </a:solidFill>
              </a:rPr>
              <a:t>Machine Learning</a:t>
            </a:r>
            <a:endParaRPr sz="38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828ae920_0_0"/>
          <p:cNvSpPr/>
          <p:nvPr/>
        </p:nvSpPr>
        <p:spPr>
          <a:xfrm>
            <a:off x="838200" y="3761556"/>
            <a:ext cx="73659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E7C9C5"/>
                </a:solidFill>
              </a:rPr>
              <a:t>How to detect and track objects in a noisy data stream?</a:t>
            </a:r>
            <a:endParaRPr sz="1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8828ae920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8828ae920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8828ae920_0_0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4 -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828ae920_0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828ae920_0_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828ae920_0_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8828ae920_0_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828ae920_0_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" name="Google Shape;414;g3f8828ae920_0_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15" name="Google Shape;415;g3f8828ae920_0_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g3f8828ae920_0_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g3f8828ae920_0_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phenomenon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Pt NPs micelles disassembling in liquid-phase transmission electron microscopy (LP-TEM) movies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Micelle breaks → Pt NPs scatter → Pt NPs bond → Pt dumbbells → dissociate → swap partners &amp; re-assemble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i="1" lang="en-US" sz="1650">
                <a:solidFill>
                  <a:srgbClr val="403B36"/>
                </a:solidFill>
              </a:rPr>
              <a:t>Disclaimer: all data presented in this module is a courtesy of Dr. Xiaoben Zhang (post-doc @ Chen group)</a:t>
            </a:r>
            <a:endParaRPr i="1" sz="1650">
              <a:solidFill>
                <a:srgbClr val="403B36"/>
              </a:solidFill>
            </a:endParaRPr>
          </a:p>
        </p:txBody>
      </p:sp>
      <p:sp>
        <p:nvSpPr>
          <p:cNvPr id="418" name="Google Shape;418;g3f8828ae920_0_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828ae920_0_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828ae920_0_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8828ae920_0_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828ae920_0_7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8828ae920_0_7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828ae920_0_7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8828ae920_0_7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g3f8828ae920_0_7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32" name="Google Shape;432;g3f8828ae920_0_7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g3f8828ae920_0_7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4" name="Google Shape;434;g3f8828ae920_0_7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phenomenon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  <p:sp>
        <p:nvSpPr>
          <p:cNvPr id="435" name="Google Shape;435;g3f8828ae920_0_7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8828ae920_0_7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828ae920_0_7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f8828ae920_0_78" title="Screenshot 2026-08-27 at 10.22.1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100" y="1955350"/>
            <a:ext cx="6981852" cy="4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8828ae920_0_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8828ae920_0_5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8828ae920_0_5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PROBLEM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8828ae920_0_5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8828ae920_0_5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g3f8828ae920_0_5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50" name="Google Shape;450;g3f8828ae920_0_5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g3f8828ae920_0_5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g3f8828ae920_0_5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problem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It’s very challenging to detect and keep track of those Pt dumbbells!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  <p:sp>
        <p:nvSpPr>
          <p:cNvPr id="453" name="Google Shape;453;g3f8828ae920_0_5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8828ae920_0_5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8828ae920_0_5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g3f8828ae920_0_53" title="Screenshot 2026-08-27 at 10.27.2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725" y="2829475"/>
            <a:ext cx="3388323" cy="3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8828ae920_0_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8828ae920_0_9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828ae920_0_95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828ae920_0_9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828ae920_0_9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g3f8828ae920_0_9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68" name="Google Shape;468;g3f8828ae920_0_9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3f8828ae920_0_9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g3f8828ae920_0_9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task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Design a ML algorithm that: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takes the raw, noisy TEM frames 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denoises the frames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detects when and where Pt dumbbells are formed 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keeps track of the dumbbells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arenR"/>
            </a:pPr>
            <a:r>
              <a:rPr lang="en-US" sz="1650">
                <a:solidFill>
                  <a:srgbClr val="403B36"/>
                </a:solidFill>
              </a:rPr>
              <a:t>returns the dumbbells life statistics (mean lifetime and population over time)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  <p:sp>
        <p:nvSpPr>
          <p:cNvPr id="471" name="Google Shape;471;g3f8828ae920_0_9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8828ae920_0_9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828ae920_0_9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8828ae920_0_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828ae920_0_1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8828ae920_0_1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8828ae920_0_1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8828ae920_0_1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g3f8828ae920_0_1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85" name="Google Shape;485;g3f8828ae920_0_1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g3f8828ae920_0_1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g3f8828ae920_0_1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task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  <p:sp>
        <p:nvSpPr>
          <p:cNvPr id="488" name="Google Shape;488;g3f8828ae920_0_1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828ae920_0_1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828ae920_0_1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g3f8828ae920_0_113" title="population_dumbbell_dynamics_10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99" y="2741925"/>
            <a:ext cx="11718999" cy="324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8828ae920_0_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8828ae920_0_14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828ae920_0_14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828ae920_0_14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828ae920_0_14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2" name="Google Shape;502;g3f8828ae920_0_14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03" name="Google Shape;503;g3f8828ae920_0_14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g3f8828ae920_0_14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g3f8828ae920_0_14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8828ae920_0_14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8828ae920_0_14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8828ae920_0_14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i="1" lang="en-US" sz="1650">
                <a:solidFill>
                  <a:srgbClr val="403B36"/>
                </a:solidFill>
              </a:rPr>
              <a:t>what defines a dumbbell?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8828ae920_0_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8828ae920_0_13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8828ae920_0_13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8828ae920_0_13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8828ae920_0_13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9" name="Google Shape;519;g3f8828ae920_0_13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20" name="Google Shape;520;g3f8828ae920_0_13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g3f8828ae920_0_13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" name="Google Shape;522;g3f8828ae920_0_13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8828ae920_0_13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8828ae920_0_13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8828ae920_0_13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i="1" lang="en-US" sz="1650">
                <a:solidFill>
                  <a:srgbClr val="403B36"/>
                </a:solidFill>
              </a:rPr>
              <a:t>what defines a dumbbell? </a:t>
            </a:r>
            <a:endParaRPr i="1"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from experiments, it fundamentally depends on the </a:t>
            </a:r>
            <a:r>
              <a:rPr i="1" lang="en-US" sz="1650">
                <a:solidFill>
                  <a:srgbClr val="403B36"/>
                </a:solidFill>
              </a:rPr>
              <a:t>distance </a:t>
            </a:r>
            <a:r>
              <a:rPr lang="en-US" sz="1650">
                <a:solidFill>
                  <a:srgbClr val="403B36"/>
                </a:solidFill>
              </a:rPr>
              <a:t>and </a:t>
            </a:r>
            <a:r>
              <a:rPr i="1" lang="en-US" sz="1650">
                <a:solidFill>
                  <a:srgbClr val="403B36"/>
                </a:solidFill>
              </a:rPr>
              <a:t>velocity</a:t>
            </a:r>
            <a:r>
              <a:rPr lang="en-US" sz="1650">
                <a:solidFill>
                  <a:srgbClr val="403B36"/>
                </a:solidFill>
              </a:rPr>
              <a:t> of the particles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define bands/thresholds for distance and velocity correlation</a:t>
            </a:r>
            <a:endParaRPr sz="1650">
              <a:solidFill>
                <a:srgbClr val="403B36"/>
              </a:solidFill>
            </a:endParaRPr>
          </a:p>
          <a:p>
            <a:pPr indent="-333375" lvl="1" marL="9144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○"/>
            </a:pPr>
            <a:r>
              <a:rPr i="1" lang="en-US" sz="1650">
                <a:solidFill>
                  <a:srgbClr val="403B36"/>
                </a:solidFill>
              </a:rPr>
              <a:t>which physical parameters define your problem? which values are acceptable?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8828ae920_0_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8828ae920_0_18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8828ae920_0_18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8828ae920_0_18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828ae920_0_18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g3f8828ae920_0_18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37" name="Google Shape;537;g3f8828ae920_0_18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g3f8828ae920_0_18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9" name="Google Shape;539;g3f8828ae920_0_18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8828ae920_0_18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8828ae920_0_18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8828ae920_0_18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i="1" lang="en-US" sz="1650">
                <a:solidFill>
                  <a:srgbClr val="403B36"/>
                </a:solidFill>
              </a:rPr>
              <a:t>what defines a dumbbell? 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is born if…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2.5 nm ≤ </a:t>
            </a:r>
            <a:r>
              <a:rPr i="1" lang="en-US" sz="1650">
                <a:solidFill>
                  <a:srgbClr val="403B36"/>
                </a:solidFill>
              </a:rPr>
              <a:t>d</a:t>
            </a:r>
            <a:r>
              <a:rPr lang="en-US" sz="1650">
                <a:solidFill>
                  <a:srgbClr val="403B36"/>
                </a:solidFill>
              </a:rPr>
              <a:t> </a:t>
            </a:r>
            <a:r>
              <a:rPr lang="en-US" sz="1650">
                <a:solidFill>
                  <a:srgbClr val="403B36"/>
                </a:solidFill>
              </a:rPr>
              <a:t>≤ 6.5 nm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mean velocity correlation </a:t>
            </a:r>
            <a:r>
              <a:rPr i="1" lang="en-US" sz="1650">
                <a:solidFill>
                  <a:srgbClr val="403B36"/>
                </a:solidFill>
              </a:rPr>
              <a:t>vc</a:t>
            </a:r>
            <a:r>
              <a:rPr lang="en-US" sz="1650">
                <a:solidFill>
                  <a:srgbClr val="403B36"/>
                </a:solidFill>
              </a:rPr>
              <a:t> ≥ 0.5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it persists for </a:t>
            </a:r>
            <a:r>
              <a:rPr i="1" lang="en-US" sz="1650">
                <a:solidFill>
                  <a:srgbClr val="403B36"/>
                </a:solidFill>
              </a:rPr>
              <a:t>N</a:t>
            </a:r>
            <a:r>
              <a:rPr lang="en-US" sz="1650">
                <a:solidFill>
                  <a:srgbClr val="403B36"/>
                </a:solidFill>
              </a:rPr>
              <a:t> consecutive frames </a:t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8828ae920_0_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8828ae920_0_19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8828ae920_0_196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8828ae920_0_19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8828ae920_0_19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g3f8828ae920_0_19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54" name="Google Shape;554;g3f8828ae920_0_19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g3f8828ae920_0_19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g3f8828ae920_0_19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8828ae920_0_19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8828ae920_0_19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8828ae920_0_19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model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The most important question to answer: </a:t>
            </a:r>
            <a:r>
              <a:rPr i="1" lang="en-US" sz="1650">
                <a:solidFill>
                  <a:srgbClr val="403B36"/>
                </a:solidFill>
              </a:rPr>
              <a:t>what defines a dumbbell? 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is born if…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2.5 nm ≤ </a:t>
            </a:r>
            <a:r>
              <a:rPr i="1" lang="en-US" sz="1650">
                <a:solidFill>
                  <a:srgbClr val="403B36"/>
                </a:solidFill>
              </a:rPr>
              <a:t>d</a:t>
            </a:r>
            <a:r>
              <a:rPr lang="en-US" sz="1650">
                <a:solidFill>
                  <a:srgbClr val="403B36"/>
                </a:solidFill>
              </a:rPr>
              <a:t> ≤ 6.5 nm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mean velocity correlation </a:t>
            </a:r>
            <a:r>
              <a:rPr i="1" lang="en-US" sz="1650">
                <a:solidFill>
                  <a:srgbClr val="403B36"/>
                </a:solidFill>
              </a:rPr>
              <a:t>vc</a:t>
            </a:r>
            <a:r>
              <a:rPr lang="en-US" sz="1650">
                <a:solidFill>
                  <a:srgbClr val="403B36"/>
                </a:solidFill>
              </a:rPr>
              <a:t> ≥ 0.5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it persists for </a:t>
            </a:r>
            <a:r>
              <a:rPr i="1" lang="en-US" sz="1650">
                <a:solidFill>
                  <a:srgbClr val="403B36"/>
                </a:solidFill>
              </a:rPr>
              <a:t>N</a:t>
            </a:r>
            <a:r>
              <a:rPr lang="en-US" sz="1650">
                <a:solidFill>
                  <a:srgbClr val="403B36"/>
                </a:solidFill>
              </a:rPr>
              <a:t> consecutive frames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A dumbbell dies if…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any of those conditions becomes false (</a:t>
            </a:r>
            <a:r>
              <a:rPr i="1" lang="en-US" sz="1650">
                <a:solidFill>
                  <a:srgbClr val="403B36"/>
                </a:solidFill>
              </a:rPr>
              <a:t>e.g. d = 7 nm</a:t>
            </a:r>
            <a:r>
              <a:rPr lang="en-US" sz="1650">
                <a:solidFill>
                  <a:srgbClr val="403B36"/>
                </a:solidFill>
              </a:rPr>
              <a:t>)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8828ae920_0_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8828ae920_0_21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8828ae920_0_212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8828ae920_0_21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8828ae920_0_21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g3f8828ae920_0_21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71" name="Google Shape;571;g3f8828ae920_0_21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g3f8828ae920_0_21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3" name="Google Shape;573;g3f8828ae920_0_21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8828ae920_0_21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8828ae920_0_21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8828ae920_0_212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8828ae920_0_2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8828ae920_0_22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8828ae920_0_22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8828ae920_0_22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8828ae920_0_22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g3f8828ae920_0_22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88" name="Google Shape;588;g3f8828ae920_0_22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g3f8828ae920_0_22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g3f8828ae920_0_22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8828ae920_0_22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8828ae920_0_22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8828ae920_0_22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i="1" lang="en-US" sz="1650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i="1" lang="en-US" sz="1650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i="1" lang="en-US" sz="1650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8828ae920_0_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8828ae920_0_24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8828ae920_0_244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8828ae920_0_24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8828ae920_0_24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g3f8828ae920_0_24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05" name="Google Shape;605;g3f8828ae920_0_24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g3f8828ae920_0_24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g3f8828ae920_0_24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8828ae920_0_24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8828ae920_0_24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8828ae920_0_24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i="1" lang="en-US" sz="1650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i="1" lang="en-US" sz="1650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i="1" lang="en-US" sz="1650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in our case, we have </a:t>
            </a:r>
            <a:r>
              <a:rPr i="1" lang="en-US" sz="1650">
                <a:solidFill>
                  <a:srgbClr val="403B36"/>
                </a:solidFill>
              </a:rPr>
              <a:t>annotated dumbbell positions </a:t>
            </a:r>
            <a:r>
              <a:rPr lang="en-US" sz="1650">
                <a:solidFill>
                  <a:srgbClr val="403B36"/>
                </a:solidFill>
              </a:rPr>
              <a:t>in a small portion of the TEM frames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we will run our model with those assumptions to see if our output correctly matches the annotated positions (GT data)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8828ae920_0_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f8828ae920_0_26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8828ae920_0_26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8828ae920_0_26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8828ae920_0_26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1" name="Google Shape;621;g3f8828ae920_0_26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22" name="Google Shape;622;g3f8828ae920_0_26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g3f8828ae920_0_26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4" name="Google Shape;624;g3f8828ae920_0_26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8828ae920_0_26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8828ae920_0_26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8828ae920_0_26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validation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Our model seems reasonable. Is it really, though?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Ideally, you should have some </a:t>
            </a:r>
            <a:r>
              <a:rPr i="1" lang="en-US" sz="1650">
                <a:solidFill>
                  <a:srgbClr val="403B36"/>
                </a:solidFill>
              </a:rPr>
              <a:t>ground truth </a:t>
            </a:r>
            <a:r>
              <a:rPr lang="en-US" sz="1650">
                <a:solidFill>
                  <a:srgbClr val="403B36"/>
                </a:solidFill>
              </a:rPr>
              <a:t>(GT) data, </a:t>
            </a:r>
            <a:r>
              <a:rPr i="1" lang="en-US" sz="1650">
                <a:solidFill>
                  <a:srgbClr val="403B36"/>
                </a:solidFill>
              </a:rPr>
              <a:t>i.e., </a:t>
            </a:r>
            <a:r>
              <a:rPr lang="en-US" sz="1650">
                <a:solidFill>
                  <a:srgbClr val="403B36"/>
                </a:solidFill>
              </a:rPr>
              <a:t>high-confidence data that </a:t>
            </a:r>
            <a:r>
              <a:rPr i="1" lang="en-US" sz="1650">
                <a:solidFill>
                  <a:srgbClr val="403B36"/>
                </a:solidFill>
              </a:rPr>
              <a:t>really</a:t>
            </a:r>
            <a:r>
              <a:rPr lang="en-US" sz="1650">
                <a:solidFill>
                  <a:srgbClr val="403B36"/>
                </a:solidFill>
              </a:rPr>
              <a:t> represents your phenomenon.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in our case, we have </a:t>
            </a:r>
            <a:r>
              <a:rPr i="1" lang="en-US" sz="1650">
                <a:solidFill>
                  <a:srgbClr val="403B36"/>
                </a:solidFill>
              </a:rPr>
              <a:t>annotated dumbbell positions </a:t>
            </a:r>
            <a:r>
              <a:rPr lang="en-US" sz="1650">
                <a:solidFill>
                  <a:srgbClr val="403B36"/>
                </a:solidFill>
              </a:rPr>
              <a:t>in a small portion of the TEM frames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Char char="●"/>
            </a:pPr>
            <a:r>
              <a:rPr lang="en-US" sz="1650">
                <a:solidFill>
                  <a:srgbClr val="403B36"/>
                </a:solidFill>
              </a:rPr>
              <a:t>we will run our model with those assumptions to see if our output correctly matches the annotated positions (GT data)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50">
                <a:solidFill>
                  <a:srgbClr val="403B36"/>
                </a:solidFill>
              </a:rPr>
              <a:t>PS1: in practice, we iterate/update the parameters until we match the GT data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50">
                <a:solidFill>
                  <a:srgbClr val="403B36"/>
                </a:solidFill>
              </a:rPr>
              <a:t>PS2: what happens if you don’t have any GT data?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03B36"/>
                </a:solidFill>
              </a:rPr>
              <a:t> 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828ae920_0_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8828ae920_0_27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lang="en-US" sz="1350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f8828ae920_0_27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sz="124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f8828ae920_0_27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8828ae920_0_27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lang="en-US" sz="3191">
                <a:solidFill>
                  <a:srgbClr val="1A1714"/>
                </a:solidFill>
              </a:rPr>
              <a:t>Detecting &amp; tracking Pt dumbbells in a noisy movie</a:t>
            </a:r>
            <a:endParaRPr sz="31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8" name="Google Shape;638;g3f8828ae920_0_27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39" name="Google Shape;639;g3f8828ae920_0_27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g3f8828ae920_0_27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1" name="Google Shape;641;g3f8828ae920_0_27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8828ae920_0_27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f8828ae920_0_27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lang="en-US" sz="1041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sz="10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f8828ae920_0_27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A1714"/>
                </a:solidFill>
              </a:rPr>
              <a:t>The code</a:t>
            </a:r>
            <a:endParaRPr sz="1650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Jupyter notebook on github!</a:t>
            </a:r>
            <a:endParaRPr i="1"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403B3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2026-06-06T19:55:52Z</dcterms:created>
  <dc:creator>PptxGenJS</dc:creator>
</cp:coreProperties>
</file>