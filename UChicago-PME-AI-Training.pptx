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3" r:id="rId11"/>
    <p:sldId id="264" r:id="rId12"/>
    <p:sldId id="265" r:id="rId13"/>
    <p:sldId id="271" r:id="rId14"/>
    <p:sldId id="266" r:id="rId15"/>
    <p:sldId id="267" r:id="rId16"/>
    <p:sldId id="268" r:id="rId17"/>
    <p:sldId id="269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76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2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757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A25AE-60C7-CC0D-3EAE-54B855C27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E1D51-B18A-7338-CE75-85E86405F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DDF9D-DCCB-1D6D-E546-BF76CA5AB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667EE-7432-5A5E-3024-7ACEC766E9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08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254FF-0FE7-4A88-D06A-E608C62B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F6A0B-0D89-DA52-B0BD-7DAF24B67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E9BF2-4ABF-8CA1-6610-7E7EDA687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2E23D-35B4-4468-9C70-F37F777FE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57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DC89-CCDF-1DBE-3B31-1A9C866DE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2DDB1-6EE0-0C0A-6828-E666A0E64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64CC37-C4A6-4FC6-304B-072D66CB0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2A303-6543-7A89-922A-EA83AAC97A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68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CE19E-3C5E-CF86-5B62-A3524CFFE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BC15A-9CA4-F613-86F4-6FA2813D1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6DBF4-FACD-FA1E-97C5-86615741F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BF0EF-0846-3037-D4A1-D04F9EE98D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32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10624-6881-37C3-2787-4F7979B6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E2C56-B9F9-96AB-9D42-3FD826A85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7004D-AE16-427E-2A98-BD512B804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7A28D-D0FE-5A5E-2E73-93CD04614F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39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8200" y="685800"/>
            <a:ext cx="15987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13490" y="685800"/>
            <a:ext cx="23165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120" dirty="0">
                <a:solidFill>
                  <a:srgbClr val="C990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· MACHINE LEARNING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8200" y="1299493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8199" y="1575718"/>
            <a:ext cx="8127097" cy="2321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50" b="1" kern="0" spc="-1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Training Materials for </a:t>
            </a:r>
            <a:r>
              <a:rPr lang="en-US" sz="5550" i="1" kern="0" spc="-11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Molecular Engineering</a:t>
            </a:r>
            <a:endParaRPr lang="en-US" sz="5550" dirty="0"/>
          </a:p>
        </p:txBody>
      </p:sp>
      <p:sp>
        <p:nvSpPr>
          <p:cNvPr id="7" name="Text 5"/>
          <p:cNvSpPr/>
          <p:nvPr/>
        </p:nvSpPr>
        <p:spPr>
          <a:xfrm>
            <a:off x="838200" y="4106912"/>
            <a:ext cx="8127096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E7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teaching modules from tabular machine learning to multimodal extraction, built from published research and reproducible with no API key.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38200" y="5496892"/>
            <a:ext cx="233124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102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1a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838200" y="5777880"/>
            <a:ext cx="2331244" cy="260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7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Tabular ML · activity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02794" y="5325442"/>
            <a:ext cx="9525" cy="846758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1869" y="5496892"/>
            <a:ext cx="233124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102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1b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3521869" y="5777880"/>
            <a:ext cx="2331244" cy="260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7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Tabular ML · stability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86463" y="5325442"/>
            <a:ext cx="9525" cy="846758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05538" y="5496892"/>
            <a:ext cx="233124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102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2a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205538" y="5777880"/>
            <a:ext cx="2331244" cy="260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7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→ dataset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70131" y="5325442"/>
            <a:ext cx="9525" cy="846758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89206" y="5496892"/>
            <a:ext cx="233124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102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2b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8889206" y="5777880"/>
            <a:ext cx="2331244" cy="260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7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PDF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8200" y="901303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94384" y="887016"/>
            <a:ext cx="30056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D9A8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TABULAR ML · ACTIVITY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38200" y="1353741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8200" y="1591866"/>
            <a:ext cx="8182970" cy="2321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50" b="1" kern="0" spc="-1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catalyst activity from a synthesis </a:t>
            </a:r>
            <a:r>
              <a:rPr lang="en-US" sz="5550" i="1" kern="0" spc="-11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</a:t>
            </a:r>
            <a:endParaRPr lang="en-US" sz="5550" dirty="0"/>
          </a:p>
        </p:txBody>
      </p:sp>
      <p:sp>
        <p:nvSpPr>
          <p:cNvPr id="7" name="Text 5"/>
          <p:cNvSpPr/>
          <p:nvPr/>
        </p:nvSpPr>
        <p:spPr>
          <a:xfrm>
            <a:off x="838200" y="4142110"/>
            <a:ext cx="8333096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E7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 literature records of acidic-OER electrocatalysts, then learn to predict overpotential η₁₀ (lower is better) from composition, synthesis, and testing conditions.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B375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1a — Activity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18184" y="609600"/>
            <a:ext cx="185246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THE PIPELINE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 err="1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Featurize</a:t>
            </a: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database, then climb the model ladder</a:t>
            </a:r>
            <a:endParaRPr lang="en-US" sz="345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0C6ACBD-EC62-7F73-6611-CE1AA004FD5A}"/>
              </a:ext>
            </a:extLst>
          </p:cNvPr>
          <p:cNvGrpSpPr/>
          <p:nvPr/>
        </p:nvGrpSpPr>
        <p:grpSpPr>
          <a:xfrm>
            <a:off x="723900" y="2187327"/>
            <a:ext cx="400050" cy="363871"/>
            <a:chOff x="723900" y="2090528"/>
            <a:chExt cx="400050" cy="363871"/>
          </a:xfrm>
        </p:grpSpPr>
        <p:sp>
          <p:nvSpPr>
            <p:cNvPr id="7" name="Shape 5"/>
            <p:cNvSpPr/>
            <p:nvPr/>
          </p:nvSpPr>
          <p:spPr>
            <a:xfrm>
              <a:off x="762000" y="2130549"/>
              <a:ext cx="323850" cy="323850"/>
            </a:xfrm>
            <a:prstGeom prst="ellipse">
              <a:avLst/>
            </a:prstGeom>
            <a:solidFill>
              <a:srgbClr val="8000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723900" y="2090528"/>
              <a:ext cx="400050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1</a:t>
              </a:r>
              <a:endParaRPr lang="en-US" sz="120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1238250" y="2159124"/>
            <a:ext cx="4768025" cy="139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elements to 8 atomic properties </a:t>
            </a:r>
            <a:endParaRPr lang="en-US" sz="1650" dirty="0">
              <a:solidFill>
                <a:srgbClr val="403B3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2000"/>
              </a:lnSpc>
              <a:buNone/>
            </a:pPr>
            <a:r>
              <a:rPr lang="en-US" sz="1650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atomic radius, electronegativity, d-electrons… instead of one-hot. The step that matters most.</a:t>
            </a:r>
            <a:endParaRPr lang="en-US" sz="165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B590C7B-4DB6-68B3-AB7A-06F678930432}"/>
              </a:ext>
            </a:extLst>
          </p:cNvPr>
          <p:cNvGrpSpPr/>
          <p:nvPr/>
        </p:nvGrpSpPr>
        <p:grpSpPr>
          <a:xfrm>
            <a:off x="723900" y="3273519"/>
            <a:ext cx="400050" cy="370604"/>
            <a:chOff x="723900" y="3138242"/>
            <a:chExt cx="400050" cy="370604"/>
          </a:xfrm>
        </p:grpSpPr>
        <p:sp>
          <p:nvSpPr>
            <p:cNvPr id="10" name="Shape 8"/>
            <p:cNvSpPr/>
            <p:nvPr/>
          </p:nvSpPr>
          <p:spPr>
            <a:xfrm>
              <a:off x="762000" y="3184996"/>
              <a:ext cx="323850" cy="323850"/>
            </a:xfrm>
            <a:prstGeom prst="ellipse">
              <a:avLst/>
            </a:prstGeom>
            <a:solidFill>
              <a:srgbClr val="8000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723900" y="3138242"/>
              <a:ext cx="400050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2</a:t>
              </a:r>
              <a:endParaRPr lang="en-US" sz="12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1238250" y="3273519"/>
            <a:ext cx="4768025" cy="1396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the model ladder </a:t>
            </a:r>
          </a:p>
          <a:p>
            <a:pPr marL="0" indent="0" algn="l">
              <a:lnSpc>
                <a:spcPct val="142000"/>
              </a:lnSpc>
              <a:buNone/>
            </a:pPr>
            <a:r>
              <a:rPr lang="en-US" sz="1650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→ decision tree (overfits) → Random Forest &amp; XGBoost → MLP → a committee with uncertainty.</a:t>
            </a:r>
            <a:endParaRPr lang="en-US" sz="165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3F3E5E0-C53A-6BF1-0D89-1613F32D5642}"/>
              </a:ext>
            </a:extLst>
          </p:cNvPr>
          <p:cNvGrpSpPr/>
          <p:nvPr/>
        </p:nvGrpSpPr>
        <p:grpSpPr>
          <a:xfrm>
            <a:off x="723900" y="4724894"/>
            <a:ext cx="400050" cy="361951"/>
            <a:chOff x="723900" y="4201343"/>
            <a:chExt cx="400050" cy="361951"/>
          </a:xfrm>
        </p:grpSpPr>
        <p:sp>
          <p:nvSpPr>
            <p:cNvPr id="13" name="Shape 11"/>
            <p:cNvSpPr/>
            <p:nvPr/>
          </p:nvSpPr>
          <p:spPr>
            <a:xfrm>
              <a:off x="762000" y="4239444"/>
              <a:ext cx="323850" cy="323850"/>
            </a:xfrm>
            <a:prstGeom prst="ellipse">
              <a:avLst/>
            </a:prstGeom>
            <a:solidFill>
              <a:srgbClr val="8000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723900" y="4201343"/>
              <a:ext cx="400050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3</a:t>
              </a:r>
              <a:endParaRPr lang="en-US" sz="12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1238250" y="4743291"/>
            <a:ext cx="4768025" cy="949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with SHAP </a:t>
            </a:r>
          </a:p>
          <a:p>
            <a:pPr marL="0" indent="0" algn="l">
              <a:lnSpc>
                <a:spcPct val="142000"/>
              </a:lnSpc>
              <a:buNone/>
            </a:pPr>
            <a:r>
              <a:rPr lang="en-US" sz="1650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driving factors and spot testing-condition confounders.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324600" y="2353791"/>
            <a:ext cx="5105400" cy="1247775"/>
          </a:xfrm>
          <a:prstGeom prst="roundRect">
            <a:avLst>
              <a:gd name="adj" fmla="val 7634"/>
            </a:avLst>
          </a:prstGeom>
          <a:solidFill>
            <a:srgbClr val="FDF7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24600" y="2353791"/>
            <a:ext cx="28575" cy="1247775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1775" y="2544291"/>
            <a:ext cx="47582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B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 tabular baseline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1775" y="2868141"/>
            <a:ext cx="475821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ensembles dominate small, wide scientific tables. XGBoost reaches test R² ≈ 0.84 on activity.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6324600" y="3792066"/>
            <a:ext cx="916930" cy="376238"/>
          </a:xfrm>
          <a:prstGeom prst="roundRect">
            <a:avLst>
              <a:gd name="adj" fmla="val 50000"/>
            </a:avLst>
          </a:prstGeom>
          <a:solidFill>
            <a:srgbClr val="F3E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77000" y="3858741"/>
            <a:ext cx="68833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38" dirty="0">
                <a:solidFill>
                  <a:srgbClr val="5B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linear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7336780" y="3792066"/>
            <a:ext cx="1631007" cy="376238"/>
          </a:xfrm>
          <a:prstGeom prst="roundRect">
            <a:avLst>
              <a:gd name="adj" fmla="val 50000"/>
            </a:avLst>
          </a:prstGeom>
          <a:solidFill>
            <a:srgbClr val="F3E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89180" y="3858741"/>
            <a:ext cx="1402407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38" dirty="0">
                <a:solidFill>
                  <a:srgbClr val="5B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tree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9063038" y="3792066"/>
            <a:ext cx="1631007" cy="376238"/>
          </a:xfrm>
          <a:prstGeom prst="roundRect">
            <a:avLst>
              <a:gd name="adj" fmla="val 50000"/>
            </a:avLst>
          </a:prstGeom>
          <a:solidFill>
            <a:srgbClr val="F3E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215438" y="3858741"/>
            <a:ext cx="1402407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38" dirty="0">
                <a:solidFill>
                  <a:srgbClr val="5B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random forest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6324600" y="4263554"/>
            <a:ext cx="1018952" cy="376238"/>
          </a:xfrm>
          <a:prstGeom prst="roundRect">
            <a:avLst>
              <a:gd name="adj" fmla="val 50000"/>
            </a:avLst>
          </a:prstGeom>
          <a:solidFill>
            <a:srgbClr val="F3E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77000" y="4330229"/>
            <a:ext cx="79035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38" dirty="0">
                <a:solidFill>
                  <a:srgbClr val="5B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xgboost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7438802" y="4263554"/>
            <a:ext cx="610865" cy="376238"/>
          </a:xfrm>
          <a:prstGeom prst="roundRect">
            <a:avLst>
              <a:gd name="adj" fmla="val 50000"/>
            </a:avLst>
          </a:prstGeom>
          <a:solidFill>
            <a:srgbClr val="F3E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91202" y="4330229"/>
            <a:ext cx="38226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38" dirty="0">
                <a:solidFill>
                  <a:srgbClr val="5B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mlp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8144917" y="4263554"/>
            <a:ext cx="1222921" cy="376238"/>
          </a:xfrm>
          <a:prstGeom prst="roundRect">
            <a:avLst>
              <a:gd name="adj" fmla="val 50000"/>
            </a:avLst>
          </a:prstGeom>
          <a:solidFill>
            <a:srgbClr val="FDF7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97317" y="4330229"/>
            <a:ext cx="99432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38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committee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93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1a — Activity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081757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18184" y="1067470"/>
            <a:ext cx="12180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RESULTS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2000" y="1534195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1772320"/>
            <a:ext cx="4225137" cy="984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models</a:t>
            </a:r>
            <a:r>
              <a:rPr lang="zh-CN" alt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 </a:t>
            </a:r>
            <a:r>
              <a:rPr lang="en-US" altLang="zh-CN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</a:t>
            </a: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performances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762000" y="2985418"/>
            <a:ext cx="178794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127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XGBOOST TEST R²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62000" y="3380705"/>
            <a:ext cx="1521247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50" b="1" kern="0" spc="-11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5550" dirty="0"/>
          </a:p>
        </p:txBody>
      </p:sp>
      <p:sp>
        <p:nvSpPr>
          <p:cNvPr id="9" name="Text 7"/>
          <p:cNvSpPr/>
          <p:nvPr/>
        </p:nvSpPr>
        <p:spPr>
          <a:xfrm>
            <a:off x="762000" y="4123655"/>
            <a:ext cx="15212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is better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549947" y="2985418"/>
            <a:ext cx="9525" cy="1638300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02372" y="2985418"/>
            <a:ext cx="169500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127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MAE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2902371" y="3323555"/>
            <a:ext cx="193082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50" b="1" kern="0" spc="-11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27.8 </a:t>
            </a:r>
            <a:r>
              <a:rPr lang="en-US" sz="1800" b="1" kern="0" spc="-111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mV</a:t>
            </a:r>
            <a:endParaRPr lang="en-US" sz="5550" dirty="0"/>
          </a:p>
        </p:txBody>
      </p:sp>
      <p:sp>
        <p:nvSpPr>
          <p:cNvPr id="13" name="Text 11"/>
          <p:cNvSpPr/>
          <p:nvPr/>
        </p:nvSpPr>
        <p:spPr>
          <a:xfrm>
            <a:off x="2902372" y="4123655"/>
            <a:ext cx="169500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62000" y="4890418"/>
            <a:ext cx="3895711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and a lone decision tree perform</a:t>
            </a:r>
            <a:r>
              <a:rPr lang="zh-CN" altLang="en-US" sz="157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57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r>
              <a:rPr lang="en-US" sz="157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tree ensembles and the committee cluster at the top.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5397475" y="1157288"/>
            <a:ext cx="6032525" cy="4000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8E3DB"/>
            </a:solidFill>
            <a:prstDash val="solid"/>
          </a:ln>
          <a:effectLst>
            <a:outerShdw blurRad="114300" dist="38100" dir="5400000" algn="bl" rotWithShape="0">
              <a:srgbClr val="1A17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8450" y="1338263"/>
            <a:ext cx="5670575" cy="36385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627840" y="5272088"/>
            <a:ext cx="58021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R² (higher better) and MAE (lower better) across six models.</a:t>
            </a:r>
            <a:endParaRPr lang="en-US" sz="1125" dirty="0"/>
          </a:p>
        </p:txBody>
      </p:sp>
      <p:sp>
        <p:nvSpPr>
          <p:cNvPr id="19" name="Shape 16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93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1a — Activity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979363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18184" y="965076"/>
            <a:ext cx="210621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INTERPRETATION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2000" y="1431801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1669926"/>
            <a:ext cx="5092009" cy="984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factors drive performance?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762000" y="2844924"/>
            <a:ext cx="4081272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attributes each prediction back to its features. Atomic radius, electronegativity, and catalyst loading lead.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62000" y="4645149"/>
            <a:ext cx="4943698" cy="1247775"/>
          </a:xfrm>
          <a:prstGeom prst="roundRect">
            <a:avLst>
              <a:gd name="adj" fmla="val 7634"/>
            </a:avLst>
          </a:prstGeom>
          <a:solidFill>
            <a:srgbClr val="FA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2000" y="4645149"/>
            <a:ext cx="28575" cy="1247775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19175" y="4835649"/>
            <a:ext cx="45916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5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as a decision tool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9175" y="5159499"/>
            <a:ext cx="459166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is feature value; spread is impact. It tells you how importance a feature is and how it impacts the output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6239098" y="871538"/>
            <a:ext cx="5190902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8E3DB"/>
            </a:solidFill>
            <a:prstDash val="solid"/>
          </a:ln>
          <a:effectLst>
            <a:outerShdw blurRad="114300" dist="38100" dir="5400000" algn="bl" rotWithShape="0">
              <a:srgbClr val="1A17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20073" y="1052513"/>
            <a:ext cx="4828952" cy="42100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096000" y="5557838"/>
            <a:ext cx="546914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SHAP </a:t>
            </a:r>
            <a:r>
              <a:rPr lang="en-US" sz="1125" dirty="0" err="1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beeswarm</a:t>
            </a:r>
            <a:r>
              <a:rPr lang="en-US" sz="1125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illustrates feature impact on the XGBoost activity model.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93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1a — Activity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1B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94384" y="1267644"/>
            <a:ext cx="31363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D9A8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TABULAR ML · STABILITY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50" b="1" kern="0" spc="-1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template, a </a:t>
            </a:r>
            <a:r>
              <a:rPr lang="en-US" sz="5550" i="1" kern="0" spc="-11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target</a:t>
            </a:r>
            <a:endParaRPr lang="en-US" sz="5550" dirty="0"/>
          </a:p>
        </p:txBody>
      </p:sp>
      <p:sp>
        <p:nvSpPr>
          <p:cNvPr id="7" name="Text 5"/>
          <p:cNvSpPr/>
          <p:nvPr/>
        </p:nvSpPr>
        <p:spPr>
          <a:xfrm>
            <a:off x="838200" y="3761556"/>
            <a:ext cx="8020792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E7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the identical composition-to-property pipeline at stability namely predict catalyst performance decay rate, where lower means more stable. 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B375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1b — Stability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1B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18184" y="823689"/>
            <a:ext cx="12180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RESULTS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1528539"/>
            <a:ext cx="4225137" cy="1457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target, the same strong baseline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762000" y="3214836"/>
            <a:ext cx="217393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127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RF / COMMITTEE R²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62000" y="3552974"/>
            <a:ext cx="21739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50" b="1" kern="0" spc="-11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5550" dirty="0"/>
          </a:p>
        </p:txBody>
      </p:sp>
      <p:sp>
        <p:nvSpPr>
          <p:cNvPr id="9" name="Text 7"/>
          <p:cNvSpPr/>
          <p:nvPr/>
        </p:nvSpPr>
        <p:spPr>
          <a:xfrm>
            <a:off x="761999" y="4353074"/>
            <a:ext cx="353853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is the easier target here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134124"/>
            <a:ext cx="3895711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and the committee reach R² ≈ 0.88–0.90</a:t>
            </a:r>
            <a:r>
              <a:rPr lang="zh-CN" altLang="en-US" sz="157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en-US" sz="157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stronger than activity, on a smaller table.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5397475" y="1264444"/>
            <a:ext cx="6032525" cy="4000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8E3DB"/>
            </a:solidFill>
            <a:prstDash val="solid"/>
          </a:ln>
          <a:effectLst>
            <a:outerShdw blurRad="114300" dist="38100" dir="5400000" algn="bl" rotWithShape="0">
              <a:srgbClr val="1A17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8450" y="1445419"/>
            <a:ext cx="5670575" cy="36385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78525" y="5379244"/>
            <a:ext cx="476802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R² and MAE across models on the stability target.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93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1b — Stability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000795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1B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18184" y="986507"/>
            <a:ext cx="15987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THE LESSON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2000" y="1453232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1691357"/>
            <a:ext cx="5092009" cy="984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and stability are </a:t>
            </a:r>
            <a:r>
              <a:rPr lang="en-US" sz="3450" i="1" kern="0" spc="-69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problems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762000" y="2866355"/>
            <a:ext cx="4081272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the two SHAP rankings shows they are governed by partly different factors. A model good at one is not automatically good at the other.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62000" y="4352255"/>
            <a:ext cx="4943698" cy="1519238"/>
          </a:xfrm>
          <a:prstGeom prst="roundRect">
            <a:avLst>
              <a:gd name="adj" fmla="val 6270"/>
            </a:avLst>
          </a:prstGeom>
          <a:solidFill>
            <a:srgbClr val="FDF7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2000" y="4352255"/>
            <a:ext cx="28575" cy="151923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19175" y="4542755"/>
            <a:ext cx="45916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B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run 1b at all?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9175" y="4866605"/>
            <a:ext cx="4591661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Reusing the template on a second target is the cheapest way to learn what transfers and what doesn't.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6239098" y="978694"/>
            <a:ext cx="5190902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8E3DB"/>
            </a:solidFill>
            <a:prstDash val="solid"/>
          </a:ln>
          <a:effectLst>
            <a:outerShdw blurRad="114300" dist="38100" dir="5400000" algn="bl" rotWithShape="0">
              <a:srgbClr val="1A17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20073" y="1159669"/>
            <a:ext cx="4828952" cy="42100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020148" y="5664994"/>
            <a:ext cx="414994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SHAP beeswarm — drivers of the stability model.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93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1b — Stability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4274D-153A-677A-A80D-B7832808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9250E7-D54D-FE29-5F1C-5D50DD58C8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39989B-AD6E-24C2-CB2A-51386E6D5413}"/>
              </a:ext>
            </a:extLst>
          </p:cNvPr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1C</a:t>
            </a:r>
            <a:endParaRPr lang="en-US" sz="13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ABA208-21B8-E5BA-3F5D-EC91D75C93CB}"/>
              </a:ext>
            </a:extLst>
          </p:cNvPr>
          <p:cNvSpPr/>
          <p:nvPr/>
        </p:nvSpPr>
        <p:spPr>
          <a:xfrm>
            <a:off x="2094384" y="1267644"/>
            <a:ext cx="31363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D9A8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DATASET GALLERY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4F53C16-C373-501B-46F5-BEE5006E89E5}"/>
              </a:ext>
            </a:extLst>
          </p:cNvPr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0C0923A-76D8-784B-0CD2-2D1E15DA2F3C}"/>
              </a:ext>
            </a:extLst>
          </p:cNvPr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50" b="1" kern="0" spc="-1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pipeline, </a:t>
            </a:r>
            <a:r>
              <a:rPr lang="en-US" sz="5550" i="1" kern="0" spc="-11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domains</a:t>
            </a:r>
            <a:endParaRPr lang="en-US" sz="55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3ED200-5BED-24E1-B2F6-3FA7B4376B75}"/>
              </a:ext>
            </a:extLst>
          </p:cNvPr>
          <p:cNvSpPr/>
          <p:nvPr/>
        </p:nvSpPr>
        <p:spPr>
          <a:xfrm>
            <a:off x="838200" y="3761556"/>
            <a:ext cx="8020792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E7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collection of other different chemistry/materials science related domains</a:t>
            </a:r>
            <a:endParaRPr lang="en-US" sz="1875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347A07E-939B-2521-1FEB-09037D46899B}"/>
              </a:ext>
            </a:extLst>
          </p:cNvPr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E6CA47F-165A-6ADA-5897-92B1AB9B3201}"/>
              </a:ext>
            </a:extLst>
          </p:cNvPr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CED5EBB-FF06-B101-6DA8-86F263F62849}"/>
              </a:ext>
            </a:extLst>
          </p:cNvPr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B375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1b — Stability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2651848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8754-DB95-B8D5-F4B6-4A81DAA4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3F4E6D-FCA9-6781-9BED-B80ABB56DE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793B47-B503-933B-66DD-B748EDB16C9E}"/>
              </a:ext>
            </a:extLst>
          </p:cNvPr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1B</a:t>
            </a:r>
            <a:endParaRPr lang="en-US" sz="13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5461C7F-8B4C-FFFB-60AE-4F6DB3EA89C4}"/>
              </a:ext>
            </a:extLst>
          </p:cNvPr>
          <p:cNvSpPr/>
          <p:nvPr/>
        </p:nvSpPr>
        <p:spPr>
          <a:xfrm>
            <a:off x="2018184" y="823689"/>
            <a:ext cx="12180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RESULTS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9184C4C-9092-92F7-C6C8-139BCE2CFD13}"/>
              </a:ext>
            </a:extLst>
          </p:cNvPr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912D5B3-EA91-6DDC-F448-0A6EFED6DA22}"/>
              </a:ext>
            </a:extLst>
          </p:cNvPr>
          <p:cNvSpPr/>
          <p:nvPr/>
        </p:nvSpPr>
        <p:spPr>
          <a:xfrm>
            <a:off x="762000" y="1528539"/>
            <a:ext cx="4225137" cy="1457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features → Model ladder → SHAP</a:t>
            </a:r>
            <a:endParaRPr lang="en-US" sz="34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C8AF1C-26BE-576B-6080-D88CE3770767}"/>
              </a:ext>
            </a:extLst>
          </p:cNvPr>
          <p:cNvSpPr/>
          <p:nvPr/>
        </p:nvSpPr>
        <p:spPr>
          <a:xfrm>
            <a:off x="762000" y="3214836"/>
            <a:ext cx="217393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127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R²</a:t>
            </a:r>
            <a:endParaRPr lang="en-US" sz="1275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8E59C7-BB07-6B9B-3A82-CFAFD3DA9A59}"/>
              </a:ext>
            </a:extLst>
          </p:cNvPr>
          <p:cNvSpPr/>
          <p:nvPr/>
        </p:nvSpPr>
        <p:spPr>
          <a:xfrm>
            <a:off x="762000" y="3552974"/>
            <a:ext cx="21739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50" b="1" kern="0" spc="-11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0.86–0.98</a:t>
            </a:r>
            <a:endParaRPr lang="en-US" sz="55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4D6A6C9-A427-6432-3DA4-5C5808CAE032}"/>
              </a:ext>
            </a:extLst>
          </p:cNvPr>
          <p:cNvSpPr/>
          <p:nvPr/>
        </p:nvSpPr>
        <p:spPr>
          <a:xfrm>
            <a:off x="761999" y="4353074"/>
            <a:ext cx="3599794" cy="153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MAX-phase ceramics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perovskites (PV)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Heusler magnets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enthalpy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6FF12D6-56E2-2153-6850-E1C5CD3AFFF7}"/>
              </a:ext>
            </a:extLst>
          </p:cNvPr>
          <p:cNvSpPr/>
          <p:nvPr/>
        </p:nvSpPr>
        <p:spPr>
          <a:xfrm>
            <a:off x="5397475" y="1264444"/>
            <a:ext cx="6032525" cy="4000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8E3DB"/>
            </a:solidFill>
            <a:prstDash val="solid"/>
          </a:ln>
          <a:effectLst>
            <a:outerShdw blurRad="114300" dist="38100" dir="5400000" algn="bl" rotWithShape="0">
              <a:srgbClr val="1A17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AA4ACBD-9642-F967-1C9F-19319D45854D}"/>
              </a:ext>
            </a:extLst>
          </p:cNvPr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DBDC999-56BF-6C50-CEFD-B2DC495A8F26}"/>
              </a:ext>
            </a:extLst>
          </p:cNvPr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918062D-D824-2673-0880-747A350B4EE7}"/>
              </a:ext>
            </a:extLst>
          </p:cNvPr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93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1c — Dataset Gallery</a:t>
            </a:r>
            <a:endParaRPr lang="en-US" sz="1125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F70D07-2746-B887-40E8-758F0BF78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461" y="1843954"/>
            <a:ext cx="5774135" cy="298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08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94384" y="1267644"/>
            <a:ext cx="21065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D9A8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TEXT → DATASET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8200" y="1972494"/>
            <a:ext cx="6863923" cy="156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50" b="1" kern="0" spc="-1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papers to a </a:t>
            </a:r>
            <a:r>
              <a:rPr lang="en-US" sz="5550" i="1" kern="0" spc="-11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dataset</a:t>
            </a:r>
            <a:endParaRPr lang="en-US" sz="5550" dirty="0"/>
          </a:p>
        </p:txBody>
      </p:sp>
      <p:sp>
        <p:nvSpPr>
          <p:cNvPr id="7" name="Text 5"/>
          <p:cNvSpPr/>
          <p:nvPr/>
        </p:nvSpPr>
        <p:spPr>
          <a:xfrm>
            <a:off x="838200" y="3761556"/>
            <a:ext cx="7093096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E7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corpus of papers into a validated table with an LLM.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E7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auto prompt optimization applied. 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838200" y="5214119"/>
            <a:ext cx="2753171" cy="376238"/>
          </a:xfrm>
          <a:prstGeom prst="roundRect">
            <a:avLst>
              <a:gd name="adj" fmla="val 50000"/>
            </a:avLst>
          </a:prstGeom>
          <a:solidFill>
            <a:srgbClr val="EAAA00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0600" y="5280794"/>
            <a:ext cx="2530967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38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150 FET-biosensor papers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3686621" y="5214119"/>
            <a:ext cx="1120973" cy="376238"/>
          </a:xfrm>
          <a:prstGeom prst="roundRect">
            <a:avLst>
              <a:gd name="adj" fmla="val 50000"/>
            </a:avLst>
          </a:prstGeom>
          <a:solidFill>
            <a:srgbClr val="EAAA00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39021" y="5280794"/>
            <a:ext cx="89237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38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fields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B375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2a — Text to data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18184" y="609600"/>
            <a:ext cx="15987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THE METHOD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schema, three metrics, one loop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762000" y="2180244"/>
            <a:ext cx="323850" cy="323850"/>
          </a:xfrm>
          <a:prstGeom prst="ellipse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3900" y="2130549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8250" y="2159124"/>
            <a:ext cx="4768025" cy="93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Pydantic schema </a:t>
            </a:r>
            <a:r>
              <a:rPr lang="en-US" sz="1650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contract for a clean dataset: the fields, types, and units you want out.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62000" y="3244630"/>
            <a:ext cx="323850" cy="323850"/>
          </a:xfrm>
          <a:prstGeom prst="ellipse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3900" y="318499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8250" y="3213571"/>
            <a:ext cx="4768025" cy="93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kinds of metric : </a:t>
            </a:r>
            <a:r>
              <a:rPr lang="en-US" sz="1650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for categories, unit-normalized for numbers, an LLM judge for chemicals.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62000" y="4279200"/>
            <a:ext cx="323850" cy="323850"/>
          </a:xfrm>
          <a:prstGeom prst="ellipse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3900" y="423944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8250" y="4268019"/>
            <a:ext cx="4768025" cy="93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val / test discipline </a:t>
            </a:r>
            <a:r>
              <a:rPr lang="en-US" sz="1650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prompt tweaks into measured decisions, the loop DSPy and TextGrad automate.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324600" y="2502545"/>
            <a:ext cx="5105400" cy="1247775"/>
          </a:xfrm>
          <a:prstGeom prst="roundRect">
            <a:avLst>
              <a:gd name="adj" fmla="val 7634"/>
            </a:avLst>
          </a:prstGeom>
          <a:solidFill>
            <a:srgbClr val="FA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24600" y="2502545"/>
            <a:ext cx="28575" cy="1247775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1775" y="2693045"/>
            <a:ext cx="47582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5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is the point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1775" y="3016895"/>
            <a:ext cx="475821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held-out test set, every prompt change is a guess. With one, it's a decision.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6324600" y="3921770"/>
            <a:ext cx="1446014" cy="395288"/>
          </a:xfrm>
          <a:prstGeom prst="roundRect">
            <a:avLst>
              <a:gd name="adj" fmla="val 50000"/>
            </a:avLst>
          </a:prstGeom>
          <a:ln w="9525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86525" y="3997970"/>
            <a:ext cx="119836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38" dirty="0">
                <a:solidFill>
                  <a:srgbClr val="403B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exact match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7865864" y="3921770"/>
            <a:ext cx="1854101" cy="395288"/>
          </a:xfrm>
          <a:prstGeom prst="roundRect">
            <a:avLst>
              <a:gd name="adj" fmla="val 50000"/>
            </a:avLst>
          </a:prstGeom>
          <a:ln w="9525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27789" y="3997970"/>
            <a:ext cx="160645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38" dirty="0">
                <a:solidFill>
                  <a:srgbClr val="403B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unit-normalized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9815215" y="3921770"/>
            <a:ext cx="1241971" cy="395288"/>
          </a:xfrm>
          <a:prstGeom prst="roundRect">
            <a:avLst>
              <a:gd name="adj" fmla="val 50000"/>
            </a:avLst>
          </a:prstGeom>
          <a:ln w="9525">
            <a:solidFill>
              <a:srgbClr val="C9C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977140" y="3997970"/>
            <a:ext cx="99432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38" dirty="0">
                <a:solidFill>
                  <a:srgbClr val="403B3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 judge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6324600" y="4412307"/>
            <a:ext cx="2141041" cy="376238"/>
          </a:xfrm>
          <a:prstGeom prst="roundRect">
            <a:avLst>
              <a:gd name="adj" fmla="val 50000"/>
            </a:avLst>
          </a:prstGeom>
          <a:solidFill>
            <a:srgbClr val="FDF7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77000" y="4478982"/>
            <a:ext cx="191244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38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 / 39 / 51 split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93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2a — Text to data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A9473-280C-EF10-6B9E-695C9B1BB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585414-CD84-8AB1-D999-5590E4AF41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DD8D9B-6E8F-271C-8ACE-F0BBDC0FDFDC}"/>
              </a:ext>
            </a:extLst>
          </p:cNvPr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2A</a:t>
            </a:r>
            <a:endParaRPr lang="en-US" sz="13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2C5DB9-9AE1-E5AE-E9C0-E37EDB2BA983}"/>
              </a:ext>
            </a:extLst>
          </p:cNvPr>
          <p:cNvSpPr/>
          <p:nvPr/>
        </p:nvSpPr>
        <p:spPr>
          <a:xfrm>
            <a:off x="2018184" y="609600"/>
            <a:ext cx="15987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THE METHOD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56015BD-3D13-466C-D874-16EF7A95AD8F}"/>
              </a:ext>
            </a:extLst>
          </p:cNvPr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C8F466-BB80-6F2D-4FA4-23A5109DC0E8}"/>
              </a:ext>
            </a:extLst>
          </p:cNvPr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unstructured publication text to structured knowledge</a:t>
            </a:r>
            <a:endParaRPr lang="en-US" sz="34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D10D835-CCAF-0DDD-9C44-A2024068E931}"/>
              </a:ext>
            </a:extLst>
          </p:cNvPr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C0CBD82-86E7-F5F9-C3D0-0D259F5053A3}"/>
              </a:ext>
            </a:extLst>
          </p:cNvPr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07F946C-37DB-25E4-D02D-0E2B68AC12DD}"/>
              </a:ext>
            </a:extLst>
          </p:cNvPr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93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2a — Text to data</a:t>
            </a:r>
            <a:endParaRPr lang="en-US" sz="1125" dirty="0"/>
          </a:p>
        </p:txBody>
      </p:sp>
      <p:pic>
        <p:nvPicPr>
          <p:cNvPr id="32" name="Graphic 31" descr="Document with solid fill">
            <a:extLst>
              <a:ext uri="{FF2B5EF4-FFF2-40B4-BE49-F238E27FC236}">
                <a16:creationId xmlns:a16="http://schemas.microsoft.com/office/drawing/2014/main" id="{5280992C-93F9-64C4-3970-CD7281832C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776" y="2673502"/>
            <a:ext cx="2386441" cy="2386441"/>
          </a:xfrm>
          <a:prstGeom prst="rect">
            <a:avLst/>
          </a:prstGeom>
        </p:spPr>
      </p:pic>
      <p:pic>
        <p:nvPicPr>
          <p:cNvPr id="36" name="Graphic 35" descr="Chat bubble with solid fill">
            <a:extLst>
              <a:ext uri="{FF2B5EF4-FFF2-40B4-BE49-F238E27FC236}">
                <a16:creationId xmlns:a16="http://schemas.microsoft.com/office/drawing/2014/main" id="{AD9E4CFD-5150-B088-DD05-F807CB5536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6896" y="3290454"/>
            <a:ext cx="1060334" cy="1060334"/>
          </a:xfrm>
          <a:prstGeom prst="rect">
            <a:avLst/>
          </a:prstGeom>
        </p:spPr>
      </p:pic>
      <p:pic>
        <p:nvPicPr>
          <p:cNvPr id="1026" name="Picture 2" descr="Llm Images – Browse 57,682 Stock Photos, Vectors, and Video ...">
            <a:extLst>
              <a:ext uri="{FF2B5EF4-FFF2-40B4-BE49-F238E27FC236}">
                <a16:creationId xmlns:a16="http://schemas.microsoft.com/office/drawing/2014/main" id="{9B6F9B2C-DC06-9745-D272-941E5A007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949" y="2830021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5F88364-7D93-57F3-A5EB-60757DA18651}"/>
              </a:ext>
            </a:extLst>
          </p:cNvPr>
          <p:cNvSpPr txBox="1"/>
          <p:nvPr/>
        </p:nvSpPr>
        <p:spPr>
          <a:xfrm>
            <a:off x="7867562" y="2254374"/>
            <a:ext cx="442999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sensor_type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Gas ,</a:t>
            </a:r>
          </a:p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detect_target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Nitrogen Dioxide,</a:t>
            </a:r>
          </a:p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lower_detection_limit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10 pb,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upper_detection_limit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:1200 ppb,</a:t>
            </a:r>
          </a:p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probe_material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zinc oxide,</a:t>
            </a:r>
          </a:p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test_operating_temperature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40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°C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7E529992-EEC1-54F6-2D2B-3191C2D06F4B}"/>
              </a:ext>
            </a:extLst>
          </p:cNvPr>
          <p:cNvSpPr/>
          <p:nvPr/>
        </p:nvSpPr>
        <p:spPr>
          <a:xfrm>
            <a:off x="3289995" y="5417563"/>
            <a:ext cx="6408187" cy="40178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DA902B-5C51-1F6F-C596-9A00A6EB3F6E}"/>
              </a:ext>
            </a:extLst>
          </p:cNvPr>
          <p:cNvSpPr txBox="1"/>
          <p:nvPr/>
        </p:nvSpPr>
        <p:spPr>
          <a:xfrm>
            <a:off x="3703640" y="4268423"/>
            <a:ext cx="886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prompt</a:t>
            </a:r>
          </a:p>
        </p:txBody>
      </p:sp>
    </p:spTree>
    <p:extLst>
      <p:ext uri="{BB962C8B-B14F-4D97-AF65-F5344CB8AC3E}">
        <p14:creationId xmlns:p14="http://schemas.microsoft.com/office/powerpoint/2010/main" val="2170558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78309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18184" y="864022"/>
            <a:ext cx="21381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THE IMPROVEMENT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2000" y="1330747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1568872"/>
            <a:ext cx="4225137" cy="984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the levers, climb the accuracy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762000" y="2743870"/>
            <a:ext cx="4225137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127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HELD-OUT TEST ACCURACY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62000" y="3082007"/>
            <a:ext cx="422513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kern="0" spc="-78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0.68 → 0.83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762000" y="3672557"/>
            <a:ext cx="294636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2F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+0.15 across three stacked levers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28700" y="4177382"/>
            <a:ext cx="3958437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optimization </a:t>
            </a:r>
            <a:r>
              <a:rPr lang="en-US" sz="172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training set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028700" y="4926881"/>
            <a:ext cx="3958437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examples </a:t>
            </a:r>
            <a:r>
              <a:rPr lang="en-US" sz="172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worst failures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028700" y="5676379"/>
            <a:ext cx="3958437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optimization pass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8E3DB"/>
            </a:solidFill>
            <a:prstDash val="solid"/>
          </a:ln>
          <a:effectLst>
            <a:outerShdw blurRad="114300" dist="38100" dir="5400000" algn="bl" rotWithShape="0">
              <a:srgbClr val="1A17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8450" y="1290638"/>
            <a:ext cx="5670575" cy="3733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10907" y="5333999"/>
            <a:ext cx="66056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accuracy across prompt versions: baseline → optimized → few-shot → re-optimized.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93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2a — Text to data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2B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94384" y="1267644"/>
            <a:ext cx="210621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D9A8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MULTIMODAL PDF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50" b="1" kern="0" spc="-1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page, beyond</a:t>
            </a:r>
            <a:r>
              <a:rPr lang="zh-CN" altLang="en-US" sz="5550" b="1" kern="0" spc="-1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550" b="1" kern="0" spc="-1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the </a:t>
            </a:r>
            <a:r>
              <a:rPr lang="en-US" sz="5550" i="1" kern="0" spc="-11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5550" dirty="0"/>
          </a:p>
        </p:txBody>
      </p:sp>
      <p:sp>
        <p:nvSpPr>
          <p:cNvPr id="7" name="Text 5"/>
          <p:cNvSpPr/>
          <p:nvPr/>
        </p:nvSpPr>
        <p:spPr>
          <a:xfrm>
            <a:off x="838200" y="3761556"/>
            <a:ext cx="7365957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E7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a vision model rendered page images instead of linearized text. Same worker, same prompt, one variable changed, so any difference is the modality itself.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B375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2b — Multimodal PDF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172245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2B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18184" y="1157957"/>
            <a:ext cx="19793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TEXT VS IMAGE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2000" y="1624682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1862807"/>
            <a:ext cx="5092009" cy="984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prompt, two inputs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762000" y="2860446"/>
            <a:ext cx="1000646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kern="0" spc="127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TEXT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800" kern="0" spc="127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PRECISION</a:t>
            </a:r>
          </a:p>
        </p:txBody>
      </p:sp>
      <p:sp>
        <p:nvSpPr>
          <p:cNvPr id="8" name="Text 6"/>
          <p:cNvSpPr/>
          <p:nvPr/>
        </p:nvSpPr>
        <p:spPr>
          <a:xfrm>
            <a:off x="762000" y="3375943"/>
            <a:ext cx="100064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kern="0" spc="-78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0.68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2029346" y="3037805"/>
            <a:ext cx="9525" cy="1185863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81771" y="2860446"/>
            <a:ext cx="203009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 kern="0" spc="127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800" kern="0" spc="127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PRECISION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81771" y="3375943"/>
            <a:ext cx="203009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kern="0" spc="-78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</a:t>
            </a:r>
            <a:r>
              <a:rPr lang="en-US" altLang="zh-CN" sz="3900" b="1" kern="0" spc="-78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3900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81771" y="3966493"/>
            <a:ext cx="20300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altLang="zh-CN" sz="135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zh-CN" altLang="en-US" sz="135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</a:t>
            </a:r>
            <a:r>
              <a:rPr lang="en-US" altLang="zh-CN" sz="135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r>
              <a:rPr lang="en-US" sz="135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0.6</a:t>
            </a:r>
            <a:r>
              <a:rPr lang="en-US" altLang="zh-CN" sz="1350" dirty="0">
                <a:solidFill>
                  <a:srgbClr val="6E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2000" y="4452268"/>
            <a:ext cx="4943698" cy="1247775"/>
          </a:xfrm>
          <a:prstGeom prst="roundRect">
            <a:avLst>
              <a:gd name="adj" fmla="val 7634"/>
            </a:avLst>
          </a:prstGeom>
          <a:solidFill>
            <a:srgbClr val="FA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2000" y="4452268"/>
            <a:ext cx="28575" cy="1247775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19175" y="4642768"/>
            <a:ext cx="45916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5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text layer fails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19175" y="4966618"/>
            <a:ext cx="459166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scanned paper, the text arm scores 0.00. Only the image arm works and multimodal is the only option.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6239098" y="1026319"/>
            <a:ext cx="5190902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E8E3DB"/>
            </a:solidFill>
            <a:prstDash val="solid"/>
          </a:ln>
          <a:effectLst>
            <a:outerShdw blurRad="114300" dist="38100" dir="5400000" algn="bl" rotWithShape="0">
              <a:srgbClr val="1A17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20073" y="1207294"/>
            <a:ext cx="4828952" cy="41148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020148" y="5617369"/>
            <a:ext cx="441483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Text vs image extraction F1, pooled and per paper.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93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2b — Multimodal PDF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033909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2B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018184" y="1019621"/>
            <a:ext cx="22330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RAISING THE BAR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2000" y="1486346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1724471"/>
            <a:ext cx="4225137" cy="511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higher F1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762000" y="2445321"/>
            <a:ext cx="4225137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kern="0" spc="127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MULTIMODAL F1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62000" y="2783458"/>
            <a:ext cx="422513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kern="0" spc="-78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</a:t>
            </a:r>
            <a:r>
              <a:rPr lang="en-US" altLang="zh-CN" sz="3900" b="1" kern="0" spc="-78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r>
              <a:rPr lang="en-US" sz="3900" b="1" kern="0" spc="-78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0.86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762000" y="3374008"/>
            <a:ext cx="21739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2F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+0.1</a:t>
            </a:r>
            <a:r>
              <a:rPr lang="en-US" altLang="zh-CN" sz="1350" dirty="0">
                <a:solidFill>
                  <a:srgbClr val="2F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350" dirty="0">
                <a:solidFill>
                  <a:srgbClr val="2F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recall 0.79 · precision 0.95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62000" y="4145533"/>
            <a:ext cx="3958437" cy="99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Selectivity-ordering recovery </a:t>
            </a:r>
            <a:endParaRPr lang="en-US" sz="1725" dirty="0">
              <a:solidFill>
                <a:srgbClr val="403B3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000" y="5216426"/>
            <a:ext cx="3958437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two-pass read </a:t>
            </a:r>
            <a:r>
              <a:rPr lang="en-US" sz="172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an exhaustive prompt</a:t>
            </a:r>
            <a:r>
              <a:rPr lang="zh-CN" altLang="en-US" sz="172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725" dirty="0">
                <a:solidFill>
                  <a:srgbClr val="403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(basic multi-agent)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8E3DB"/>
            </a:solidFill>
            <a:prstDash val="solid"/>
          </a:ln>
          <a:effectLst>
            <a:outerShdw blurRad="114300" dist="38100" dir="5400000" algn="bl" rotWithShape="0">
              <a:srgbClr val="1A17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61708" y="5319713"/>
            <a:ext cx="542634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F1 climb from 0.</a:t>
            </a:r>
            <a:r>
              <a:rPr lang="en-US" altLang="zh-CN" sz="1125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</a:t>
            </a:r>
            <a:r>
              <a:rPr lang="en-US" sz="1125" dirty="0">
                <a:solidFill>
                  <a:srgbClr val="6E66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to 0.86 under selectivity-ordering recovery.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93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2b — Multimodal PDF</a:t>
            </a:r>
            <a:endParaRPr lang="en-US" sz="1125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D1D73A7-D271-1A93-5413-FD386F1C0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372" y="1457771"/>
            <a:ext cx="5834935" cy="347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B28F-3195-2E45-8228-8DAC638D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026C2A-FD5C-829C-BC5A-CC047DCCFC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CB391C-C113-6334-36D7-E4A81A2C4ABB}"/>
              </a:ext>
            </a:extLst>
          </p:cNvPr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3</a:t>
            </a:r>
            <a:endParaRPr lang="en-US" sz="13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DCCB2F-AC31-F900-FB59-1477FD8E4322}"/>
              </a:ext>
            </a:extLst>
          </p:cNvPr>
          <p:cNvSpPr/>
          <p:nvPr/>
        </p:nvSpPr>
        <p:spPr>
          <a:xfrm>
            <a:off x="2094383" y="1267645"/>
            <a:ext cx="3413037" cy="276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D9A8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DISTILATION &amp; FINE TUNING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B1A113A-C50E-121A-C439-BF8000893F48}"/>
              </a:ext>
            </a:extLst>
          </p:cNvPr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name="adj" fmla="val 50000"/>
            </a:avLst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898F96-950C-8E90-E626-0BACE585238D}"/>
              </a:ext>
            </a:extLst>
          </p:cNvPr>
          <p:cNvSpPr/>
          <p:nvPr/>
        </p:nvSpPr>
        <p:spPr>
          <a:xfrm>
            <a:off x="838199" y="1972494"/>
            <a:ext cx="8140005" cy="156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50" b="1" kern="0" spc="-1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DISTILLATION AND FINE TUNING YOUR OWN </a:t>
            </a:r>
            <a:r>
              <a:rPr lang="en-US" sz="5550" i="1" kern="0" spc="-111" dirty="0">
                <a:solidFill>
                  <a:srgbClr val="EA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LLM</a:t>
            </a:r>
            <a:endParaRPr lang="en-US" sz="55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C92552-3088-83A3-705D-F1DB78B02AD9}"/>
              </a:ext>
            </a:extLst>
          </p:cNvPr>
          <p:cNvSpPr/>
          <p:nvPr/>
        </p:nvSpPr>
        <p:spPr>
          <a:xfrm>
            <a:off x="838200" y="3761556"/>
            <a:ext cx="7365957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E7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 teach a small model to reason from a large one</a:t>
            </a:r>
            <a:endParaRPr lang="en-US" sz="1875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986B34C-F465-D8C3-968C-8BE8A9A752A6}"/>
              </a:ext>
            </a:extLst>
          </p:cNvPr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BFB3991-787E-93C1-2D49-0E6C98EF9715}"/>
              </a:ext>
            </a:extLst>
          </p:cNvPr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EAA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F7F33C9-431C-FAEE-9184-0A69F82EC08B}"/>
              </a:ext>
            </a:extLst>
          </p:cNvPr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B375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2b — Multimodal PDF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3211190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41D5-F895-7FFF-E60C-FA1BEA679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211D5C-DBDC-E9B7-189D-195205FB65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902227-8604-AA11-62E7-9EACFF20B9AC}"/>
              </a:ext>
            </a:extLst>
          </p:cNvPr>
          <p:cNvSpPr/>
          <p:nvPr/>
        </p:nvSpPr>
        <p:spPr>
          <a:xfrm>
            <a:off x="762000" y="1033909"/>
            <a:ext cx="121808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3</a:t>
            </a:r>
            <a:endParaRPr lang="en-US" sz="13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3E5D7C-2339-FC31-18F6-13A453473879}"/>
              </a:ext>
            </a:extLst>
          </p:cNvPr>
          <p:cNvSpPr/>
          <p:nvPr/>
        </p:nvSpPr>
        <p:spPr>
          <a:xfrm>
            <a:off x="2018184" y="1019621"/>
            <a:ext cx="22330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kern="0" spc="189" dirty="0">
                <a:solidFill>
                  <a:srgbClr val="B07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DISTILLATION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80F0E12-6C47-54A0-4D2D-9B734019D518}"/>
              </a:ext>
            </a:extLst>
          </p:cNvPr>
          <p:cNvSpPr/>
          <p:nvPr/>
        </p:nvSpPr>
        <p:spPr>
          <a:xfrm>
            <a:off x="762000" y="1486346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7CC57C-C6DA-3620-6B01-061280B8CFF1}"/>
              </a:ext>
            </a:extLst>
          </p:cNvPr>
          <p:cNvSpPr/>
          <p:nvPr/>
        </p:nvSpPr>
        <p:spPr>
          <a:xfrm>
            <a:off x="761999" y="1724470"/>
            <a:ext cx="4514193" cy="831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pick the better solvent for a compound (</a:t>
            </a:r>
            <a:r>
              <a:rPr lang="en-US" sz="3450" b="1" kern="0" spc="-69" dirty="0" err="1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solubench</a:t>
            </a:r>
            <a:r>
              <a:rPr lang="en-US" sz="3450" b="1" kern="0" spc="-69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binary A/B, no reasoning given)</a:t>
            </a:r>
            <a:endParaRPr lang="en-US" sz="34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11923FB-83F4-729B-4254-521A60862245}"/>
              </a:ext>
            </a:extLst>
          </p:cNvPr>
          <p:cNvSpPr/>
          <p:nvPr/>
        </p:nvSpPr>
        <p:spPr>
          <a:xfrm>
            <a:off x="762000" y="2593777"/>
            <a:ext cx="4635474" cy="3449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Teacher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DeepSeek v4-flash0731 writes the reasoning;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Qwen3-1.7B,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trap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show the teacher the answer → it rationalizes → student scores 0.41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correct way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teacher answers blind, keep only the chains it gets right → 2114 real derivations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Test Set Result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student 0.01 → 0.825, matching the teacher's own 0.846 accuracy indicating real capability transfer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21CB4C1-6F05-9FD4-5A97-681882179856}"/>
              </a:ext>
            </a:extLst>
          </p:cNvPr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8E3DB"/>
            </a:solidFill>
            <a:prstDash val="solid"/>
          </a:ln>
          <a:effectLst>
            <a:outerShdw blurRad="114300" dist="38100" dir="5400000" algn="bl" rotWithShape="0">
              <a:srgbClr val="1A1714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FD24BF8-C118-235F-0BB0-445A3B543D0B}"/>
              </a:ext>
            </a:extLst>
          </p:cNvPr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349AD57-5604-BBD0-FE22-D6DA15C249C9}"/>
              </a:ext>
            </a:extLst>
          </p:cNvPr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8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UChicago PME · AI Training</a:t>
            </a:r>
            <a:endParaRPr lang="en-US" sz="1125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A318362-2863-F984-AAA2-456A36DBC63D}"/>
              </a:ext>
            </a:extLst>
          </p:cNvPr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68" dirty="0">
                <a:solidFill>
                  <a:srgbClr val="93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3 — DISTILLATION</a:t>
            </a:r>
            <a:endParaRPr lang="en-US" sz="1125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5F7B965-F99A-CE9E-58CC-7941CD407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587" y="1400175"/>
            <a:ext cx="4178300" cy="3733800"/>
          </a:xfrm>
          <a:prstGeom prst="rect">
            <a:avLst/>
          </a:prstGeom>
        </p:spPr>
      </p:pic>
      <p:pic>
        <p:nvPicPr>
          <p:cNvPr id="14" name="Picture 13" descr="DeepSeek Logo and symbol, meaning, history, PNG, brand">
            <a:extLst>
              <a:ext uri="{FF2B5EF4-FFF2-40B4-BE49-F238E27FC236}">
                <a16:creationId xmlns:a16="http://schemas.microsoft.com/office/drawing/2014/main" id="{3E2D12D5-0306-8FC2-7359-B388855F5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0925" y="1823530"/>
            <a:ext cx="1125483" cy="633084"/>
          </a:xfrm>
          <a:prstGeom prst="rect">
            <a:avLst/>
          </a:prstGeom>
        </p:spPr>
      </p:pic>
      <p:pic>
        <p:nvPicPr>
          <p:cNvPr id="19" name="Picture 18" descr="Logos Download | Qwen">
            <a:extLst>
              <a:ext uri="{FF2B5EF4-FFF2-40B4-BE49-F238E27FC236}">
                <a16:creationId xmlns:a16="http://schemas.microsoft.com/office/drawing/2014/main" id="{AB15AF88-0301-AC12-B42D-668EEA32C0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1814" y="2452493"/>
            <a:ext cx="1003704" cy="29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44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1261</Words>
  <Application>Microsoft Macintosh PowerPoint</Application>
  <PresentationFormat>Widescreen</PresentationFormat>
  <Paragraphs>226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Rui Ding</cp:lastModifiedBy>
  <cp:revision>7</cp:revision>
  <dcterms:created xsi:type="dcterms:W3CDTF">2026-06-06T19:55:52Z</dcterms:created>
  <dcterms:modified xsi:type="dcterms:W3CDTF">2026-08-18T16:20:28Z</dcterms:modified>
</cp:coreProperties>
</file>