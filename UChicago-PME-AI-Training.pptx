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0"/>
    <p:restoredTop sz="94610"/>
  </p:normalViewPr>
  <p:slideViewPr>
    <p:cSldViewPr snapToGrid="0" snapToObjects="1">
      <p:cViewPr>
        <p:scale>
          <a:sx n="108" d="100"/>
          <a:sy n="108" d="100"/>
        </p:scale>
        <p:origin x="864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9757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9DC89-CCDF-1DBE-3B31-1A9C866DE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2DDB1-6EE0-0C0A-6828-E666A0E64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64CC37-C4A6-4FC6-304B-072D66CB0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2A303-6543-7A89-922A-EA83AAC97A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68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6858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13490" y="685800"/>
            <a:ext cx="231651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kern="0" spc="120" dirty="0">
                <a:solidFill>
                  <a:srgbClr val="C99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· MACHINE LEARNING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8200" y="1299493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199" y="1575718"/>
            <a:ext cx="8127097" cy="2321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Materials for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Engineering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4106912"/>
            <a:ext cx="8127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teaching modules from tabular machine learning to multimodal extraction, built from published research and reproducible with no API key.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838200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1a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838200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ML · activity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302794" y="5325442"/>
            <a:ext cx="9525" cy="846758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1869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1b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3521869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ML · stability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86463" y="5325442"/>
            <a:ext cx="9525" cy="846758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05538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2a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205538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→ dataset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670131" y="5325442"/>
            <a:ext cx="9525" cy="846758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89206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2b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8889206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PDF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901303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887016"/>
            <a:ext cx="30056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TABULAR ML · ACTIVITY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35374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591866"/>
            <a:ext cx="8182970" cy="2321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catalyst activity from a synthesis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4142110"/>
            <a:ext cx="833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literature records of acidic-OER electrocatalysts, then learn to predict overpotential η₁₀ (lower is better) from composition, synthesis, and testing conditions.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609600"/>
            <a:ext cx="185246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PIPELINE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 err="1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Featurize</a:t>
            </a: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database, then climb the model ladder</a:t>
            </a:r>
            <a:endParaRPr lang="en-US" sz="345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0C6ACBD-EC62-7F73-6611-CE1AA004FD5A}"/>
              </a:ext>
            </a:extLst>
          </p:cNvPr>
          <p:cNvGrpSpPr/>
          <p:nvPr/>
        </p:nvGrpSpPr>
        <p:grpSpPr>
          <a:xfrm>
            <a:off x="723900" y="2187327"/>
            <a:ext cx="400050" cy="363871"/>
            <a:chOff x="723900" y="2090528"/>
            <a:chExt cx="400050" cy="363871"/>
          </a:xfrm>
        </p:grpSpPr>
        <p:sp>
          <p:nvSpPr>
            <p:cNvPr id="7" name="Shape 5"/>
            <p:cNvSpPr/>
            <p:nvPr/>
          </p:nvSpPr>
          <p:spPr>
            <a:xfrm>
              <a:off x="762000" y="2130549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723900" y="2090528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9" name="Text 7"/>
          <p:cNvSpPr/>
          <p:nvPr/>
        </p:nvSpPr>
        <p:spPr>
          <a:xfrm>
            <a:off x="1238250" y="2159124"/>
            <a:ext cx="4768025" cy="1396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elements to 8 atomic properties </a:t>
            </a:r>
            <a:endParaRPr lang="en-US" sz="1650" dirty="0">
              <a:solidFill>
                <a:srgbClr val="403B3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atomic radius, electronegativity, d-electrons… instead of one-hot. The step that matters most.</a:t>
            </a:r>
            <a:endParaRPr lang="en-US" sz="165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B590C7B-4DB6-68B3-AB7A-06F678930432}"/>
              </a:ext>
            </a:extLst>
          </p:cNvPr>
          <p:cNvGrpSpPr/>
          <p:nvPr/>
        </p:nvGrpSpPr>
        <p:grpSpPr>
          <a:xfrm>
            <a:off x="723900" y="3273519"/>
            <a:ext cx="400050" cy="370604"/>
            <a:chOff x="723900" y="3138242"/>
            <a:chExt cx="400050" cy="370604"/>
          </a:xfrm>
        </p:grpSpPr>
        <p:sp>
          <p:nvSpPr>
            <p:cNvPr id="10" name="Shape 8"/>
            <p:cNvSpPr/>
            <p:nvPr/>
          </p:nvSpPr>
          <p:spPr>
            <a:xfrm>
              <a:off x="762000" y="3184996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3138242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1238250" y="3273519"/>
            <a:ext cx="4768025" cy="1396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model ladder </a:t>
            </a: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decision tree (overfits) → Random Forest &amp; XGBoost → MLP → a committee with uncertainty.</a:t>
            </a:r>
            <a:endParaRPr lang="en-US" sz="165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3F3E5E0-C53A-6BF1-0D89-1613F32D5642}"/>
              </a:ext>
            </a:extLst>
          </p:cNvPr>
          <p:cNvGrpSpPr/>
          <p:nvPr/>
        </p:nvGrpSpPr>
        <p:grpSpPr>
          <a:xfrm>
            <a:off x="723900" y="4724894"/>
            <a:ext cx="400050" cy="361951"/>
            <a:chOff x="723900" y="4201343"/>
            <a:chExt cx="400050" cy="361951"/>
          </a:xfrm>
        </p:grpSpPr>
        <p:sp>
          <p:nvSpPr>
            <p:cNvPr id="13" name="Shape 11"/>
            <p:cNvSpPr/>
            <p:nvPr/>
          </p:nvSpPr>
          <p:spPr>
            <a:xfrm>
              <a:off x="762000" y="4239444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723900" y="4201343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3</a:t>
              </a:r>
              <a:endParaRPr lang="en-US" sz="12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1238250" y="4743291"/>
            <a:ext cx="4768025" cy="949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with SHAP </a:t>
            </a: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driving factors and spot testing-condition confounders.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324600" y="2353791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4600" y="2353791"/>
            <a:ext cx="28575" cy="1247775"/>
          </a:xfrm>
          <a:prstGeom prst="rect">
            <a:avLst/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1775" y="2544291"/>
            <a:ext cx="47582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B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 tabular baseline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1775" y="2868141"/>
            <a:ext cx="4758214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ensembles dominate small, wide scientific tables. XGBoost reaches test R² ≈ 0.84 on activity.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6324600" y="3792066"/>
            <a:ext cx="916930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77000" y="3858741"/>
            <a:ext cx="68833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linear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7336780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89180" y="3858741"/>
            <a:ext cx="140240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tree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9063038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215438" y="3858741"/>
            <a:ext cx="140240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random forest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324600" y="4263554"/>
            <a:ext cx="1018952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77000" y="4330229"/>
            <a:ext cx="79035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xgboost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438802" y="4263554"/>
            <a:ext cx="610865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91202" y="4330229"/>
            <a:ext cx="382265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mlp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8144917" y="4263554"/>
            <a:ext cx="122292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297317" y="4330229"/>
            <a:ext cx="99432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committee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8175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067470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53419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772320"/>
            <a:ext cx="4225137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lineup, scored honestly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985418"/>
            <a:ext cx="1787947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XGBOOST TEST R²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380705"/>
            <a:ext cx="1521247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5550" dirty="0"/>
          </a:p>
        </p:txBody>
      </p:sp>
      <p:sp>
        <p:nvSpPr>
          <p:cNvPr id="9" name="Text 7"/>
          <p:cNvSpPr/>
          <p:nvPr/>
        </p:nvSpPr>
        <p:spPr>
          <a:xfrm>
            <a:off x="762000" y="4123655"/>
            <a:ext cx="15212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is better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549947" y="2985418"/>
            <a:ext cx="9525" cy="1638300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02372" y="2985418"/>
            <a:ext cx="169500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MAE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2902371" y="3323555"/>
            <a:ext cx="19308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27.8 </a:t>
            </a:r>
            <a:r>
              <a:rPr lang="en-US" sz="1800" b="1" kern="0" spc="-111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</a:t>
            </a:r>
            <a:endParaRPr lang="en-US" sz="5550" dirty="0"/>
          </a:p>
        </p:txBody>
      </p:sp>
      <p:sp>
        <p:nvSpPr>
          <p:cNvPr id="13" name="Text 11"/>
          <p:cNvSpPr/>
          <p:nvPr/>
        </p:nvSpPr>
        <p:spPr>
          <a:xfrm>
            <a:off x="2902372" y="4123655"/>
            <a:ext cx="169500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is better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62000" y="4890418"/>
            <a:ext cx="3895711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and a lone decision tree perform</a:t>
            </a:r>
            <a:r>
              <a:rPr lang="zh-CN" alt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tree ensembles and the committee cluster at the top.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5397475" y="1157288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338263"/>
            <a:ext cx="5670575" cy="36385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627840" y="5272088"/>
            <a:ext cx="580216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R² (higher better) and MAE (lower better) across six models.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21" name="Text 18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979363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965076"/>
            <a:ext cx="210621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INTERPRETATION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3180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669926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factors drive performance?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44924"/>
            <a:ext cx="4081272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attributes each prediction back to its features. Atomic radius, electronegativity, and catalyst loading lead.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62000" y="4645149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4645149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19175" y="4835649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 as a decision tool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9175" y="5159499"/>
            <a:ext cx="459166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is feature value; spread is impact. It tells you how importance a feature is and how it impacts the output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239098" y="871538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052513"/>
            <a:ext cx="4828952" cy="42100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96000" y="5557838"/>
            <a:ext cx="546914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SHAP </a:t>
            </a:r>
            <a:r>
              <a:rPr lang="en-US" sz="1125" dirty="0" err="1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beeswarm</a:t>
            </a: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illustrates feature impact on the XGBoost activity model.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31363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TABULAR ML · STABILITY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template, a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target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8020792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the identical composition-to-property pipeline at stability namely predict catalyst performance decay rate, where lower means more stable. 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823689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528539"/>
            <a:ext cx="4225137" cy="1457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target, the same strong baseline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3214836"/>
            <a:ext cx="217393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 / COMMITTEE R²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552974"/>
            <a:ext cx="2173932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5550" dirty="0"/>
          </a:p>
        </p:txBody>
      </p:sp>
      <p:sp>
        <p:nvSpPr>
          <p:cNvPr id="9" name="Text 7"/>
          <p:cNvSpPr/>
          <p:nvPr/>
        </p:nvSpPr>
        <p:spPr>
          <a:xfrm>
            <a:off x="761999" y="4353074"/>
            <a:ext cx="3538539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 is the easier target here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5134124"/>
            <a:ext cx="3895711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and the committee reach R² ≈ 0.88–0.90</a:t>
            </a:r>
            <a:r>
              <a:rPr lang="zh-CN" alt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</a:t>
            </a: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stronger than activity, on a smaller table.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5397475" y="1264444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445419"/>
            <a:ext cx="5670575" cy="36385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78525" y="5379244"/>
            <a:ext cx="476802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R² and MAE across models on the stability target.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00795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986507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LESSON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5323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691357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and stability are </a:t>
            </a:r>
            <a:r>
              <a:rPr lang="en-US" sz="3450" i="1" kern="0" spc="-69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problems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66355"/>
            <a:ext cx="4081272" cy="1295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the two SHAP rankings shows they are governed by partly different factors. A model good at one is not automatically good at the other.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62000" y="4352255"/>
            <a:ext cx="4943698" cy="1519238"/>
          </a:xfrm>
          <a:prstGeom prst="roundRect">
            <a:avLst>
              <a:gd name="adj" fmla="val 627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4352255"/>
            <a:ext cx="28575" cy="1519238"/>
          </a:xfrm>
          <a:prstGeom prst="rect">
            <a:avLst/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19175" y="4542755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B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run 1b at all?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9175" y="4866605"/>
            <a:ext cx="4591661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template on a second target is the cheapest way to learn what transfers and what doesn't.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239098" y="978694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159669"/>
            <a:ext cx="4828952" cy="42100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020148" y="5664994"/>
            <a:ext cx="414994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SHAP beeswarm — drivers of the stability model.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210658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→ DATASET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6863923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papers to a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dataset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709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corpus of papers into a validated table with an LLM.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auto prompt optimization applied. 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838200" y="5214119"/>
            <a:ext cx="2753171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280794"/>
            <a:ext cx="253096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150 FET-biosensor papers</a:t>
            </a:r>
            <a:endParaRPr lang="en-US" sz="1275" dirty="0"/>
          </a:p>
        </p:txBody>
      </p:sp>
      <p:sp>
        <p:nvSpPr>
          <p:cNvPr id="10" name="Shape 8"/>
          <p:cNvSpPr/>
          <p:nvPr/>
        </p:nvSpPr>
        <p:spPr>
          <a:xfrm>
            <a:off x="3686621" y="5214119"/>
            <a:ext cx="1120973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39021" y="5280794"/>
            <a:ext cx="892373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fields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METHOD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schema, three metrics, one loop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762000" y="2180244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3900" y="2130549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8250" y="2159124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Pydantic schema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contract for a clean dataset: the fields, types, and units you want out.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62000" y="3244630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3900" y="318499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250" y="3213571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kinds of metric :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for categories, unit-normalized for numbers, an LLM judge for chemicals.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62000" y="4279200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3900" y="4239444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38250" y="4268019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/ val / test discipline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prompt tweaks into measured decisions, the loop DSPy and TextGrad automate.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324600" y="2502545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4600" y="2502545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1775" y="2693045"/>
            <a:ext cx="47582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is the point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1775" y="3016895"/>
            <a:ext cx="4758214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held-out test set, every prompt change is a guess. With one, it's a decision.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6324600" y="3921770"/>
            <a:ext cx="1446014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86525" y="3997970"/>
            <a:ext cx="119836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exact match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7865864" y="3921770"/>
            <a:ext cx="1854101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027789" y="3997970"/>
            <a:ext cx="160645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unit-normalized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9815215" y="3921770"/>
            <a:ext cx="1241971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977140" y="3997970"/>
            <a:ext cx="99432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LLM judge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324600" y="4412307"/>
            <a:ext cx="214104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77000" y="4478982"/>
            <a:ext cx="191244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/ 39 / 51 split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A9473-280C-EF10-6B9E-695C9B1BB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85414-CD84-8AB1-D999-5590E4AF41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DD8D9B-6E8F-271C-8ACE-F0BBDC0FDFDC}"/>
              </a:ext>
            </a:extLst>
          </p:cNvPr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2C5DB9-9AE1-E5AE-E9C0-E37EDB2BA983}"/>
              </a:ext>
            </a:extLst>
          </p:cNvPr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METHOD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56015BD-3D13-466C-D874-16EF7A95AD8F}"/>
              </a:ext>
            </a:extLst>
          </p:cNvPr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C8F466-BB80-6F2D-4FA4-23A5109DC0E8}"/>
              </a:ext>
            </a:extLst>
          </p:cNvPr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unstructured publication text to structured knowledge</a:t>
            </a:r>
            <a:endParaRPr lang="en-US" sz="34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D10D835-CCAF-0DDD-9C44-A2024068E931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C0CBD82-86E7-F5F9-C3D0-0D259F5053A3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07F946C-37DB-25E4-D02D-0E2B68AC12DD}"/>
              </a:ext>
            </a:extLst>
          </p:cNvPr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  <p:pic>
        <p:nvPicPr>
          <p:cNvPr id="32" name="Graphic 31" descr="Document with solid fill">
            <a:extLst>
              <a:ext uri="{FF2B5EF4-FFF2-40B4-BE49-F238E27FC236}">
                <a16:creationId xmlns:a16="http://schemas.microsoft.com/office/drawing/2014/main" id="{5280992C-93F9-64C4-3970-CD7281832C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776" y="2673502"/>
            <a:ext cx="2386441" cy="2386441"/>
          </a:xfrm>
          <a:prstGeom prst="rect">
            <a:avLst/>
          </a:prstGeom>
        </p:spPr>
      </p:pic>
      <p:pic>
        <p:nvPicPr>
          <p:cNvPr id="36" name="Graphic 35" descr="Chat bubble with solid fill">
            <a:extLst>
              <a:ext uri="{FF2B5EF4-FFF2-40B4-BE49-F238E27FC236}">
                <a16:creationId xmlns:a16="http://schemas.microsoft.com/office/drawing/2014/main" id="{AD9E4CFD-5150-B088-DD05-F807CB5536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16896" y="3290454"/>
            <a:ext cx="1060334" cy="1060334"/>
          </a:xfrm>
          <a:prstGeom prst="rect">
            <a:avLst/>
          </a:prstGeom>
        </p:spPr>
      </p:pic>
      <p:pic>
        <p:nvPicPr>
          <p:cNvPr id="1026" name="Picture 2" descr="Llm Images – Browse 57,682 Stock Photos, Vectors, and Video ...">
            <a:extLst>
              <a:ext uri="{FF2B5EF4-FFF2-40B4-BE49-F238E27FC236}">
                <a16:creationId xmlns:a16="http://schemas.microsoft.com/office/drawing/2014/main" id="{9B6F9B2C-DC06-9745-D272-941E5A007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8949" y="2830021"/>
            <a:ext cx="1981200" cy="198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5F88364-7D93-57F3-A5EB-60757DA18651}"/>
              </a:ext>
            </a:extLst>
          </p:cNvPr>
          <p:cNvSpPr txBox="1"/>
          <p:nvPr/>
        </p:nvSpPr>
        <p:spPr>
          <a:xfrm>
            <a:off x="7867562" y="2254374"/>
            <a:ext cx="442999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sensor_type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Gas 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detect_target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Nitrogen Dioxide,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lower_detection_limit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10 pb,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upper_detection_limit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:1200 ppb,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probe_material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zinc oxide,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test_operating_temperature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40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°C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7E529992-EEC1-54F6-2D2B-3191C2D06F4B}"/>
              </a:ext>
            </a:extLst>
          </p:cNvPr>
          <p:cNvSpPr/>
          <p:nvPr/>
        </p:nvSpPr>
        <p:spPr>
          <a:xfrm>
            <a:off x="3289995" y="5417563"/>
            <a:ext cx="6408187" cy="40178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A902B-5C51-1F6F-C596-9A00A6EB3F6E}"/>
              </a:ext>
            </a:extLst>
          </p:cNvPr>
          <p:cNvSpPr txBox="1"/>
          <p:nvPr/>
        </p:nvSpPr>
        <p:spPr>
          <a:xfrm>
            <a:off x="3703640" y="4268423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170558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8783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864022"/>
            <a:ext cx="213818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IMPROVEMENT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330747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568872"/>
            <a:ext cx="4225137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the levers, climb the accuracy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743870"/>
            <a:ext cx="422513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HELD-OUT TEST ACCURACY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082007"/>
            <a:ext cx="42251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 → 0.83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762000" y="3672557"/>
            <a:ext cx="294636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+0.15 across three stacked levers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28700" y="4177382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optimization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training set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028700" y="4926881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examples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worst failures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028700" y="5676379"/>
            <a:ext cx="395843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optimization pass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290638"/>
            <a:ext cx="5670575" cy="37338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110907" y="5333999"/>
            <a:ext cx="660566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accuracy across prompt versions: baseline → optimized → few-shot → re-optimized.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9" name="Text 16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210621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MULTIMODAL PDF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page, not just the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736595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a vision model rendered page images instead of linearized text. Same worker, same prompt, one variable changed, so any difference is the modality itself.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172245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157957"/>
            <a:ext cx="19793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VS IMAGE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62468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862807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two inputs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3037805"/>
            <a:ext cx="1000646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 F1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375943"/>
            <a:ext cx="100064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2029346" y="3037805"/>
            <a:ext cx="9525" cy="1185863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381771" y="3037805"/>
            <a:ext cx="203009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IMAGE F1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2381771" y="3375943"/>
            <a:ext cx="203009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2381771" y="3966493"/>
            <a:ext cx="20300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precision 0.81 vs 0.68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2000" y="4452268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452268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19175" y="4642768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text layer fails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19175" y="4966618"/>
            <a:ext cx="459166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scanned paper, the text arm scores 0.00. Only the image arm works and multimodal is the only option.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6239098" y="1026319"/>
            <a:ext cx="5190902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207294"/>
            <a:ext cx="4828952" cy="4114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020148" y="5617369"/>
            <a:ext cx="44148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 vs image extraction F1, pooled and per paper.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23" name="Text 20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339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019621"/>
            <a:ext cx="22330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RAISING THE BAR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86346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724471"/>
            <a:ext cx="4225137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higher F1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445321"/>
            <a:ext cx="422513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MULTIMODAL F1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2783458"/>
            <a:ext cx="42251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</a:t>
            </a:r>
            <a:r>
              <a:rPr lang="en-US" altLang="zh-CN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0.86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762000" y="3374008"/>
            <a:ext cx="217393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+0.1</a:t>
            </a:r>
            <a:r>
              <a:rPr lang="en-US" altLang="zh-CN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recall 0.79 · precision 0.95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2000" y="4145533"/>
            <a:ext cx="3958437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Selectivity-ordering recovery </a:t>
            </a:r>
            <a:endParaRPr lang="en-US" sz="1725" dirty="0">
              <a:solidFill>
                <a:srgbClr val="403B3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5216426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two-pass read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an exhaustive prompt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161708" y="5319713"/>
            <a:ext cx="542634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F1 climb from 0.</a:t>
            </a:r>
            <a:r>
              <a:rPr lang="en-US" altLang="zh-CN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71</a:t>
            </a: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to 0.86 under selectivity-ordering recovery.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D73A7-D271-1A93-5413-FD386F1C0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372" y="1457771"/>
            <a:ext cx="5834935" cy="3471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1054</Words>
  <Application>Microsoft Macintosh PowerPoint</Application>
  <PresentationFormat>Widescreen</PresentationFormat>
  <Paragraphs>186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Rui Ding</cp:lastModifiedBy>
  <cp:revision>4</cp:revision>
  <dcterms:created xsi:type="dcterms:W3CDTF">2026-06-06T19:55:52Z</dcterms:created>
  <dcterms:modified xsi:type="dcterms:W3CDTF">2026-06-26T18:10:22Z</dcterms:modified>
</cp:coreProperties>
</file>