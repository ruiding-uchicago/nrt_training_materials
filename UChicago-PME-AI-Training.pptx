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71" r:id="rId12"/>
    <p:sldId id="266" r:id="rId13"/>
    <p:sldId id="267" r:id="rId14"/>
    <p:sldId id="268" r:id="rId15"/>
    <p:sldId id="269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20"/>
    <p:restoredTop sz="94610"/>
  </p:normalViewPr>
  <p:slideViewPr>
    <p:cSldViewPr snapToGrid="0" snapToObjects="1">
      <p:cViewPr>
        <p:scale>
          <a:sx n="108" d="100"/>
          <a:sy n="108" d="100"/>
        </p:scale>
        <p:origin x="864" y="5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197573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09DC89-CCDF-1DBE-3B31-1A9C866DE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0C2DDB1-6EE0-0C0A-6828-E666A0E64E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64CC37-C4A6-4FC6-304B-072D66CB0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02A303-6543-7A89-922A-EA83AAC97AE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01683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9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svg"/><Relationship Id="rId5" Type="http://schemas.openxmlformats.org/officeDocument/2006/relationships/image" Target="../media/image7.png"/><Relationship Id="rId4" Type="http://schemas.openxmlformats.org/officeDocument/2006/relationships/image" Target="../media/image6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685800"/>
            <a:ext cx="159871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9113490" y="685800"/>
            <a:ext cx="2316510" cy="266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kern="0" spc="120" dirty="0">
                <a:solidFill>
                  <a:srgbClr val="C9908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AI · MACHINE LEARNING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838200" y="1299493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199" y="1575718"/>
            <a:ext cx="8127097" cy="2321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Training Materials for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Molecular Engineering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4106912"/>
            <a:ext cx="8127096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teaching modules from tabular machine learning to multimodal extraction, built from published research and reproducible with no API key.</a:t>
            </a:r>
            <a:endParaRPr lang="en-US" sz="1875" dirty="0"/>
          </a:p>
        </p:txBody>
      </p:sp>
      <p:sp>
        <p:nvSpPr>
          <p:cNvPr id="8" name="Text 6"/>
          <p:cNvSpPr/>
          <p:nvPr/>
        </p:nvSpPr>
        <p:spPr>
          <a:xfrm>
            <a:off x="838200" y="5496892"/>
            <a:ext cx="233124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02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1a</a:t>
            </a:r>
            <a:endParaRPr lang="en-US" sz="1275" dirty="0"/>
          </a:p>
        </p:txBody>
      </p:sp>
      <p:sp>
        <p:nvSpPr>
          <p:cNvPr id="9" name="Text 7"/>
          <p:cNvSpPr/>
          <p:nvPr/>
        </p:nvSpPr>
        <p:spPr>
          <a:xfrm>
            <a:off x="838200" y="5777880"/>
            <a:ext cx="2331244" cy="2609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ML · activity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3302794" y="5325442"/>
            <a:ext cx="9525" cy="846758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21869" y="5496892"/>
            <a:ext cx="233124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02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1b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3521869" y="5777880"/>
            <a:ext cx="2331244" cy="2609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Tabular ML · stability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986463" y="5325442"/>
            <a:ext cx="9525" cy="846758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6205538" y="5496892"/>
            <a:ext cx="233124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02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2a</a:t>
            </a:r>
            <a:endParaRPr lang="en-US" sz="1275" dirty="0"/>
          </a:p>
        </p:txBody>
      </p:sp>
      <p:sp>
        <p:nvSpPr>
          <p:cNvPr id="15" name="Text 13"/>
          <p:cNvSpPr/>
          <p:nvPr/>
        </p:nvSpPr>
        <p:spPr>
          <a:xfrm>
            <a:off x="6205538" y="5777880"/>
            <a:ext cx="2331244" cy="2609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→ dataset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8670131" y="5325442"/>
            <a:ext cx="9525" cy="846758"/>
          </a:xfrm>
          <a:prstGeom prst="rect">
            <a:avLst/>
          </a:prstGeom>
          <a:solidFill>
            <a:srgbClr val="FFFFFF">
              <a:alpha val="14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889206" y="5496892"/>
            <a:ext cx="233124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02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2b</a:t>
            </a:r>
            <a:endParaRPr lang="en-US" sz="1275" dirty="0"/>
          </a:p>
        </p:txBody>
      </p:sp>
      <p:sp>
        <p:nvSpPr>
          <p:cNvPr id="18" name="Text 16"/>
          <p:cNvSpPr/>
          <p:nvPr/>
        </p:nvSpPr>
        <p:spPr>
          <a:xfrm>
            <a:off x="8889206" y="5777880"/>
            <a:ext cx="2331244" cy="2609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Multimodal PDF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901303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94384" y="887016"/>
            <a:ext cx="30056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TABULAR ML · ACTIVITY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38200" y="1353741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591866"/>
            <a:ext cx="8182970" cy="232164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catalyst activity from a synthesis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recipe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4142110"/>
            <a:ext cx="8333096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Mine literature records of acidic-OER electrocatalysts, then learn to predict overpotential η₁₀ (lower is better) from composition, synthesis, and testing conditions.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 — Activity</a:t>
            </a:r>
            <a:endParaRPr lang="en-US" sz="1125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609600"/>
            <a:ext cx="185246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PIPELINE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 err="1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Featurize</a:t>
            </a: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the database, then climb the model ladder</a:t>
            </a:r>
            <a:endParaRPr lang="en-US" sz="3450" dirty="0"/>
          </a:p>
        </p:txBody>
      </p: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0C6ACBD-EC62-7F73-6611-CE1AA004FD5A}"/>
              </a:ext>
            </a:extLst>
          </p:cNvPr>
          <p:cNvGrpSpPr/>
          <p:nvPr/>
        </p:nvGrpSpPr>
        <p:grpSpPr>
          <a:xfrm>
            <a:off x="723900" y="2187327"/>
            <a:ext cx="400050" cy="363871"/>
            <a:chOff x="723900" y="2090528"/>
            <a:chExt cx="400050" cy="363871"/>
          </a:xfrm>
        </p:grpSpPr>
        <p:sp>
          <p:nvSpPr>
            <p:cNvPr id="7" name="Shape 5"/>
            <p:cNvSpPr/>
            <p:nvPr/>
          </p:nvSpPr>
          <p:spPr>
            <a:xfrm>
              <a:off x="762000" y="2130549"/>
              <a:ext cx="323850" cy="323850"/>
            </a:xfrm>
            <a:prstGeom prst="ellipse">
              <a:avLst/>
            </a:prstGeom>
            <a:solidFill>
              <a:srgbClr val="8000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 6"/>
            <p:cNvSpPr/>
            <p:nvPr/>
          </p:nvSpPr>
          <p:spPr>
            <a:xfrm>
              <a:off x="723900" y="2090528"/>
              <a:ext cx="400050" cy="3619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IBM Plex Mono" pitchFamily="34" charset="0"/>
                  <a:ea typeface="IBM Plex Mono" pitchFamily="34" charset="-122"/>
                  <a:cs typeface="IBM Plex Mono" pitchFamily="34" charset="-120"/>
                </a:rPr>
                <a:t>1</a:t>
              </a:r>
              <a:endParaRPr lang="en-US" sz="1200" dirty="0"/>
            </a:p>
          </p:txBody>
        </p:sp>
      </p:grpSp>
      <p:sp>
        <p:nvSpPr>
          <p:cNvPr id="9" name="Text 7"/>
          <p:cNvSpPr/>
          <p:nvPr/>
        </p:nvSpPr>
        <p:spPr>
          <a:xfrm>
            <a:off x="1238250" y="2159124"/>
            <a:ext cx="4768025" cy="1396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 elements to 8 atomic properties </a:t>
            </a:r>
            <a:endParaRPr lang="en-US" sz="1650" dirty="0">
              <a:solidFill>
                <a:srgbClr val="403B3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atomic radius, electronegativity, d-electrons… instead of one-hot. The step that matters most.</a:t>
            </a:r>
            <a:endParaRPr lang="en-US" sz="1650" dirty="0"/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1B590C7B-4DB6-68B3-AB7A-06F678930432}"/>
              </a:ext>
            </a:extLst>
          </p:cNvPr>
          <p:cNvGrpSpPr/>
          <p:nvPr/>
        </p:nvGrpSpPr>
        <p:grpSpPr>
          <a:xfrm>
            <a:off x="723900" y="3273519"/>
            <a:ext cx="400050" cy="370604"/>
            <a:chOff x="723900" y="3138242"/>
            <a:chExt cx="400050" cy="370604"/>
          </a:xfrm>
        </p:grpSpPr>
        <p:sp>
          <p:nvSpPr>
            <p:cNvPr id="10" name="Shape 8"/>
            <p:cNvSpPr/>
            <p:nvPr/>
          </p:nvSpPr>
          <p:spPr>
            <a:xfrm>
              <a:off x="762000" y="3184996"/>
              <a:ext cx="323850" cy="323850"/>
            </a:xfrm>
            <a:prstGeom prst="ellipse">
              <a:avLst/>
            </a:prstGeom>
            <a:solidFill>
              <a:srgbClr val="8000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 9"/>
            <p:cNvSpPr/>
            <p:nvPr/>
          </p:nvSpPr>
          <p:spPr>
            <a:xfrm>
              <a:off x="723900" y="3138242"/>
              <a:ext cx="400050" cy="3619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IBM Plex Mono" pitchFamily="34" charset="0"/>
                  <a:ea typeface="IBM Plex Mono" pitchFamily="34" charset="-122"/>
                  <a:cs typeface="IBM Plex Mono" pitchFamily="34" charset="-120"/>
                </a:rPr>
                <a:t>2</a:t>
              </a:r>
              <a:endParaRPr lang="en-US" sz="1200" dirty="0"/>
            </a:p>
          </p:txBody>
        </p:sp>
      </p:grpSp>
      <p:sp>
        <p:nvSpPr>
          <p:cNvPr id="12" name="Text 10"/>
          <p:cNvSpPr/>
          <p:nvPr/>
        </p:nvSpPr>
        <p:spPr>
          <a:xfrm>
            <a:off x="1238250" y="3273519"/>
            <a:ext cx="4768025" cy="13963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Walk the model ladder </a:t>
            </a:r>
          </a:p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→ decision tree (overfits) → Random Forest &amp; XGBoost → MLP → a committee with uncertainty.</a:t>
            </a:r>
            <a:endParaRPr lang="en-US" sz="1650" dirty="0"/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43F3E5E0-C53A-6BF1-0D89-1613F32D5642}"/>
              </a:ext>
            </a:extLst>
          </p:cNvPr>
          <p:cNvGrpSpPr/>
          <p:nvPr/>
        </p:nvGrpSpPr>
        <p:grpSpPr>
          <a:xfrm>
            <a:off x="723900" y="4724894"/>
            <a:ext cx="400050" cy="361951"/>
            <a:chOff x="723900" y="4201343"/>
            <a:chExt cx="400050" cy="361951"/>
          </a:xfrm>
        </p:grpSpPr>
        <p:sp>
          <p:nvSpPr>
            <p:cNvPr id="13" name="Shape 11"/>
            <p:cNvSpPr/>
            <p:nvPr/>
          </p:nvSpPr>
          <p:spPr>
            <a:xfrm>
              <a:off x="762000" y="4239444"/>
              <a:ext cx="323850" cy="323850"/>
            </a:xfrm>
            <a:prstGeom prst="ellipse">
              <a:avLst/>
            </a:prstGeom>
            <a:solidFill>
              <a:srgbClr val="800000"/>
            </a:solidFill>
            <a:ln/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 12"/>
            <p:cNvSpPr/>
            <p:nvPr/>
          </p:nvSpPr>
          <p:spPr>
            <a:xfrm>
              <a:off x="723900" y="4201343"/>
              <a:ext cx="400050" cy="361950"/>
            </a:xfrm>
            <a:prstGeom prst="rect">
              <a:avLst/>
            </a:prstGeom>
            <a:noFill/>
            <a:ln/>
          </p:spPr>
          <p:txBody>
            <a:bodyPr wrap="square" lIns="25400" tIns="25400" rIns="25400" bIns="25400" rtlCol="0" anchor="ctr">
              <a:normAutofit/>
            </a:bodyPr>
            <a:lstStyle/>
            <a:p>
              <a:pPr marL="0" indent="0" algn="ctr">
                <a:lnSpc>
                  <a:spcPct val="150000"/>
                </a:lnSpc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IBM Plex Mono" pitchFamily="34" charset="0"/>
                  <a:ea typeface="IBM Plex Mono" pitchFamily="34" charset="-122"/>
                  <a:cs typeface="IBM Plex Mono" pitchFamily="34" charset="-120"/>
                </a:rPr>
                <a:t>3</a:t>
              </a:r>
              <a:endParaRPr lang="en-US" sz="1200" dirty="0"/>
            </a:p>
          </p:txBody>
        </p:sp>
      </p:grpSp>
      <p:sp>
        <p:nvSpPr>
          <p:cNvPr id="15" name="Text 13"/>
          <p:cNvSpPr/>
          <p:nvPr/>
        </p:nvSpPr>
        <p:spPr>
          <a:xfrm>
            <a:off x="1238250" y="4743291"/>
            <a:ext cx="4768025" cy="94997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Interpret with SHAP </a:t>
            </a:r>
          </a:p>
          <a:p>
            <a:pPr marL="0" indent="0" algn="l">
              <a:lnSpc>
                <a:spcPct val="142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find the driving factors and spot testing-condition confounders.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6324600" y="2353791"/>
            <a:ext cx="5105400" cy="1247775"/>
          </a:xfrm>
          <a:prstGeom prst="roundRect">
            <a:avLst>
              <a:gd name="adj" fmla="val 7634"/>
            </a:avLst>
          </a:prstGeom>
          <a:solidFill>
            <a:srgbClr val="FDF7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24600" y="2353791"/>
            <a:ext cx="28575" cy="1247775"/>
          </a:xfrm>
          <a:prstGeom prst="rect">
            <a:avLst/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1775" y="2544291"/>
            <a:ext cx="475821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B0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strong tabular baseline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1775" y="2868141"/>
            <a:ext cx="4758214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Tree ensembles dominate small, wide scientific tables. XGBoost reaches test R² ≈ 0.84 on activity.</a:t>
            </a:r>
            <a:endParaRPr lang="en-US" sz="1425" dirty="0"/>
          </a:p>
        </p:txBody>
      </p:sp>
      <p:sp>
        <p:nvSpPr>
          <p:cNvPr id="20" name="Shape 18"/>
          <p:cNvSpPr/>
          <p:nvPr/>
        </p:nvSpPr>
        <p:spPr>
          <a:xfrm>
            <a:off x="6324600" y="3792066"/>
            <a:ext cx="916930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77000" y="3858741"/>
            <a:ext cx="688330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linear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7336780" y="3792066"/>
            <a:ext cx="1631007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7489180" y="3858741"/>
            <a:ext cx="140240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decision tree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9063038" y="3792066"/>
            <a:ext cx="1631007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215438" y="3858741"/>
            <a:ext cx="140240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random forest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6324600" y="4263554"/>
            <a:ext cx="1018952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77000" y="4330229"/>
            <a:ext cx="790352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xgboost</a:t>
            </a:r>
            <a:endParaRPr lang="en-US" sz="1275" dirty="0"/>
          </a:p>
        </p:txBody>
      </p:sp>
      <p:sp>
        <p:nvSpPr>
          <p:cNvPr id="28" name="Shape 26"/>
          <p:cNvSpPr/>
          <p:nvPr/>
        </p:nvSpPr>
        <p:spPr>
          <a:xfrm>
            <a:off x="7438802" y="4263554"/>
            <a:ext cx="610865" cy="376238"/>
          </a:xfrm>
          <a:prstGeom prst="roundRect">
            <a:avLst>
              <a:gd name="adj" fmla="val 50000"/>
            </a:avLst>
          </a:prstGeom>
          <a:solidFill>
            <a:srgbClr val="F3E3E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591202" y="4330229"/>
            <a:ext cx="382265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5B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mlp</a:t>
            </a:r>
            <a:endParaRPr lang="en-US" sz="1275" dirty="0"/>
          </a:p>
        </p:txBody>
      </p:sp>
      <p:sp>
        <p:nvSpPr>
          <p:cNvPr id="30" name="Shape 28"/>
          <p:cNvSpPr/>
          <p:nvPr/>
        </p:nvSpPr>
        <p:spPr>
          <a:xfrm>
            <a:off x="8144917" y="4263554"/>
            <a:ext cx="1222921" cy="376238"/>
          </a:xfrm>
          <a:prstGeom prst="roundRect">
            <a:avLst>
              <a:gd name="adj" fmla="val 50000"/>
            </a:avLst>
          </a:prstGeom>
          <a:solidFill>
            <a:srgbClr val="FDF7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297317" y="4330229"/>
            <a:ext cx="99432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committee</a:t>
            </a:r>
            <a:endParaRPr lang="en-US" sz="1275" dirty="0"/>
          </a:p>
        </p:txBody>
      </p:sp>
      <p:sp>
        <p:nvSpPr>
          <p:cNvPr id="32" name="Shape 30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34" name="Text 32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 — Activity</a:t>
            </a:r>
            <a:endParaRPr lang="en-US" sz="11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1081757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1067470"/>
            <a:ext cx="121808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RESULTS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53419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772320"/>
            <a:ext cx="4225137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 lineup, scored honestly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985418"/>
            <a:ext cx="1787947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XGBOOST TEST R²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3380705"/>
            <a:ext cx="1521247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50" b="1" kern="0" spc="-11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0.84</a:t>
            </a:r>
            <a:endParaRPr lang="en-US" sz="5550" dirty="0"/>
          </a:p>
        </p:txBody>
      </p:sp>
      <p:sp>
        <p:nvSpPr>
          <p:cNvPr id="9" name="Text 7"/>
          <p:cNvSpPr/>
          <p:nvPr/>
        </p:nvSpPr>
        <p:spPr>
          <a:xfrm>
            <a:off x="762000" y="4123655"/>
            <a:ext cx="1521247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is better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2549947" y="2985418"/>
            <a:ext cx="9525" cy="1638300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902372" y="2985418"/>
            <a:ext cx="169500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 MAE</a:t>
            </a:r>
            <a:endParaRPr lang="en-US" sz="1275" dirty="0"/>
          </a:p>
        </p:txBody>
      </p:sp>
      <p:sp>
        <p:nvSpPr>
          <p:cNvPr id="12" name="Text 10"/>
          <p:cNvSpPr/>
          <p:nvPr/>
        </p:nvSpPr>
        <p:spPr>
          <a:xfrm>
            <a:off x="2902371" y="3323555"/>
            <a:ext cx="1930823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50" b="1" kern="0" spc="-11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27.8 </a:t>
            </a:r>
            <a:r>
              <a:rPr lang="en-US" sz="1800" b="1" kern="0" spc="-111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mV</a:t>
            </a:r>
            <a:endParaRPr lang="en-US" sz="5550" dirty="0"/>
          </a:p>
        </p:txBody>
      </p:sp>
      <p:sp>
        <p:nvSpPr>
          <p:cNvPr id="13" name="Text 11"/>
          <p:cNvSpPr/>
          <p:nvPr/>
        </p:nvSpPr>
        <p:spPr>
          <a:xfrm>
            <a:off x="2902372" y="4123655"/>
            <a:ext cx="169500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lower is better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62000" y="4890418"/>
            <a:ext cx="3895711" cy="938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Linear and a lone decision tree perform</a:t>
            </a:r>
            <a:r>
              <a:rPr lang="zh-CN" alt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altLang="zh-CN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</a:t>
            </a:r>
            <a:r>
              <a:rPr 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; the tree ensembles and the committee cluster at the top.</a:t>
            </a:r>
            <a:endParaRPr lang="en-US" sz="1575" dirty="0"/>
          </a:p>
        </p:txBody>
      </p:sp>
      <p:sp>
        <p:nvSpPr>
          <p:cNvPr id="15" name="Shape 13"/>
          <p:cNvSpPr/>
          <p:nvPr/>
        </p:nvSpPr>
        <p:spPr>
          <a:xfrm>
            <a:off x="5397475" y="1157288"/>
            <a:ext cx="6032525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78450" y="1338263"/>
            <a:ext cx="5670575" cy="3638550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5627840" y="5272088"/>
            <a:ext cx="580216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 R² (higher better) and MAE (lower better) across six models.</a:t>
            </a:r>
            <a:endParaRPr lang="en-US" sz="1125" dirty="0"/>
          </a:p>
        </p:txBody>
      </p:sp>
      <p:sp>
        <p:nvSpPr>
          <p:cNvPr id="19" name="Shape 16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21" name="Text 18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 — Activity</a:t>
            </a:r>
            <a:endParaRPr lang="en-US" sz="1125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979363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965076"/>
            <a:ext cx="210621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INTERPRETATION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431801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669926"/>
            <a:ext cx="5092009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factors drive performance?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844924"/>
            <a:ext cx="4081272" cy="1609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SHAP attributes each prediction back to its features. Atomic radius, electronegativity, and catalyst loading lead.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62000" y="4645149"/>
            <a:ext cx="4943698" cy="1247775"/>
          </a:xfrm>
          <a:prstGeom prst="roundRect">
            <a:avLst>
              <a:gd name="adj" fmla="val 7634"/>
            </a:avLst>
          </a:prstGeom>
          <a:solidFill>
            <a:srgbClr val="FA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2000" y="4645149"/>
            <a:ext cx="28575" cy="1247775"/>
          </a:xfrm>
          <a:prstGeom prst="rect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19175" y="4835649"/>
            <a:ext cx="459166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5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it as a decision tool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19175" y="5159499"/>
            <a:ext cx="459166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Color is feature value; spread is impact. It tells you how importance a feature is and how it impacts the output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6239098" y="871538"/>
            <a:ext cx="5190902" cy="4572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20073" y="1052513"/>
            <a:ext cx="4828952" cy="42100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096000" y="5557838"/>
            <a:ext cx="5469147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SHAP </a:t>
            </a:r>
            <a:r>
              <a:rPr lang="en-US" sz="1125" dirty="0" err="1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beeswarm</a:t>
            </a: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 illustrates feature impact on the XGBoost activity model.</a:t>
            </a:r>
            <a:endParaRPr lang="en-US" sz="1125" dirty="0"/>
          </a:p>
        </p:txBody>
      </p:sp>
      <p:sp>
        <p:nvSpPr>
          <p:cNvPr id="16" name="Shape 13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8" name="Text 15"/>
          <p:cNvSpPr/>
          <p:nvPr/>
        </p:nvSpPr>
        <p:spPr>
          <a:xfrm>
            <a:off x="9544050" y="6319838"/>
            <a:ext cx="1962150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1a — Activity</a:t>
            </a:r>
            <a:endParaRPr lang="en-US" sz="1125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94384" y="1267644"/>
            <a:ext cx="313637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TABULAR ML · STABILITY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972494"/>
            <a:ext cx="7267696" cy="1560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template, a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target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3761556"/>
            <a:ext cx="8020792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the identical composition-to-property pipeline at stability namely predict catalyst performance decay rate, where lower means more stable. 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 — Stability</a:t>
            </a:r>
            <a:endParaRPr lang="en-US" sz="1125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837977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823689"/>
            <a:ext cx="1218084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RESULTS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290414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528539"/>
            <a:ext cx="4225137" cy="145769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new target, the same strong baseline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3214836"/>
            <a:ext cx="2173932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RF / COMMITTEE R²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3552974"/>
            <a:ext cx="2173932" cy="742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5550" b="1" kern="0" spc="-11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0.90</a:t>
            </a:r>
            <a:endParaRPr lang="en-US" sz="5550" dirty="0"/>
          </a:p>
        </p:txBody>
      </p:sp>
      <p:sp>
        <p:nvSpPr>
          <p:cNvPr id="9" name="Text 7"/>
          <p:cNvSpPr/>
          <p:nvPr/>
        </p:nvSpPr>
        <p:spPr>
          <a:xfrm>
            <a:off x="761999" y="4353074"/>
            <a:ext cx="3538539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0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 is the easier target here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62000" y="5134124"/>
            <a:ext cx="3895711" cy="9382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Random Forest and the committee reach R² ≈ 0.88–0.90</a:t>
            </a:r>
            <a:r>
              <a:rPr lang="zh-CN" alt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：</a:t>
            </a:r>
            <a:r>
              <a:rPr lang="en-US" sz="157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 stronger than activity, on a smaller table.</a:t>
            </a:r>
            <a:endParaRPr lang="en-US" sz="1575" dirty="0"/>
          </a:p>
        </p:txBody>
      </p:sp>
      <p:sp>
        <p:nvSpPr>
          <p:cNvPr id="11" name="Shape 9"/>
          <p:cNvSpPr/>
          <p:nvPr/>
        </p:nvSpPr>
        <p:spPr>
          <a:xfrm>
            <a:off x="5397475" y="1264444"/>
            <a:ext cx="6032525" cy="4000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78450" y="1445419"/>
            <a:ext cx="5670575" cy="363855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6178525" y="5379244"/>
            <a:ext cx="476802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 R² and MAE across models on the stability target.</a:t>
            </a:r>
            <a:endParaRPr lang="en-US" sz="1125" dirty="0"/>
          </a:p>
        </p:txBody>
      </p:sp>
      <p:sp>
        <p:nvSpPr>
          <p:cNvPr id="15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7" name="Text 14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 — Stability</a:t>
            </a:r>
            <a:endParaRPr lang="en-US" sz="1125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1000795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986507"/>
            <a:ext cx="159871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LESSON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453232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691357"/>
            <a:ext cx="5092009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 and stability are </a:t>
            </a:r>
            <a:r>
              <a:rPr lang="en-US" sz="3450" i="1" kern="0" spc="-69" dirty="0">
                <a:solidFill>
                  <a:srgbClr val="8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different problems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866355"/>
            <a:ext cx="4081272" cy="1295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Comparing the two SHAP rankings shows they are governed by partly different factors. A model good at one is not automatically good at the other.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762000" y="4352255"/>
            <a:ext cx="4943698" cy="1519238"/>
          </a:xfrm>
          <a:prstGeom prst="roundRect">
            <a:avLst>
              <a:gd name="adj" fmla="val 6270"/>
            </a:avLst>
          </a:prstGeom>
          <a:solidFill>
            <a:srgbClr val="FDF7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762000" y="4352255"/>
            <a:ext cx="28575" cy="1519238"/>
          </a:xfrm>
          <a:prstGeom prst="rect">
            <a:avLst/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019175" y="4542755"/>
            <a:ext cx="459166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B07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run 1b at all?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19175" y="4866605"/>
            <a:ext cx="4591661" cy="8524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Reusing the template on a second target is the cheapest way to learn what transfers and what doesn't.</a:t>
            </a:r>
            <a:endParaRPr lang="en-US" sz="1425" dirty="0"/>
          </a:p>
        </p:txBody>
      </p:sp>
      <p:sp>
        <p:nvSpPr>
          <p:cNvPr id="12" name="Shape 10"/>
          <p:cNvSpPr/>
          <p:nvPr/>
        </p:nvSpPr>
        <p:spPr>
          <a:xfrm>
            <a:off x="6239098" y="978694"/>
            <a:ext cx="5190902" cy="45720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20073" y="1159669"/>
            <a:ext cx="4828952" cy="421005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7020148" y="5664994"/>
            <a:ext cx="414994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SHAP beeswarm — drivers of the stability model.</a:t>
            </a:r>
            <a:endParaRPr lang="en-US" sz="1125" dirty="0"/>
          </a:p>
        </p:txBody>
      </p:sp>
      <p:sp>
        <p:nvSpPr>
          <p:cNvPr id="16" name="Shape 13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8" name="Text 15"/>
          <p:cNvSpPr/>
          <p:nvPr/>
        </p:nvSpPr>
        <p:spPr>
          <a:xfrm>
            <a:off x="9449693" y="6319838"/>
            <a:ext cx="2056507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1b — Stability</a:t>
            </a:r>
            <a:endParaRPr lang="en-US" sz="1125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94384" y="1267644"/>
            <a:ext cx="210658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TEXT → DATASET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972494"/>
            <a:ext cx="6863923" cy="1560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papers to a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 dataset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3761556"/>
            <a:ext cx="7093096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 a corpus of papers into a validated table with an LLM.</a:t>
            </a:r>
          </a:p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auto prompt optimization applied. </a:t>
            </a:r>
            <a:endParaRPr lang="en-US" sz="1875" dirty="0"/>
          </a:p>
        </p:txBody>
      </p:sp>
      <p:sp>
        <p:nvSpPr>
          <p:cNvPr id="8" name="Shape 6"/>
          <p:cNvSpPr/>
          <p:nvPr/>
        </p:nvSpPr>
        <p:spPr>
          <a:xfrm>
            <a:off x="838200" y="5214119"/>
            <a:ext cx="2753171" cy="376238"/>
          </a:xfrm>
          <a:prstGeom prst="roundRect">
            <a:avLst>
              <a:gd name="adj" fmla="val 50000"/>
            </a:avLst>
          </a:prstGeom>
          <a:solidFill>
            <a:srgbClr val="EAAA00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90600" y="5280794"/>
            <a:ext cx="253096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150 FET-biosensor papers</a:t>
            </a:r>
            <a:endParaRPr lang="en-US" sz="1275" dirty="0"/>
          </a:p>
        </p:txBody>
      </p:sp>
      <p:sp>
        <p:nvSpPr>
          <p:cNvPr id="10" name="Shape 8"/>
          <p:cNvSpPr/>
          <p:nvPr/>
        </p:nvSpPr>
        <p:spPr>
          <a:xfrm>
            <a:off x="3686621" y="5214119"/>
            <a:ext cx="1120973" cy="376238"/>
          </a:xfrm>
          <a:prstGeom prst="roundRect">
            <a:avLst>
              <a:gd name="adj" fmla="val 50000"/>
            </a:avLst>
          </a:prstGeom>
          <a:solidFill>
            <a:srgbClr val="EAAA00">
              <a:alpha val="16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839021" y="5280794"/>
            <a:ext cx="892373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8 fields</a:t>
            </a:r>
            <a:endParaRPr lang="en-US" sz="1275" dirty="0"/>
          </a:p>
        </p:txBody>
      </p:sp>
      <p:sp>
        <p:nvSpPr>
          <p:cNvPr id="14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 — Text to data</a:t>
            </a:r>
            <a:endParaRPr lang="en-US" sz="1125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609600"/>
            <a:ext cx="159871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METHOD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schema, three metrics, one loop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762000" y="2180244"/>
            <a:ext cx="323850" cy="323850"/>
          </a:xfrm>
          <a:prstGeom prst="ellipse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23900" y="2130549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38250" y="2159124"/>
            <a:ext cx="4768025" cy="930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Pydantic schema </a:t>
            </a: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 the contract for a clean dataset: the fields, types, and units you want out.</a:t>
            </a:r>
            <a:endParaRPr lang="en-US" sz="1650" dirty="0"/>
          </a:p>
        </p:txBody>
      </p:sp>
      <p:sp>
        <p:nvSpPr>
          <p:cNvPr id="10" name="Shape 8"/>
          <p:cNvSpPr/>
          <p:nvPr/>
        </p:nvSpPr>
        <p:spPr>
          <a:xfrm>
            <a:off x="762000" y="3244630"/>
            <a:ext cx="323850" cy="323850"/>
          </a:xfrm>
          <a:prstGeom prst="ellipse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723900" y="3184996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238250" y="3213571"/>
            <a:ext cx="4768025" cy="930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kinds of metric : </a:t>
            </a: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for categories, unit-normalized for numbers, an LLM judge for chemicals.</a:t>
            </a:r>
            <a:endParaRPr lang="en-US" sz="1650" dirty="0"/>
          </a:p>
        </p:txBody>
      </p:sp>
      <p:sp>
        <p:nvSpPr>
          <p:cNvPr id="13" name="Shape 11"/>
          <p:cNvSpPr/>
          <p:nvPr/>
        </p:nvSpPr>
        <p:spPr>
          <a:xfrm>
            <a:off x="762000" y="4279200"/>
            <a:ext cx="323850" cy="323850"/>
          </a:xfrm>
          <a:prstGeom prst="ellipse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23900" y="4239444"/>
            <a:ext cx="400050" cy="3619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ctr">
              <a:lnSpc>
                <a:spcPct val="15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238250" y="4268019"/>
            <a:ext cx="4768025" cy="93062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2000"/>
              </a:lnSpc>
              <a:buNone/>
            </a:pPr>
            <a:r>
              <a:rPr lang="en-US" sz="1650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 / val / test discipline </a:t>
            </a:r>
            <a:r>
              <a:rPr lang="en-US" sz="1650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turns prompt tweaks into measured decisions, the loop DSPy and TextGrad automate.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6324600" y="2502545"/>
            <a:ext cx="5105400" cy="1247775"/>
          </a:xfrm>
          <a:prstGeom prst="roundRect">
            <a:avLst>
              <a:gd name="adj" fmla="val 7634"/>
            </a:avLst>
          </a:prstGeom>
          <a:solidFill>
            <a:srgbClr val="FA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324600" y="2502545"/>
            <a:ext cx="28575" cy="1247775"/>
          </a:xfrm>
          <a:prstGeom prst="rect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6581775" y="2693045"/>
            <a:ext cx="4758214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5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is the point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581775" y="3016895"/>
            <a:ext cx="4758214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Without a held-out test set, every prompt change is a guess. With one, it's a decision.</a:t>
            </a:r>
            <a:endParaRPr lang="en-US" sz="1425" dirty="0"/>
          </a:p>
        </p:txBody>
      </p:sp>
      <p:sp>
        <p:nvSpPr>
          <p:cNvPr id="20" name="Shape 18"/>
          <p:cNvSpPr/>
          <p:nvPr/>
        </p:nvSpPr>
        <p:spPr>
          <a:xfrm>
            <a:off x="6324600" y="3921770"/>
            <a:ext cx="1446014" cy="395288"/>
          </a:xfrm>
          <a:prstGeom prst="roundRect">
            <a:avLst>
              <a:gd name="adj" fmla="val 50000"/>
            </a:avLst>
          </a:prstGeom>
          <a:ln w="9525">
            <a:solidFill>
              <a:srgbClr val="C9C2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486525" y="3997970"/>
            <a:ext cx="1198364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403B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exact match</a:t>
            </a:r>
            <a:endParaRPr lang="en-US" sz="1275" dirty="0"/>
          </a:p>
        </p:txBody>
      </p:sp>
      <p:sp>
        <p:nvSpPr>
          <p:cNvPr id="22" name="Shape 20"/>
          <p:cNvSpPr/>
          <p:nvPr/>
        </p:nvSpPr>
        <p:spPr>
          <a:xfrm>
            <a:off x="7865864" y="3921770"/>
            <a:ext cx="1854101" cy="395288"/>
          </a:xfrm>
          <a:prstGeom prst="roundRect">
            <a:avLst>
              <a:gd name="adj" fmla="val 50000"/>
            </a:avLst>
          </a:prstGeom>
          <a:ln w="9525">
            <a:solidFill>
              <a:srgbClr val="C9C2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027789" y="3997970"/>
            <a:ext cx="160645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403B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unit-normalized</a:t>
            </a:r>
            <a:endParaRPr lang="en-US" sz="1275" dirty="0"/>
          </a:p>
        </p:txBody>
      </p:sp>
      <p:sp>
        <p:nvSpPr>
          <p:cNvPr id="24" name="Shape 22"/>
          <p:cNvSpPr/>
          <p:nvPr/>
        </p:nvSpPr>
        <p:spPr>
          <a:xfrm>
            <a:off x="9815215" y="3921770"/>
            <a:ext cx="1241971" cy="395288"/>
          </a:xfrm>
          <a:prstGeom prst="roundRect">
            <a:avLst>
              <a:gd name="adj" fmla="val 50000"/>
            </a:avLst>
          </a:prstGeom>
          <a:ln w="9525">
            <a:solidFill>
              <a:srgbClr val="C9C2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9977140" y="3997970"/>
            <a:ext cx="99432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403B36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LLM judge</a:t>
            </a:r>
            <a:endParaRPr lang="en-US" sz="1275" dirty="0"/>
          </a:p>
        </p:txBody>
      </p:sp>
      <p:sp>
        <p:nvSpPr>
          <p:cNvPr id="26" name="Shape 24"/>
          <p:cNvSpPr/>
          <p:nvPr/>
        </p:nvSpPr>
        <p:spPr>
          <a:xfrm>
            <a:off x="6324600" y="4412307"/>
            <a:ext cx="2141041" cy="376238"/>
          </a:xfrm>
          <a:prstGeom prst="roundRect">
            <a:avLst>
              <a:gd name="adj" fmla="val 50000"/>
            </a:avLst>
          </a:prstGeom>
          <a:solidFill>
            <a:srgbClr val="FDF7E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6477000" y="4478982"/>
            <a:ext cx="1912441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38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60 / 39 / 51 split</a:t>
            </a:r>
            <a:endParaRPr lang="en-US" sz="1275" dirty="0"/>
          </a:p>
        </p:txBody>
      </p:sp>
      <p:sp>
        <p:nvSpPr>
          <p:cNvPr id="28" name="Shape 26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30" name="Text 28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 — Text to data</a:t>
            </a:r>
            <a:endParaRPr lang="en-US" sz="1125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1A9473-280C-EF10-6B9E-695C9B1BB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6585414-CD84-8AB1-D999-5590E4AF4143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8DD8D9B-6E8F-271C-8ACE-F0BBDC0FDFDC}"/>
              </a:ext>
            </a:extLst>
          </p:cNvPr>
          <p:cNvSpPr/>
          <p:nvPr/>
        </p:nvSpPr>
        <p:spPr>
          <a:xfrm>
            <a:off x="762000" y="623888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</a:t>
            </a:r>
            <a:endParaRPr lang="en-US" sz="13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F2C5DB9-9AE1-E5AE-E9C0-E37EDB2BA983}"/>
              </a:ext>
            </a:extLst>
          </p:cNvPr>
          <p:cNvSpPr/>
          <p:nvPr/>
        </p:nvSpPr>
        <p:spPr>
          <a:xfrm>
            <a:off x="2018184" y="609600"/>
            <a:ext cx="159871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METHOD</a:t>
            </a:r>
            <a:endParaRPr lang="en-US" sz="135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456015BD-3D13-466C-D874-16EF7A95AD8F}"/>
              </a:ext>
            </a:extLst>
          </p:cNvPr>
          <p:cNvSpPr/>
          <p:nvPr/>
        </p:nvSpPr>
        <p:spPr>
          <a:xfrm>
            <a:off x="762000" y="1076325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4C8F466-BB80-6F2D-4FA4-23A5109DC0E8}"/>
              </a:ext>
            </a:extLst>
          </p:cNvPr>
          <p:cNvSpPr/>
          <p:nvPr/>
        </p:nvSpPr>
        <p:spPr>
          <a:xfrm>
            <a:off x="762000" y="1314450"/>
            <a:ext cx="10988040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unstructured publication text to structured knowledge</a:t>
            </a:r>
            <a:endParaRPr lang="en-US" sz="34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9D10D835-CCAF-0DDD-9C44-A2024068E931}"/>
              </a:ext>
            </a:extLst>
          </p:cNvPr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8C0CBD82-86E7-F5F9-C3D0-0D259F5053A3}"/>
              </a:ext>
            </a:extLst>
          </p:cNvPr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07F946C-37DB-25E4-D02D-0E2B68AC12DD}"/>
              </a:ext>
            </a:extLst>
          </p:cNvPr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 — Text to data</a:t>
            </a:r>
            <a:endParaRPr lang="en-US" sz="1125" dirty="0"/>
          </a:p>
        </p:txBody>
      </p:sp>
      <p:pic>
        <p:nvPicPr>
          <p:cNvPr id="32" name="Graphic 31" descr="Document with solid fill">
            <a:extLst>
              <a:ext uri="{FF2B5EF4-FFF2-40B4-BE49-F238E27FC236}">
                <a16:creationId xmlns:a16="http://schemas.microsoft.com/office/drawing/2014/main" id="{5280992C-93F9-64C4-3970-CD7281832C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2776" y="2673502"/>
            <a:ext cx="2386441" cy="2386441"/>
          </a:xfrm>
          <a:prstGeom prst="rect">
            <a:avLst/>
          </a:prstGeom>
        </p:spPr>
      </p:pic>
      <p:pic>
        <p:nvPicPr>
          <p:cNvPr id="36" name="Graphic 35" descr="Chat bubble with solid fill">
            <a:extLst>
              <a:ext uri="{FF2B5EF4-FFF2-40B4-BE49-F238E27FC236}">
                <a16:creationId xmlns:a16="http://schemas.microsoft.com/office/drawing/2014/main" id="{AD9E4CFD-5150-B088-DD05-F807CB5536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616896" y="3290454"/>
            <a:ext cx="1060334" cy="1060334"/>
          </a:xfrm>
          <a:prstGeom prst="rect">
            <a:avLst/>
          </a:prstGeom>
        </p:spPr>
      </p:pic>
      <p:pic>
        <p:nvPicPr>
          <p:cNvPr id="1026" name="Picture 2" descr="Llm Images – Browse 57,682 Stock Photos, Vectors, and Video ...">
            <a:extLst>
              <a:ext uri="{FF2B5EF4-FFF2-40B4-BE49-F238E27FC236}">
                <a16:creationId xmlns:a16="http://schemas.microsoft.com/office/drawing/2014/main" id="{9B6F9B2C-DC06-9745-D272-941E5A007C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8949" y="2830021"/>
            <a:ext cx="1981200" cy="1981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65F88364-7D93-57F3-A5EB-60757DA18651}"/>
              </a:ext>
            </a:extLst>
          </p:cNvPr>
          <p:cNvSpPr txBox="1"/>
          <p:nvPr/>
        </p:nvSpPr>
        <p:spPr>
          <a:xfrm>
            <a:off x="7867562" y="2254374"/>
            <a:ext cx="4429992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{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sensor_type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Gas ,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detect_target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Nitrogen Dioxide,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lower_detection_limit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10 pb,</a:t>
            </a:r>
          </a:p>
          <a:p>
            <a:r>
              <a:rPr lang="en-US" sz="2000" b="1" dirty="0">
                <a:latin typeface="Arial" panose="020B0604020202020204" pitchFamily="34" charset="0"/>
                <a:cs typeface="Arial" panose="020B0604020202020204" pitchFamily="34" charset="0"/>
              </a:rPr>
              <a:t>upper_detection_limit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:1200 ppb,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probe_material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zinc oxide,</a:t>
            </a:r>
          </a:p>
          <a:p>
            <a:r>
              <a:rPr lang="en-US" sz="2000" b="1" dirty="0" err="1">
                <a:latin typeface="Arial" panose="020B0604020202020204" pitchFamily="34" charset="0"/>
                <a:cs typeface="Arial" panose="020B0604020202020204" pitchFamily="34" charset="0"/>
              </a:rPr>
              <a:t>test_operating_temperature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: 40</a:t>
            </a:r>
            <a:r>
              <a:rPr lang="zh-CN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°C</a:t>
            </a:r>
            <a:endParaRPr 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…</a:t>
            </a:r>
          </a:p>
          <a:p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}</a:t>
            </a:r>
          </a:p>
        </p:txBody>
      </p:sp>
      <p:sp>
        <p:nvSpPr>
          <p:cNvPr id="42" name="Right Arrow 41">
            <a:extLst>
              <a:ext uri="{FF2B5EF4-FFF2-40B4-BE49-F238E27FC236}">
                <a16:creationId xmlns:a16="http://schemas.microsoft.com/office/drawing/2014/main" id="{7E529992-EEC1-54F6-2D2B-3191C2D06F4B}"/>
              </a:ext>
            </a:extLst>
          </p:cNvPr>
          <p:cNvSpPr/>
          <p:nvPr/>
        </p:nvSpPr>
        <p:spPr>
          <a:xfrm>
            <a:off x="3289995" y="5417563"/>
            <a:ext cx="6408187" cy="401781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1DA902B-5C51-1F6F-C596-9A00A6EB3F6E}"/>
              </a:ext>
            </a:extLst>
          </p:cNvPr>
          <p:cNvSpPr txBox="1"/>
          <p:nvPr/>
        </p:nvSpPr>
        <p:spPr>
          <a:xfrm>
            <a:off x="3703640" y="4268423"/>
            <a:ext cx="8868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prompt</a:t>
            </a:r>
          </a:p>
        </p:txBody>
      </p:sp>
    </p:spTree>
    <p:extLst>
      <p:ext uri="{BB962C8B-B14F-4D97-AF65-F5344CB8AC3E}">
        <p14:creationId xmlns:p14="http://schemas.microsoft.com/office/powerpoint/2010/main" val="217055883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878309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864022"/>
            <a:ext cx="213818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THE IMPROVEMENT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330747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568872"/>
            <a:ext cx="4225137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the levers, climb the accuracy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743870"/>
            <a:ext cx="422513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HELD-OUT TEST ACCURACY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3082007"/>
            <a:ext cx="4225137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0.68 → 0.83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762000" y="3672557"/>
            <a:ext cx="2946368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2F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+0.15 across three stacked levers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1028700" y="4177382"/>
            <a:ext cx="3958437" cy="673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optimization </a:t>
            </a:r>
            <a:r>
              <a:rPr lang="en-US" sz="17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training set</a:t>
            </a:r>
            <a:endParaRPr lang="en-US" sz="1725" dirty="0"/>
          </a:p>
        </p:txBody>
      </p:sp>
      <p:sp>
        <p:nvSpPr>
          <p:cNvPr id="11" name="Text 9"/>
          <p:cNvSpPr/>
          <p:nvPr/>
        </p:nvSpPr>
        <p:spPr>
          <a:xfrm>
            <a:off x="1028700" y="4926881"/>
            <a:ext cx="3958437" cy="673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Few-shot examples </a:t>
            </a:r>
            <a:r>
              <a:rPr lang="en-US" sz="17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worst failures</a:t>
            </a:r>
            <a:endParaRPr lang="en-US" sz="1725" dirty="0"/>
          </a:p>
        </p:txBody>
      </p:sp>
      <p:sp>
        <p:nvSpPr>
          <p:cNvPr id="12" name="Text 10"/>
          <p:cNvSpPr/>
          <p:nvPr/>
        </p:nvSpPr>
        <p:spPr>
          <a:xfrm>
            <a:off x="1028700" y="5676379"/>
            <a:ext cx="3958437" cy="3556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optimization pass</a:t>
            </a:r>
            <a:endParaRPr lang="en-US" sz="1725" dirty="0"/>
          </a:p>
        </p:txBody>
      </p:sp>
      <p:sp>
        <p:nvSpPr>
          <p:cNvPr id="13" name="Shape 11"/>
          <p:cNvSpPr/>
          <p:nvPr/>
        </p:nvSpPr>
        <p:spPr>
          <a:xfrm>
            <a:off x="5397475" y="1109663"/>
            <a:ext cx="6032525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78450" y="1290638"/>
            <a:ext cx="5670575" cy="3733800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110907" y="5333999"/>
            <a:ext cx="660566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Test accuracy across prompt versions: baseline → optimized → few-shot → re-optimized.</a:t>
            </a:r>
            <a:endParaRPr lang="en-US" sz="1125" dirty="0"/>
          </a:p>
        </p:txBody>
      </p:sp>
      <p:sp>
        <p:nvSpPr>
          <p:cNvPr id="17" name="Shape 14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5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9" name="Text 16"/>
          <p:cNvSpPr/>
          <p:nvPr/>
        </p:nvSpPr>
        <p:spPr>
          <a:xfrm>
            <a:off x="9166845" y="6319838"/>
            <a:ext cx="233935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2a — Text to data</a:t>
            </a:r>
            <a:endParaRPr lang="en-US" sz="1125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D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838200" y="1281931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94384" y="1267644"/>
            <a:ext cx="2106216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D9A86B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MULTIMODAL PDF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38200" y="1734369"/>
            <a:ext cx="457200" cy="28575"/>
          </a:xfrm>
          <a:prstGeom prst="roundRect">
            <a:avLst>
              <a:gd name="adj" fmla="val 50000"/>
            </a:avLst>
          </a:prstGeom>
          <a:solidFill>
            <a:srgbClr val="EAAA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38200" y="1972494"/>
            <a:ext cx="7267696" cy="15604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5550" b="1" kern="0" spc="-11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the page, not just the </a:t>
            </a:r>
            <a:r>
              <a:rPr lang="en-US" sz="5550" i="1" kern="0" spc="-111" dirty="0">
                <a:solidFill>
                  <a:srgbClr val="EAA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5550" dirty="0"/>
          </a:p>
        </p:txBody>
      </p:sp>
      <p:sp>
        <p:nvSpPr>
          <p:cNvPr id="7" name="Text 5"/>
          <p:cNvSpPr/>
          <p:nvPr/>
        </p:nvSpPr>
        <p:spPr>
          <a:xfrm>
            <a:off x="838200" y="3761556"/>
            <a:ext cx="7365957" cy="1109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875" dirty="0">
                <a:solidFill>
                  <a:srgbClr val="E7C9C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Feed a vision model rendered page images instead of linearized text. Same worker, same prompt, one variable changed, so any difference is the modality itself.</a:t>
            </a:r>
            <a:endParaRPr lang="en-US" sz="1875" dirty="0"/>
          </a:p>
        </p:txBody>
      </p:sp>
      <p:sp>
        <p:nvSpPr>
          <p:cNvPr id="14" name="Shape 12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FFFFFF">
              <a:alpha val="12000"/>
            </a:srgb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EAA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6" name="Text 14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B3756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 — Multimodal PDF</a:t>
            </a:r>
            <a:endParaRPr lang="en-US" sz="1125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1172245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1157957"/>
            <a:ext cx="197934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TEXT VS IMAGE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624682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862807"/>
            <a:ext cx="5092009" cy="9844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prompt, two inputs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3037805"/>
            <a:ext cx="1000646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TEXT F1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3375943"/>
            <a:ext cx="1000646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0.68</a:t>
            </a:r>
            <a:endParaRPr lang="en-US" sz="3900" dirty="0"/>
          </a:p>
        </p:txBody>
      </p:sp>
      <p:sp>
        <p:nvSpPr>
          <p:cNvPr id="9" name="Shape 7"/>
          <p:cNvSpPr/>
          <p:nvPr/>
        </p:nvSpPr>
        <p:spPr>
          <a:xfrm>
            <a:off x="2029346" y="3037805"/>
            <a:ext cx="9525" cy="1185863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381771" y="3037805"/>
            <a:ext cx="2030090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IMAGE F1</a:t>
            </a:r>
            <a:endParaRPr lang="en-US" sz="1275" dirty="0"/>
          </a:p>
        </p:txBody>
      </p:sp>
      <p:sp>
        <p:nvSpPr>
          <p:cNvPr id="11" name="Text 9"/>
          <p:cNvSpPr/>
          <p:nvPr/>
        </p:nvSpPr>
        <p:spPr>
          <a:xfrm>
            <a:off x="2381771" y="3375943"/>
            <a:ext cx="2030090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0.69</a:t>
            </a:r>
            <a:endParaRPr lang="en-US" sz="3900" dirty="0"/>
          </a:p>
        </p:txBody>
      </p:sp>
      <p:sp>
        <p:nvSpPr>
          <p:cNvPr id="12" name="Text 10"/>
          <p:cNvSpPr/>
          <p:nvPr/>
        </p:nvSpPr>
        <p:spPr>
          <a:xfrm>
            <a:off x="2381771" y="3966493"/>
            <a:ext cx="2030090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6E66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precision 0.81 vs 0.68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762000" y="4452268"/>
            <a:ext cx="4943698" cy="1247775"/>
          </a:xfrm>
          <a:prstGeom prst="roundRect">
            <a:avLst>
              <a:gd name="adj" fmla="val 7634"/>
            </a:avLst>
          </a:prstGeom>
          <a:solidFill>
            <a:srgbClr val="FAF2F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762000" y="4452268"/>
            <a:ext cx="28575" cy="1247775"/>
          </a:xfrm>
          <a:prstGeom prst="rect">
            <a:avLst/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019175" y="4642768"/>
            <a:ext cx="4591661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500" b="1" dirty="0">
                <a:solidFill>
                  <a:srgbClr val="5B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the text layer fails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019175" y="4966618"/>
            <a:ext cx="4591661" cy="5810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the scanned paper, the text arm scores 0.00. Only the image arm works and multimodal is the only option.</a:t>
            </a:r>
            <a:endParaRPr lang="en-US" sz="1425" dirty="0"/>
          </a:p>
        </p:txBody>
      </p:sp>
      <p:sp>
        <p:nvSpPr>
          <p:cNvPr id="17" name="Shape 15"/>
          <p:cNvSpPr/>
          <p:nvPr/>
        </p:nvSpPr>
        <p:spPr>
          <a:xfrm>
            <a:off x="6239098" y="1026319"/>
            <a:ext cx="5190902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420073" y="1207294"/>
            <a:ext cx="4828952" cy="41148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7020148" y="5617369"/>
            <a:ext cx="4414838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Text vs image extraction F1, pooled and per paper.</a:t>
            </a:r>
            <a:endParaRPr lang="en-US" sz="1125" dirty="0"/>
          </a:p>
        </p:txBody>
      </p:sp>
      <p:sp>
        <p:nvSpPr>
          <p:cNvPr id="21" name="Shape 18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23" name="Text 20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 — Multimodal PDF</a:t>
            </a:r>
            <a:endParaRPr lang="en-US" sz="1125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A17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62000" y="1033909"/>
            <a:ext cx="121808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2018184" y="1019621"/>
            <a:ext cx="2233092" cy="295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kern="0" spc="189" dirty="0">
                <a:solidFill>
                  <a:srgbClr val="B07A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/ RAISING THE BAR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762000" y="1486346"/>
            <a:ext cx="457200" cy="28575"/>
          </a:xfrm>
          <a:prstGeom prst="roundRect">
            <a:avLst>
              <a:gd name="adj" fmla="val 50000"/>
            </a:avLst>
          </a:prstGeom>
          <a:solidFill>
            <a:srgbClr val="80000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62000" y="1724471"/>
            <a:ext cx="4225137" cy="51129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8000"/>
              </a:lnSpc>
              <a:buNone/>
            </a:pPr>
            <a:r>
              <a:rPr lang="en-US" sz="3450" b="1" kern="0" spc="-69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a higher F1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762000" y="2445321"/>
            <a:ext cx="4225137" cy="2809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75" kern="0" spc="127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MULTIMODAL F1</a:t>
            </a:r>
            <a:endParaRPr lang="en-US" sz="1275" dirty="0"/>
          </a:p>
        </p:txBody>
      </p:sp>
      <p:sp>
        <p:nvSpPr>
          <p:cNvPr id="8" name="Text 6"/>
          <p:cNvSpPr/>
          <p:nvPr/>
        </p:nvSpPr>
        <p:spPr>
          <a:xfrm>
            <a:off x="762000" y="2783458"/>
            <a:ext cx="4225137" cy="533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3900" b="1" kern="0" spc="-78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0.69 → 0.86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762000" y="3374008"/>
            <a:ext cx="2173932" cy="5524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350" dirty="0">
                <a:solidFill>
                  <a:srgbClr val="2F7D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+0.17 · recall 0.79 · precision 0.95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62000" y="4145533"/>
            <a:ext cx="3958437" cy="9908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Selectivity-ordering recovery </a:t>
            </a:r>
            <a:endParaRPr lang="en-US" sz="1725" dirty="0">
              <a:solidFill>
                <a:srgbClr val="403B36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l">
              <a:lnSpc>
                <a:spcPct val="145000"/>
              </a:lnSpc>
              <a:buNone/>
            </a:pPr>
            <a:r>
              <a:rPr lang="en-US" sz="17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 fairer metric when gold pairs are uneven</a:t>
            </a:r>
            <a:endParaRPr lang="en-US" sz="1725" dirty="0"/>
          </a:p>
        </p:txBody>
      </p:sp>
      <p:sp>
        <p:nvSpPr>
          <p:cNvPr id="11" name="Text 9"/>
          <p:cNvSpPr/>
          <p:nvPr/>
        </p:nvSpPr>
        <p:spPr>
          <a:xfrm>
            <a:off x="762000" y="5216426"/>
            <a:ext cx="3958437" cy="67329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725" b="1" dirty="0">
                <a:solidFill>
                  <a:srgbClr val="1A17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two-pass read </a:t>
            </a:r>
            <a:r>
              <a:rPr lang="en-US" sz="1725" dirty="0">
                <a:solidFill>
                  <a:srgbClr val="403B3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an exhaustive prompt</a:t>
            </a:r>
            <a:endParaRPr lang="en-US" sz="1725" dirty="0"/>
          </a:p>
        </p:txBody>
      </p:sp>
      <p:sp>
        <p:nvSpPr>
          <p:cNvPr id="12" name="Shape 10"/>
          <p:cNvSpPr/>
          <p:nvPr/>
        </p:nvSpPr>
        <p:spPr>
          <a:xfrm>
            <a:off x="5397475" y="1109663"/>
            <a:ext cx="6032525" cy="409575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8E3DB"/>
            </a:solidFill>
            <a:prstDash val="solid"/>
          </a:ln>
          <a:effectLst>
            <a:outerShdw blurRad="114300" dist="38100" dir="5400000" algn="bl" rotWithShape="0">
              <a:srgbClr val="1A1714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78450" y="1290638"/>
            <a:ext cx="5670575" cy="3733800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6161708" y="5319713"/>
            <a:ext cx="5426341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dirty="0">
                <a:solidFill>
                  <a:srgbClr val="6E665E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F1 climb from 0.69 to 0.86 under selectivity-ordering recovery.</a:t>
            </a:r>
            <a:endParaRPr lang="en-US" sz="1125" dirty="0"/>
          </a:p>
        </p:txBody>
      </p:sp>
      <p:sp>
        <p:nvSpPr>
          <p:cNvPr id="16" name="Shape 13"/>
          <p:cNvSpPr/>
          <p:nvPr/>
        </p:nvSpPr>
        <p:spPr>
          <a:xfrm>
            <a:off x="762000" y="6176963"/>
            <a:ext cx="10668000" cy="9525"/>
          </a:xfrm>
          <a:prstGeom prst="rect">
            <a:avLst/>
          </a:prstGeom>
          <a:solidFill>
            <a:srgbClr val="E8E3D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762000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8000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UChicago PME · AI Training</a:t>
            </a:r>
            <a:endParaRPr lang="en-US" sz="1125" dirty="0"/>
          </a:p>
        </p:txBody>
      </p:sp>
      <p:sp>
        <p:nvSpPr>
          <p:cNvPr id="18" name="Text 15"/>
          <p:cNvSpPr/>
          <p:nvPr/>
        </p:nvSpPr>
        <p:spPr>
          <a:xfrm>
            <a:off x="8978205" y="6319838"/>
            <a:ext cx="2527995" cy="2524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125" kern="0" spc="68" dirty="0">
                <a:solidFill>
                  <a:srgbClr val="938A8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Module 2b — Multimodal PDF</a:t>
            </a:r>
            <a:endParaRPr lang="en-US" sz="1125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1063</Words>
  <Application>Microsoft Macintosh PowerPoint</Application>
  <PresentationFormat>Widescreen</PresentationFormat>
  <Paragraphs>187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IBM Plex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Rui Ding</cp:lastModifiedBy>
  <cp:revision>3</cp:revision>
  <dcterms:created xsi:type="dcterms:W3CDTF">2026-06-06T19:55:52Z</dcterms:created>
  <dcterms:modified xsi:type="dcterms:W3CDTF">2026-06-26T16:39:59Z</dcterms:modified>
</cp:coreProperties>
</file>