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2" r:id="rId10"/>
    <p:sldId id="273" r:id="rId11"/>
    <p:sldId id="264" r:id="rId12"/>
    <p:sldId id="265" r:id="rId13"/>
    <p:sldId id="271" r:id="rId14"/>
    <p:sldId id="266" r:id="rId15"/>
    <p:sldId id="267" r:id="rId16"/>
    <p:sldId id="268" r:id="rId17"/>
    <p:sldId id="269" r:id="rId18"/>
    <p:sldId id="274" r:id="rId19"/>
    <p:sldId id="275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376"/>
    <p:restoredTop sz="94610"/>
  </p:normalViewPr>
  <p:slideViewPr>
    <p:cSldViewPr snapToGrid="0" snapToObjects="1">
      <p:cViewPr>
        <p:scale>
          <a:sx n="99" d="100"/>
          <a:sy n="99" d="100"/>
        </p:scale>
        <p:origin x="1576" y="6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197573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A25AE-60C7-CC0D-3EAE-54B855C27B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5E1D51-B18A-7338-CE75-85E86405FA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6DDF9D-DCCB-1D6D-E546-BF76CA5AB1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F667EE-7432-5A5E-3024-7ACEC766E99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58084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254FF-0FE7-4A88-D06A-E608C62BC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6F6A0B-0D89-DA52-B0BD-7DAF24B67B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3E9BF2-4ABF-8CA1-6610-7E7EDA687E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52E23D-35B4-4468-9C70-F37F777FE02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595773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09DC89-CCDF-1DBE-3B31-1A9C866DE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C2DDB1-6EE0-0C0A-6828-E666A0E64E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64CC37-C4A6-4FC6-304B-072D66CB05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02A303-6543-7A89-922A-EA83AAC97A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01683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CE19E-3C5E-CF86-5B62-A3524CFFED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3BC15A-9CA4-F613-86F4-6FA2813D10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96DBF4-FACD-FA1E-97C5-86615741FC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7BF0EF-0846-3037-D4A1-D04F9EE98D9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543264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810624-6881-37C3-2787-4F7979B63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CE2C56-B9F9-96AB-9D42-3FD826A853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D7004D-AE16-427E-2A98-BD512B804B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17A28D-D0FE-5A5E-2E73-93CD04614FC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31396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jpeg"/><Relationship Id="rId4" Type="http://schemas.openxmlformats.org/officeDocument/2006/relationships/image" Target="../media/image7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D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38200" y="685800"/>
            <a:ext cx="1598712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EAA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UCHICAGO PME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9113490" y="685800"/>
            <a:ext cx="231651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kern="0" spc="120" dirty="0">
                <a:solidFill>
                  <a:srgbClr val="C990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AI · MACHINE LEARNING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38200" y="1299493"/>
            <a:ext cx="457200" cy="28575"/>
          </a:xfrm>
          <a:prstGeom prst="roundRect">
            <a:avLst>
              <a:gd name="adj" fmla="val 50000"/>
            </a:avLst>
          </a:prstGeom>
          <a:solidFill>
            <a:srgbClr val="EAAA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38199" y="1575718"/>
            <a:ext cx="8127097" cy="23216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5550" b="1" kern="0" spc="-11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Training Materials for </a:t>
            </a:r>
            <a:r>
              <a:rPr lang="en-US" sz="5550" i="1" kern="0" spc="-111" dirty="0">
                <a:solidFill>
                  <a:srgbClr val="EAA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Molecular Engineering</a:t>
            </a:r>
            <a:endParaRPr lang="en-US" sz="5550" dirty="0"/>
          </a:p>
        </p:txBody>
      </p:sp>
      <p:sp>
        <p:nvSpPr>
          <p:cNvPr id="7" name="Text 5"/>
          <p:cNvSpPr/>
          <p:nvPr/>
        </p:nvSpPr>
        <p:spPr>
          <a:xfrm>
            <a:off x="838200" y="4106912"/>
            <a:ext cx="8127096" cy="1109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75" dirty="0">
                <a:solidFill>
                  <a:srgbClr val="E7C9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teaching modules from tabular machine learning to multimodal extraction,</a:t>
            </a:r>
            <a:r>
              <a:rPr lang="zh-CN" altLang="en-US" sz="1875" dirty="0">
                <a:solidFill>
                  <a:srgbClr val="E7C9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altLang="zh-CN" sz="1875" dirty="0">
                <a:solidFill>
                  <a:srgbClr val="E7C9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</a:t>
            </a:r>
            <a:r>
              <a:rPr lang="zh-CN" altLang="en-US" sz="1875" dirty="0">
                <a:solidFill>
                  <a:srgbClr val="E7C9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altLang="zh-CN" sz="1875" dirty="0">
                <a:solidFill>
                  <a:srgbClr val="E7C9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</a:t>
            </a:r>
            <a:r>
              <a:rPr lang="zh-CN" altLang="en-US" sz="1875" dirty="0">
                <a:solidFill>
                  <a:srgbClr val="E7C9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altLang="zh-CN" sz="1875" dirty="0">
                <a:solidFill>
                  <a:srgbClr val="E7C9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 tuning,</a:t>
            </a:r>
            <a:r>
              <a:rPr lang="en-US" sz="1875" dirty="0">
                <a:solidFill>
                  <a:srgbClr val="E7C9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built from published research and reproducible</a:t>
            </a:r>
            <a:endParaRPr lang="en-US" sz="187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D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38200" y="901303"/>
            <a:ext cx="1218084" cy="2619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EAA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1A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2094384" y="887016"/>
            <a:ext cx="3005692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D9A86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 TABULAR ML · ACTIVITY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38200" y="1353741"/>
            <a:ext cx="457200" cy="28575"/>
          </a:xfrm>
          <a:prstGeom prst="roundRect">
            <a:avLst>
              <a:gd name="adj" fmla="val 50000"/>
            </a:avLst>
          </a:prstGeom>
          <a:solidFill>
            <a:srgbClr val="EAAA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38200" y="1591866"/>
            <a:ext cx="8182970" cy="23216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5550" b="1" kern="0" spc="-11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 catalyst activity from a synthesis </a:t>
            </a:r>
            <a:r>
              <a:rPr lang="en-US" sz="5550" i="1" kern="0" spc="-111" dirty="0">
                <a:solidFill>
                  <a:srgbClr val="EAA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recipe</a:t>
            </a:r>
            <a:endParaRPr lang="en-US" sz="5550" dirty="0"/>
          </a:p>
        </p:txBody>
      </p:sp>
      <p:sp>
        <p:nvSpPr>
          <p:cNvPr id="7" name="Text 5"/>
          <p:cNvSpPr/>
          <p:nvPr/>
        </p:nvSpPr>
        <p:spPr>
          <a:xfrm>
            <a:off x="838200" y="4142110"/>
            <a:ext cx="8333096" cy="1109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75" dirty="0">
                <a:solidFill>
                  <a:srgbClr val="E7C9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Mine literature records of acidic-OER electrocatalysts, then learn to predict overpotential η₁₀ (lower is better) from composition, synthesis, and testing conditions.</a:t>
            </a:r>
            <a:endParaRPr lang="en-US" sz="1875" dirty="0"/>
          </a:p>
        </p:txBody>
      </p:sp>
      <p:sp>
        <p:nvSpPr>
          <p:cNvPr id="14" name="Shape 12"/>
          <p:cNvSpPr/>
          <p:nvPr/>
        </p:nvSpPr>
        <p:spPr>
          <a:xfrm>
            <a:off x="762000" y="6176963"/>
            <a:ext cx="10668000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62000" y="6319838"/>
            <a:ext cx="2527995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EAA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UChicago PME · AI Training</a:t>
            </a:r>
            <a:endParaRPr lang="en-US" sz="1125" dirty="0"/>
          </a:p>
        </p:txBody>
      </p:sp>
      <p:sp>
        <p:nvSpPr>
          <p:cNvPr id="16" name="Text 14"/>
          <p:cNvSpPr/>
          <p:nvPr/>
        </p:nvSpPr>
        <p:spPr>
          <a:xfrm>
            <a:off x="9544050" y="6319838"/>
            <a:ext cx="1962150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B3756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1a — Activity</a:t>
            </a:r>
            <a:endParaRPr lang="en-US" sz="112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62000" y="623888"/>
            <a:ext cx="1218084" cy="2619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8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1A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2018184" y="609600"/>
            <a:ext cx="1852464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B07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 THE PIPELINE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62000" y="1076325"/>
            <a:ext cx="457200" cy="28575"/>
          </a:xfrm>
          <a:prstGeom prst="roundRect">
            <a:avLst>
              <a:gd name="adj" fmla="val 50000"/>
            </a:avLst>
          </a:prstGeom>
          <a:solidFill>
            <a:srgbClr val="80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62000" y="1314450"/>
            <a:ext cx="10988040" cy="51129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3450" b="1" kern="0" spc="-69" dirty="0" err="1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Featurize</a:t>
            </a:r>
            <a:r>
              <a:rPr lang="en-US" sz="3450" b="1" kern="0" spc="-69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database, then climb the model ladder</a:t>
            </a:r>
            <a:endParaRPr lang="en-US" sz="3450" dirty="0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0C6ACBD-EC62-7F73-6611-CE1AA004FD5A}"/>
              </a:ext>
            </a:extLst>
          </p:cNvPr>
          <p:cNvGrpSpPr/>
          <p:nvPr/>
        </p:nvGrpSpPr>
        <p:grpSpPr>
          <a:xfrm>
            <a:off x="723900" y="2187327"/>
            <a:ext cx="400050" cy="363871"/>
            <a:chOff x="723900" y="2090528"/>
            <a:chExt cx="400050" cy="363871"/>
          </a:xfrm>
        </p:grpSpPr>
        <p:sp>
          <p:nvSpPr>
            <p:cNvPr id="7" name="Shape 5"/>
            <p:cNvSpPr/>
            <p:nvPr/>
          </p:nvSpPr>
          <p:spPr>
            <a:xfrm>
              <a:off x="762000" y="2130549"/>
              <a:ext cx="323850" cy="323850"/>
            </a:xfrm>
            <a:prstGeom prst="ellipse">
              <a:avLst/>
            </a:prstGeom>
            <a:solidFill>
              <a:srgbClr val="80000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 6"/>
            <p:cNvSpPr/>
            <p:nvPr/>
          </p:nvSpPr>
          <p:spPr>
            <a:xfrm>
              <a:off x="723900" y="2090528"/>
              <a:ext cx="400050" cy="36195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ctr">
              <a:normAutofit/>
            </a:bodyPr>
            <a:lstStyle/>
            <a:p>
              <a:pPr marL="0" indent="0" algn="ctr">
                <a:lnSpc>
                  <a:spcPct val="150000"/>
                </a:lnSpc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IBM Plex Mono" pitchFamily="34" charset="0"/>
                  <a:ea typeface="IBM Plex Mono" pitchFamily="34" charset="-122"/>
                  <a:cs typeface="IBM Plex Mono" pitchFamily="34" charset="-120"/>
                </a:rPr>
                <a:t>1</a:t>
              </a:r>
              <a:endParaRPr lang="en-US" sz="1200" dirty="0"/>
            </a:p>
          </p:txBody>
        </p:sp>
      </p:grpSp>
      <p:sp>
        <p:nvSpPr>
          <p:cNvPr id="9" name="Text 7"/>
          <p:cNvSpPr/>
          <p:nvPr/>
        </p:nvSpPr>
        <p:spPr>
          <a:xfrm>
            <a:off x="1238250" y="2159124"/>
            <a:ext cx="4768025" cy="13963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2000"/>
              </a:lnSpc>
              <a:buNone/>
            </a:pPr>
            <a:r>
              <a:rPr lang="en-US" sz="1650" b="1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elements to 8 atomic properties </a:t>
            </a:r>
            <a:endParaRPr lang="en-US" sz="1650" dirty="0">
              <a:solidFill>
                <a:srgbClr val="403B36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 algn="l">
              <a:lnSpc>
                <a:spcPct val="142000"/>
              </a:lnSpc>
              <a:buNone/>
            </a:pPr>
            <a:r>
              <a:rPr lang="en-US" sz="1650" dirty="0">
                <a:solidFill>
                  <a:srgbClr val="403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atomic radius, electronegativity, d-electrons… instead of one-hot. The step that matters most.</a:t>
            </a:r>
            <a:endParaRPr lang="en-US" sz="1650" dirty="0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B590C7B-4DB6-68B3-AB7A-06F678930432}"/>
              </a:ext>
            </a:extLst>
          </p:cNvPr>
          <p:cNvGrpSpPr/>
          <p:nvPr/>
        </p:nvGrpSpPr>
        <p:grpSpPr>
          <a:xfrm>
            <a:off x="723900" y="3273519"/>
            <a:ext cx="400050" cy="370604"/>
            <a:chOff x="723900" y="3138242"/>
            <a:chExt cx="400050" cy="370604"/>
          </a:xfrm>
        </p:grpSpPr>
        <p:sp>
          <p:nvSpPr>
            <p:cNvPr id="10" name="Shape 8"/>
            <p:cNvSpPr/>
            <p:nvPr/>
          </p:nvSpPr>
          <p:spPr>
            <a:xfrm>
              <a:off x="762000" y="3184996"/>
              <a:ext cx="323850" cy="323850"/>
            </a:xfrm>
            <a:prstGeom prst="ellipse">
              <a:avLst/>
            </a:prstGeom>
            <a:solidFill>
              <a:srgbClr val="80000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 9"/>
            <p:cNvSpPr/>
            <p:nvPr/>
          </p:nvSpPr>
          <p:spPr>
            <a:xfrm>
              <a:off x="723900" y="3138242"/>
              <a:ext cx="400050" cy="36195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ctr">
              <a:normAutofit/>
            </a:bodyPr>
            <a:lstStyle/>
            <a:p>
              <a:pPr marL="0" indent="0" algn="ctr">
                <a:lnSpc>
                  <a:spcPct val="150000"/>
                </a:lnSpc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IBM Plex Mono" pitchFamily="34" charset="0"/>
                  <a:ea typeface="IBM Plex Mono" pitchFamily="34" charset="-122"/>
                  <a:cs typeface="IBM Plex Mono" pitchFamily="34" charset="-120"/>
                </a:rPr>
                <a:t>2</a:t>
              </a:r>
              <a:endParaRPr lang="en-US" sz="1200" dirty="0"/>
            </a:p>
          </p:txBody>
        </p:sp>
      </p:grpSp>
      <p:sp>
        <p:nvSpPr>
          <p:cNvPr id="12" name="Text 10"/>
          <p:cNvSpPr/>
          <p:nvPr/>
        </p:nvSpPr>
        <p:spPr>
          <a:xfrm>
            <a:off x="1238250" y="3273519"/>
            <a:ext cx="4768025" cy="13963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42000"/>
              </a:lnSpc>
              <a:buNone/>
            </a:pPr>
            <a:r>
              <a:rPr lang="en-US" sz="1650" b="1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 the model ladder </a:t>
            </a:r>
          </a:p>
          <a:p>
            <a:pPr marL="0" indent="0" algn="l">
              <a:lnSpc>
                <a:spcPct val="142000"/>
              </a:lnSpc>
              <a:buNone/>
            </a:pPr>
            <a:r>
              <a:rPr lang="en-US" sz="1650" dirty="0">
                <a:solidFill>
                  <a:srgbClr val="403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 → decision tree (overfits) → Random Forest &amp; XGBoost → MLP → a committee with uncertainty.</a:t>
            </a:r>
            <a:endParaRPr lang="en-US" sz="1650" dirty="0"/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43F3E5E0-C53A-6BF1-0D89-1613F32D5642}"/>
              </a:ext>
            </a:extLst>
          </p:cNvPr>
          <p:cNvGrpSpPr/>
          <p:nvPr/>
        </p:nvGrpSpPr>
        <p:grpSpPr>
          <a:xfrm>
            <a:off x="723900" y="4724894"/>
            <a:ext cx="400050" cy="361951"/>
            <a:chOff x="723900" y="4201343"/>
            <a:chExt cx="400050" cy="361951"/>
          </a:xfrm>
        </p:grpSpPr>
        <p:sp>
          <p:nvSpPr>
            <p:cNvPr id="13" name="Shape 11"/>
            <p:cNvSpPr/>
            <p:nvPr/>
          </p:nvSpPr>
          <p:spPr>
            <a:xfrm>
              <a:off x="762000" y="4239444"/>
              <a:ext cx="323850" cy="323850"/>
            </a:xfrm>
            <a:prstGeom prst="ellipse">
              <a:avLst/>
            </a:prstGeom>
            <a:solidFill>
              <a:srgbClr val="80000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 12"/>
            <p:cNvSpPr/>
            <p:nvPr/>
          </p:nvSpPr>
          <p:spPr>
            <a:xfrm>
              <a:off x="723900" y="4201343"/>
              <a:ext cx="400050" cy="36195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ctr">
              <a:normAutofit/>
            </a:bodyPr>
            <a:lstStyle/>
            <a:p>
              <a:pPr marL="0" indent="0" algn="ctr">
                <a:lnSpc>
                  <a:spcPct val="150000"/>
                </a:lnSpc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IBM Plex Mono" pitchFamily="34" charset="0"/>
                  <a:ea typeface="IBM Plex Mono" pitchFamily="34" charset="-122"/>
                  <a:cs typeface="IBM Plex Mono" pitchFamily="34" charset="-120"/>
                </a:rPr>
                <a:t>3</a:t>
              </a:r>
              <a:endParaRPr lang="en-US" sz="1200" dirty="0"/>
            </a:p>
          </p:txBody>
        </p:sp>
      </p:grpSp>
      <p:sp>
        <p:nvSpPr>
          <p:cNvPr id="15" name="Text 13"/>
          <p:cNvSpPr/>
          <p:nvPr/>
        </p:nvSpPr>
        <p:spPr>
          <a:xfrm>
            <a:off x="1238250" y="4743291"/>
            <a:ext cx="4768025" cy="9499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2000"/>
              </a:lnSpc>
              <a:buNone/>
            </a:pPr>
            <a:r>
              <a:rPr lang="en-US" sz="1650" b="1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 with SHAP </a:t>
            </a:r>
          </a:p>
          <a:p>
            <a:pPr marL="0" indent="0" algn="l">
              <a:lnSpc>
                <a:spcPct val="142000"/>
              </a:lnSpc>
              <a:buNone/>
            </a:pPr>
            <a:r>
              <a:rPr lang="en-US" sz="1650" dirty="0">
                <a:solidFill>
                  <a:srgbClr val="403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the driving factors and spot testing-condition confounders.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6324600" y="2353791"/>
            <a:ext cx="5105400" cy="1247775"/>
          </a:xfrm>
          <a:prstGeom prst="roundRect">
            <a:avLst>
              <a:gd name="adj" fmla="val 7634"/>
            </a:avLst>
          </a:prstGeom>
          <a:solidFill>
            <a:srgbClr val="FDF7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324600" y="2353791"/>
            <a:ext cx="28575" cy="1247775"/>
          </a:xfrm>
          <a:prstGeom prst="rect">
            <a:avLst/>
          </a:prstGeom>
          <a:solidFill>
            <a:srgbClr val="EAAA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581775" y="2544291"/>
            <a:ext cx="4758214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00" b="1" dirty="0">
                <a:solidFill>
                  <a:srgbClr val="B07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strong tabular baseline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581775" y="2868141"/>
            <a:ext cx="4758214" cy="581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25" dirty="0">
                <a:solidFill>
                  <a:srgbClr val="403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Tree ensembles dominate small, wide scientific tables. XGBoost reaches test R² ≈ 0.84 on activity.</a:t>
            </a:r>
            <a:endParaRPr lang="en-US" sz="1425" dirty="0"/>
          </a:p>
        </p:txBody>
      </p:sp>
      <p:sp>
        <p:nvSpPr>
          <p:cNvPr id="20" name="Shape 18"/>
          <p:cNvSpPr/>
          <p:nvPr/>
        </p:nvSpPr>
        <p:spPr>
          <a:xfrm>
            <a:off x="6324600" y="3792066"/>
            <a:ext cx="916930" cy="376238"/>
          </a:xfrm>
          <a:prstGeom prst="roundRect">
            <a:avLst>
              <a:gd name="adj" fmla="val 50000"/>
            </a:avLst>
          </a:prstGeom>
          <a:solidFill>
            <a:srgbClr val="F3E3E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477000" y="3858741"/>
            <a:ext cx="688330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kern="0" spc="38" dirty="0">
                <a:solidFill>
                  <a:srgbClr val="5B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linear</a:t>
            </a:r>
            <a:endParaRPr lang="en-US" sz="1275" dirty="0"/>
          </a:p>
        </p:txBody>
      </p:sp>
      <p:sp>
        <p:nvSpPr>
          <p:cNvPr id="22" name="Shape 20"/>
          <p:cNvSpPr/>
          <p:nvPr/>
        </p:nvSpPr>
        <p:spPr>
          <a:xfrm>
            <a:off x="7336780" y="3792066"/>
            <a:ext cx="1631007" cy="376238"/>
          </a:xfrm>
          <a:prstGeom prst="roundRect">
            <a:avLst>
              <a:gd name="adj" fmla="val 50000"/>
            </a:avLst>
          </a:prstGeom>
          <a:solidFill>
            <a:srgbClr val="F3E3E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489180" y="3858741"/>
            <a:ext cx="1402407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kern="0" spc="38" dirty="0">
                <a:solidFill>
                  <a:srgbClr val="5B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decision tree</a:t>
            </a:r>
            <a:endParaRPr lang="en-US" sz="1275" dirty="0"/>
          </a:p>
        </p:txBody>
      </p:sp>
      <p:sp>
        <p:nvSpPr>
          <p:cNvPr id="24" name="Shape 22"/>
          <p:cNvSpPr/>
          <p:nvPr/>
        </p:nvSpPr>
        <p:spPr>
          <a:xfrm>
            <a:off x="9063038" y="3792066"/>
            <a:ext cx="1631007" cy="376238"/>
          </a:xfrm>
          <a:prstGeom prst="roundRect">
            <a:avLst>
              <a:gd name="adj" fmla="val 50000"/>
            </a:avLst>
          </a:prstGeom>
          <a:solidFill>
            <a:srgbClr val="F3E3E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9215438" y="3858741"/>
            <a:ext cx="1402407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kern="0" spc="38" dirty="0">
                <a:solidFill>
                  <a:srgbClr val="5B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random forest</a:t>
            </a:r>
            <a:endParaRPr lang="en-US" sz="1275" dirty="0"/>
          </a:p>
        </p:txBody>
      </p:sp>
      <p:sp>
        <p:nvSpPr>
          <p:cNvPr id="26" name="Shape 24"/>
          <p:cNvSpPr/>
          <p:nvPr/>
        </p:nvSpPr>
        <p:spPr>
          <a:xfrm>
            <a:off x="6324600" y="4263554"/>
            <a:ext cx="1018952" cy="376238"/>
          </a:xfrm>
          <a:prstGeom prst="roundRect">
            <a:avLst>
              <a:gd name="adj" fmla="val 50000"/>
            </a:avLst>
          </a:prstGeom>
          <a:solidFill>
            <a:srgbClr val="F3E3E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477000" y="4330229"/>
            <a:ext cx="790352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kern="0" spc="38" dirty="0">
                <a:solidFill>
                  <a:srgbClr val="5B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xgboost</a:t>
            </a:r>
            <a:endParaRPr lang="en-US" sz="1275" dirty="0"/>
          </a:p>
        </p:txBody>
      </p:sp>
      <p:sp>
        <p:nvSpPr>
          <p:cNvPr id="28" name="Shape 26"/>
          <p:cNvSpPr/>
          <p:nvPr/>
        </p:nvSpPr>
        <p:spPr>
          <a:xfrm>
            <a:off x="7438802" y="4263554"/>
            <a:ext cx="610865" cy="376238"/>
          </a:xfrm>
          <a:prstGeom prst="roundRect">
            <a:avLst>
              <a:gd name="adj" fmla="val 50000"/>
            </a:avLst>
          </a:prstGeom>
          <a:solidFill>
            <a:srgbClr val="F3E3E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7591202" y="4330229"/>
            <a:ext cx="382265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kern="0" spc="38" dirty="0">
                <a:solidFill>
                  <a:srgbClr val="5B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mlp</a:t>
            </a:r>
            <a:endParaRPr lang="en-US" sz="1275" dirty="0"/>
          </a:p>
        </p:txBody>
      </p:sp>
      <p:sp>
        <p:nvSpPr>
          <p:cNvPr id="30" name="Shape 28"/>
          <p:cNvSpPr/>
          <p:nvPr/>
        </p:nvSpPr>
        <p:spPr>
          <a:xfrm>
            <a:off x="8144917" y="4263554"/>
            <a:ext cx="1222921" cy="376238"/>
          </a:xfrm>
          <a:prstGeom prst="roundRect">
            <a:avLst>
              <a:gd name="adj" fmla="val 50000"/>
            </a:avLst>
          </a:prstGeom>
          <a:solidFill>
            <a:srgbClr val="FDF7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8297317" y="4330229"/>
            <a:ext cx="994321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kern="0" spc="38" dirty="0">
                <a:solidFill>
                  <a:srgbClr val="B07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committee</a:t>
            </a:r>
            <a:endParaRPr lang="en-US" sz="1275" dirty="0"/>
          </a:p>
        </p:txBody>
      </p:sp>
      <p:sp>
        <p:nvSpPr>
          <p:cNvPr id="32" name="Shape 30"/>
          <p:cNvSpPr/>
          <p:nvPr/>
        </p:nvSpPr>
        <p:spPr>
          <a:xfrm>
            <a:off x="762000" y="6176963"/>
            <a:ext cx="10668000" cy="9525"/>
          </a:xfrm>
          <a:prstGeom prst="rect">
            <a:avLst/>
          </a:prstGeom>
          <a:solidFill>
            <a:srgbClr val="E8E3D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762000" y="6319838"/>
            <a:ext cx="2527995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8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UChicago PME · AI Training</a:t>
            </a:r>
            <a:endParaRPr lang="en-US" sz="1125" dirty="0"/>
          </a:p>
        </p:txBody>
      </p:sp>
      <p:sp>
        <p:nvSpPr>
          <p:cNvPr id="34" name="Text 32"/>
          <p:cNvSpPr/>
          <p:nvPr/>
        </p:nvSpPr>
        <p:spPr>
          <a:xfrm>
            <a:off x="9544050" y="6319838"/>
            <a:ext cx="1962150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938A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1a — Activity</a:t>
            </a:r>
            <a:endParaRPr lang="en-US" sz="112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62000" y="1081757"/>
            <a:ext cx="1218084" cy="2619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8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1A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2018184" y="1067470"/>
            <a:ext cx="1218084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B07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 RESULTS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62000" y="1534195"/>
            <a:ext cx="457200" cy="28575"/>
          </a:xfrm>
          <a:prstGeom prst="roundRect">
            <a:avLst>
              <a:gd name="adj" fmla="val 50000"/>
            </a:avLst>
          </a:prstGeom>
          <a:solidFill>
            <a:srgbClr val="80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62000" y="1772320"/>
            <a:ext cx="4225137" cy="9844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3450" b="1" kern="0" spc="-69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models</a:t>
            </a:r>
            <a:r>
              <a:rPr lang="zh-CN" altLang="en-US" sz="3450" b="1" kern="0" spc="-69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’ </a:t>
            </a:r>
            <a:r>
              <a:rPr lang="en-US" altLang="zh-CN" sz="3450" b="1" kern="0" spc="-69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predicting</a:t>
            </a:r>
            <a:r>
              <a:rPr lang="en-US" sz="3450" b="1" kern="0" spc="-69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performances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762000" y="2985418"/>
            <a:ext cx="1787947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kern="0" spc="127" dirty="0">
                <a:solidFill>
                  <a:srgbClr val="6E66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XGBOOST TEST R²</a:t>
            </a:r>
            <a:endParaRPr lang="en-US" sz="1275" dirty="0"/>
          </a:p>
        </p:txBody>
      </p:sp>
      <p:sp>
        <p:nvSpPr>
          <p:cNvPr id="8" name="Text 6"/>
          <p:cNvSpPr/>
          <p:nvPr/>
        </p:nvSpPr>
        <p:spPr>
          <a:xfrm>
            <a:off x="762000" y="3380705"/>
            <a:ext cx="1521247" cy="742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5550" b="1" kern="0" spc="-111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0.84</a:t>
            </a:r>
            <a:endParaRPr lang="en-US" sz="5550" dirty="0"/>
          </a:p>
        </p:txBody>
      </p:sp>
      <p:sp>
        <p:nvSpPr>
          <p:cNvPr id="9" name="Text 7"/>
          <p:cNvSpPr/>
          <p:nvPr/>
        </p:nvSpPr>
        <p:spPr>
          <a:xfrm>
            <a:off x="762000" y="4123655"/>
            <a:ext cx="1521247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dirty="0">
                <a:solidFill>
                  <a:srgbClr val="6E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higher is better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2549947" y="2985418"/>
            <a:ext cx="9525" cy="1638300"/>
          </a:xfrm>
          <a:prstGeom prst="rect">
            <a:avLst/>
          </a:prstGeom>
          <a:solidFill>
            <a:srgbClr val="E8E3D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902372" y="2985418"/>
            <a:ext cx="1695004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kern="0" spc="127" dirty="0">
                <a:solidFill>
                  <a:srgbClr val="6E66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TEST MAE</a:t>
            </a:r>
            <a:endParaRPr lang="en-US" sz="1275" dirty="0"/>
          </a:p>
        </p:txBody>
      </p:sp>
      <p:sp>
        <p:nvSpPr>
          <p:cNvPr id="12" name="Text 10"/>
          <p:cNvSpPr/>
          <p:nvPr/>
        </p:nvSpPr>
        <p:spPr>
          <a:xfrm>
            <a:off x="2902371" y="3323555"/>
            <a:ext cx="1930823" cy="742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5550" b="1" kern="0" spc="-111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27.8 </a:t>
            </a:r>
            <a:r>
              <a:rPr lang="en-US" sz="1800" b="1" kern="0" spc="-111" dirty="0">
                <a:solidFill>
                  <a:srgbClr val="6E66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mV</a:t>
            </a:r>
            <a:endParaRPr lang="en-US" sz="5550" dirty="0"/>
          </a:p>
        </p:txBody>
      </p:sp>
      <p:sp>
        <p:nvSpPr>
          <p:cNvPr id="13" name="Text 11"/>
          <p:cNvSpPr/>
          <p:nvPr/>
        </p:nvSpPr>
        <p:spPr>
          <a:xfrm>
            <a:off x="2902372" y="4123655"/>
            <a:ext cx="1695004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dirty="0">
                <a:solidFill>
                  <a:srgbClr val="6E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lower is better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62000" y="4890418"/>
            <a:ext cx="3895711" cy="9382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75" dirty="0">
                <a:solidFill>
                  <a:srgbClr val="403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 and a lone decision tree perform</a:t>
            </a:r>
            <a:r>
              <a:rPr lang="zh-CN" altLang="en-US" sz="1575" dirty="0">
                <a:solidFill>
                  <a:srgbClr val="403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altLang="zh-CN" sz="1575" dirty="0">
                <a:solidFill>
                  <a:srgbClr val="403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</a:t>
            </a:r>
            <a:r>
              <a:rPr lang="en-US" sz="1575" dirty="0">
                <a:solidFill>
                  <a:srgbClr val="403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the tree ensembles and the committee cluster at the top.</a:t>
            </a:r>
            <a:endParaRPr lang="en-US" sz="1575" dirty="0"/>
          </a:p>
        </p:txBody>
      </p:sp>
      <p:sp>
        <p:nvSpPr>
          <p:cNvPr id="15" name="Shape 13"/>
          <p:cNvSpPr/>
          <p:nvPr/>
        </p:nvSpPr>
        <p:spPr>
          <a:xfrm>
            <a:off x="5397475" y="1157288"/>
            <a:ext cx="6032525" cy="40005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8E3DB"/>
            </a:solidFill>
            <a:prstDash val="solid"/>
          </a:ln>
          <a:effectLst>
            <a:outerShdw blurRad="114300" dist="38100" dir="5400000" algn="bl" rotWithShape="0">
              <a:srgbClr val="1A1714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578450" y="1338263"/>
            <a:ext cx="5670575" cy="363855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5627840" y="5272088"/>
            <a:ext cx="5802160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dirty="0">
                <a:solidFill>
                  <a:srgbClr val="6E66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Test R² (higher better) and MAE (lower better) across six models.</a:t>
            </a:r>
            <a:endParaRPr lang="en-US" sz="1125" dirty="0"/>
          </a:p>
        </p:txBody>
      </p:sp>
      <p:sp>
        <p:nvSpPr>
          <p:cNvPr id="19" name="Shape 16"/>
          <p:cNvSpPr/>
          <p:nvPr/>
        </p:nvSpPr>
        <p:spPr>
          <a:xfrm>
            <a:off x="762000" y="6176963"/>
            <a:ext cx="10668000" cy="9525"/>
          </a:xfrm>
          <a:prstGeom prst="rect">
            <a:avLst/>
          </a:prstGeom>
          <a:solidFill>
            <a:srgbClr val="E8E3D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762000" y="6319838"/>
            <a:ext cx="2527995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8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UChicago PME · AI Training</a:t>
            </a:r>
            <a:endParaRPr lang="en-US" sz="1125" dirty="0"/>
          </a:p>
        </p:txBody>
      </p:sp>
      <p:sp>
        <p:nvSpPr>
          <p:cNvPr id="21" name="Text 18"/>
          <p:cNvSpPr/>
          <p:nvPr/>
        </p:nvSpPr>
        <p:spPr>
          <a:xfrm>
            <a:off x="9544050" y="6319838"/>
            <a:ext cx="1962150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938A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1a — Activity</a:t>
            </a:r>
            <a:endParaRPr lang="en-US" sz="1125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62000" y="979363"/>
            <a:ext cx="1218084" cy="2619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8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1A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2018184" y="965076"/>
            <a:ext cx="210621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B07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 INTERPRETATION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62000" y="1431801"/>
            <a:ext cx="457200" cy="28575"/>
          </a:xfrm>
          <a:prstGeom prst="roundRect">
            <a:avLst>
              <a:gd name="adj" fmla="val 50000"/>
            </a:avLst>
          </a:prstGeom>
          <a:solidFill>
            <a:srgbClr val="80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62000" y="1669926"/>
            <a:ext cx="5092009" cy="9844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3450" b="1" kern="0" spc="-69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factors drive performance?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762000" y="2844924"/>
            <a:ext cx="4081272" cy="1609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50" dirty="0">
                <a:solidFill>
                  <a:srgbClr val="403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 attributes each prediction back to its features. Atomic radius, electronegativity, and catalyst loading lead.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762000" y="4645149"/>
            <a:ext cx="4943698" cy="1247775"/>
          </a:xfrm>
          <a:prstGeom prst="roundRect">
            <a:avLst>
              <a:gd name="adj" fmla="val 7634"/>
            </a:avLst>
          </a:prstGeom>
          <a:solidFill>
            <a:srgbClr val="FA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62000" y="4645149"/>
            <a:ext cx="28575" cy="1247775"/>
          </a:xfrm>
          <a:prstGeom prst="rect">
            <a:avLst/>
          </a:prstGeom>
          <a:solidFill>
            <a:srgbClr val="80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019175" y="4835649"/>
            <a:ext cx="4591661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00" b="1" dirty="0">
                <a:solidFill>
                  <a:srgbClr val="5B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it as a decision tool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19175" y="5159499"/>
            <a:ext cx="4591661" cy="581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25" dirty="0">
                <a:solidFill>
                  <a:srgbClr val="403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Color is feature value; spread is impact. It tells you how importance a feature is and how it impacts the output</a:t>
            </a:r>
            <a:endParaRPr lang="en-US" sz="1425" dirty="0"/>
          </a:p>
        </p:txBody>
      </p:sp>
      <p:sp>
        <p:nvSpPr>
          <p:cNvPr id="12" name="Shape 10"/>
          <p:cNvSpPr/>
          <p:nvPr/>
        </p:nvSpPr>
        <p:spPr>
          <a:xfrm>
            <a:off x="6239098" y="871538"/>
            <a:ext cx="5190902" cy="45720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E8E3DB"/>
            </a:solidFill>
            <a:prstDash val="solid"/>
          </a:ln>
          <a:effectLst>
            <a:outerShdw blurRad="114300" dist="38100" dir="5400000" algn="bl" rotWithShape="0">
              <a:srgbClr val="1A1714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420073" y="1052513"/>
            <a:ext cx="4828952" cy="421005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6096000" y="5557838"/>
            <a:ext cx="5469147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dirty="0">
                <a:solidFill>
                  <a:srgbClr val="6E66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SHAP </a:t>
            </a:r>
            <a:r>
              <a:rPr lang="en-US" sz="1125" dirty="0" err="1">
                <a:solidFill>
                  <a:srgbClr val="6E66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beeswarm</a:t>
            </a:r>
            <a:r>
              <a:rPr lang="en-US" sz="1125" dirty="0">
                <a:solidFill>
                  <a:srgbClr val="6E66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illustrates feature impact on the XGBoost activity model.</a:t>
            </a:r>
            <a:endParaRPr lang="en-US" sz="1125" dirty="0"/>
          </a:p>
        </p:txBody>
      </p:sp>
      <p:sp>
        <p:nvSpPr>
          <p:cNvPr id="16" name="Shape 13"/>
          <p:cNvSpPr/>
          <p:nvPr/>
        </p:nvSpPr>
        <p:spPr>
          <a:xfrm>
            <a:off x="762000" y="6176963"/>
            <a:ext cx="10668000" cy="9525"/>
          </a:xfrm>
          <a:prstGeom prst="rect">
            <a:avLst/>
          </a:prstGeom>
          <a:solidFill>
            <a:srgbClr val="E8E3D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762000" y="6319838"/>
            <a:ext cx="2527995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8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UChicago PME · AI Training</a:t>
            </a:r>
            <a:endParaRPr lang="en-US" sz="1125" dirty="0"/>
          </a:p>
        </p:txBody>
      </p:sp>
      <p:sp>
        <p:nvSpPr>
          <p:cNvPr id="18" name="Text 15"/>
          <p:cNvSpPr/>
          <p:nvPr/>
        </p:nvSpPr>
        <p:spPr>
          <a:xfrm>
            <a:off x="9544050" y="6319838"/>
            <a:ext cx="1962150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938A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1a — Activity</a:t>
            </a:r>
            <a:endParaRPr lang="en-US" sz="1125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D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38200" y="1281931"/>
            <a:ext cx="1218084" cy="2619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EAA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1B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2094384" y="1267644"/>
            <a:ext cx="3136374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D9A86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 TABULAR ML · STABILITY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38200" y="1734369"/>
            <a:ext cx="457200" cy="28575"/>
          </a:xfrm>
          <a:prstGeom prst="roundRect">
            <a:avLst>
              <a:gd name="adj" fmla="val 50000"/>
            </a:avLst>
          </a:prstGeom>
          <a:solidFill>
            <a:srgbClr val="EAAA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38200" y="1972494"/>
            <a:ext cx="7267696" cy="1560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5550" b="1" kern="0" spc="-11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template, a </a:t>
            </a:r>
            <a:r>
              <a:rPr lang="en-US" sz="5550" i="1" kern="0" spc="-111" dirty="0">
                <a:solidFill>
                  <a:srgbClr val="EAA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target</a:t>
            </a:r>
            <a:endParaRPr lang="en-US" sz="5550" dirty="0"/>
          </a:p>
        </p:txBody>
      </p:sp>
      <p:sp>
        <p:nvSpPr>
          <p:cNvPr id="7" name="Text 5"/>
          <p:cNvSpPr/>
          <p:nvPr/>
        </p:nvSpPr>
        <p:spPr>
          <a:xfrm>
            <a:off x="838200" y="3761556"/>
            <a:ext cx="8020792" cy="1109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75" dirty="0">
                <a:solidFill>
                  <a:srgbClr val="E7C9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the identical composition-to-property pipeline at stability namely predict catalyst performance decay rate, where lower means more stable. </a:t>
            </a:r>
            <a:endParaRPr lang="en-US" sz="1875" dirty="0"/>
          </a:p>
        </p:txBody>
      </p:sp>
      <p:sp>
        <p:nvSpPr>
          <p:cNvPr id="14" name="Shape 12"/>
          <p:cNvSpPr/>
          <p:nvPr/>
        </p:nvSpPr>
        <p:spPr>
          <a:xfrm>
            <a:off x="762000" y="6176963"/>
            <a:ext cx="10668000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62000" y="6319838"/>
            <a:ext cx="2527995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EAA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UChicago PME · AI Training</a:t>
            </a:r>
            <a:endParaRPr lang="en-US" sz="1125" dirty="0"/>
          </a:p>
        </p:txBody>
      </p:sp>
      <p:sp>
        <p:nvSpPr>
          <p:cNvPr id="16" name="Text 14"/>
          <p:cNvSpPr/>
          <p:nvPr/>
        </p:nvSpPr>
        <p:spPr>
          <a:xfrm>
            <a:off x="9449693" y="6319838"/>
            <a:ext cx="2056507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B3756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1b — Stability</a:t>
            </a:r>
            <a:endParaRPr lang="en-US" sz="112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62000" y="837977"/>
            <a:ext cx="1218084" cy="2619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8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1B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2018184" y="823689"/>
            <a:ext cx="1218084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B07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 RESULTS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62000" y="1290414"/>
            <a:ext cx="457200" cy="28575"/>
          </a:xfrm>
          <a:prstGeom prst="roundRect">
            <a:avLst>
              <a:gd name="adj" fmla="val 50000"/>
            </a:avLst>
          </a:prstGeom>
          <a:solidFill>
            <a:srgbClr val="80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62000" y="1528539"/>
            <a:ext cx="4225137" cy="145769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3450" b="1" kern="0" spc="-69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 target, the same strong baseline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762000" y="3214836"/>
            <a:ext cx="2173932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kern="0" spc="127" dirty="0">
                <a:solidFill>
                  <a:srgbClr val="6E66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RF / COMMITTEE R²</a:t>
            </a:r>
            <a:endParaRPr lang="en-US" sz="1275" dirty="0"/>
          </a:p>
        </p:txBody>
      </p:sp>
      <p:sp>
        <p:nvSpPr>
          <p:cNvPr id="8" name="Text 6"/>
          <p:cNvSpPr/>
          <p:nvPr/>
        </p:nvSpPr>
        <p:spPr>
          <a:xfrm>
            <a:off x="762000" y="3552974"/>
            <a:ext cx="2173932" cy="742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5550" b="1" kern="0" spc="-111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0.90</a:t>
            </a:r>
            <a:endParaRPr lang="en-US" sz="5550" dirty="0"/>
          </a:p>
        </p:txBody>
      </p:sp>
      <p:sp>
        <p:nvSpPr>
          <p:cNvPr id="9" name="Text 7"/>
          <p:cNvSpPr/>
          <p:nvPr/>
        </p:nvSpPr>
        <p:spPr>
          <a:xfrm>
            <a:off x="761999" y="4353074"/>
            <a:ext cx="3538539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dirty="0">
                <a:solidFill>
                  <a:srgbClr val="6E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 is the easier target here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62000" y="5134124"/>
            <a:ext cx="3895711" cy="9382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75" dirty="0">
                <a:solidFill>
                  <a:srgbClr val="403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 Forest and the committee reach R² ≈ 0.88–0.90</a:t>
            </a:r>
            <a:r>
              <a:rPr lang="zh-CN" altLang="en-US" sz="1575" dirty="0">
                <a:solidFill>
                  <a:srgbClr val="403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：</a:t>
            </a:r>
            <a:r>
              <a:rPr lang="en-US" sz="1575" dirty="0">
                <a:solidFill>
                  <a:srgbClr val="403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 stronger than activity, on a smaller table.</a:t>
            </a:r>
            <a:endParaRPr lang="en-US" sz="1575" dirty="0"/>
          </a:p>
        </p:txBody>
      </p:sp>
      <p:sp>
        <p:nvSpPr>
          <p:cNvPr id="11" name="Shape 9"/>
          <p:cNvSpPr/>
          <p:nvPr/>
        </p:nvSpPr>
        <p:spPr>
          <a:xfrm>
            <a:off x="5397475" y="1264444"/>
            <a:ext cx="6032525" cy="40005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8E3DB"/>
            </a:solidFill>
            <a:prstDash val="solid"/>
          </a:ln>
          <a:effectLst>
            <a:outerShdw blurRad="114300" dist="38100" dir="5400000" algn="bl" rotWithShape="0">
              <a:srgbClr val="1A1714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578450" y="1445419"/>
            <a:ext cx="5670575" cy="363855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6178525" y="5379244"/>
            <a:ext cx="4768025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dirty="0">
                <a:solidFill>
                  <a:srgbClr val="6E66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Test R² and MAE across models on the stability target.</a:t>
            </a:r>
            <a:endParaRPr lang="en-US" sz="1125" dirty="0"/>
          </a:p>
        </p:txBody>
      </p:sp>
      <p:sp>
        <p:nvSpPr>
          <p:cNvPr id="15" name="Shape 12"/>
          <p:cNvSpPr/>
          <p:nvPr/>
        </p:nvSpPr>
        <p:spPr>
          <a:xfrm>
            <a:off x="762000" y="6176963"/>
            <a:ext cx="10668000" cy="9525"/>
          </a:xfrm>
          <a:prstGeom prst="rect">
            <a:avLst/>
          </a:prstGeom>
          <a:solidFill>
            <a:srgbClr val="E8E3D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762000" y="6319838"/>
            <a:ext cx="2527995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8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UChicago PME · AI Training</a:t>
            </a:r>
            <a:endParaRPr lang="en-US" sz="1125" dirty="0"/>
          </a:p>
        </p:txBody>
      </p:sp>
      <p:sp>
        <p:nvSpPr>
          <p:cNvPr id="17" name="Text 14"/>
          <p:cNvSpPr/>
          <p:nvPr/>
        </p:nvSpPr>
        <p:spPr>
          <a:xfrm>
            <a:off x="9449693" y="6319838"/>
            <a:ext cx="2056507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938A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1b — Stability</a:t>
            </a:r>
            <a:endParaRPr lang="en-US" sz="112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62000" y="1000795"/>
            <a:ext cx="1218084" cy="2619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8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1B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2018184" y="986507"/>
            <a:ext cx="1598712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B07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 THE LESSON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62000" y="1453232"/>
            <a:ext cx="457200" cy="28575"/>
          </a:xfrm>
          <a:prstGeom prst="roundRect">
            <a:avLst>
              <a:gd name="adj" fmla="val 50000"/>
            </a:avLst>
          </a:prstGeom>
          <a:solidFill>
            <a:srgbClr val="80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62000" y="1691357"/>
            <a:ext cx="5092009" cy="9844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3450" b="1" kern="0" spc="-69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Activity and stability are </a:t>
            </a:r>
            <a:r>
              <a:rPr lang="en-US" sz="3450" i="1" kern="0" spc="-69" dirty="0">
                <a:solidFill>
                  <a:srgbClr val="8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 problems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762000" y="2866355"/>
            <a:ext cx="4851566" cy="16026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50" dirty="0">
                <a:solidFill>
                  <a:srgbClr val="403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Comparing the two SHAP rankings shows they are governed by partly different factors. A model good at one is not automatically good at the other.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762000" y="4866605"/>
            <a:ext cx="4943698" cy="1004888"/>
          </a:xfrm>
          <a:prstGeom prst="roundRect">
            <a:avLst>
              <a:gd name="adj" fmla="val 6270"/>
            </a:avLst>
          </a:prstGeom>
          <a:solidFill>
            <a:srgbClr val="FDF7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62000" y="4352255"/>
            <a:ext cx="28575" cy="1519238"/>
          </a:xfrm>
          <a:prstGeom prst="rect">
            <a:avLst/>
          </a:prstGeom>
          <a:solidFill>
            <a:srgbClr val="EAAA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021905" y="4990128"/>
            <a:ext cx="4591661" cy="852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25" dirty="0">
                <a:solidFill>
                  <a:srgbClr val="403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Reusing the template on a second target to learn what transfers and what doesn't.</a:t>
            </a:r>
            <a:endParaRPr lang="en-US" sz="1425" dirty="0"/>
          </a:p>
        </p:txBody>
      </p:sp>
      <p:sp>
        <p:nvSpPr>
          <p:cNvPr id="12" name="Shape 10"/>
          <p:cNvSpPr/>
          <p:nvPr/>
        </p:nvSpPr>
        <p:spPr>
          <a:xfrm>
            <a:off x="6239098" y="978694"/>
            <a:ext cx="5190902" cy="45720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E8E3DB"/>
            </a:solidFill>
            <a:prstDash val="solid"/>
          </a:ln>
          <a:effectLst>
            <a:outerShdw blurRad="114300" dist="38100" dir="5400000" algn="bl" rotWithShape="0">
              <a:srgbClr val="1A1714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420073" y="1159669"/>
            <a:ext cx="4828952" cy="421005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7020148" y="5664994"/>
            <a:ext cx="4149947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dirty="0">
                <a:solidFill>
                  <a:srgbClr val="6E66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SHAP beeswarm — drivers of the stability model.</a:t>
            </a:r>
            <a:endParaRPr lang="en-US" sz="1125" dirty="0"/>
          </a:p>
        </p:txBody>
      </p:sp>
      <p:sp>
        <p:nvSpPr>
          <p:cNvPr id="16" name="Shape 13"/>
          <p:cNvSpPr/>
          <p:nvPr/>
        </p:nvSpPr>
        <p:spPr>
          <a:xfrm>
            <a:off x="762000" y="6176963"/>
            <a:ext cx="10668000" cy="9525"/>
          </a:xfrm>
          <a:prstGeom prst="rect">
            <a:avLst/>
          </a:prstGeom>
          <a:solidFill>
            <a:srgbClr val="E8E3D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762000" y="6319838"/>
            <a:ext cx="2527995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8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UChicago PME · AI Training</a:t>
            </a:r>
            <a:endParaRPr lang="en-US" sz="1125" dirty="0"/>
          </a:p>
        </p:txBody>
      </p:sp>
      <p:sp>
        <p:nvSpPr>
          <p:cNvPr id="18" name="Text 15"/>
          <p:cNvSpPr/>
          <p:nvPr/>
        </p:nvSpPr>
        <p:spPr>
          <a:xfrm>
            <a:off x="9449693" y="6319838"/>
            <a:ext cx="2056507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938A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1b — Stability</a:t>
            </a:r>
            <a:endParaRPr lang="en-US" sz="112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4274D-153A-677A-A80D-B7832808B0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29250E7-D54D-FE29-5F1C-5D50DD58C86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D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C39989B-AD6E-24C2-CB2A-51386E6D5413}"/>
              </a:ext>
            </a:extLst>
          </p:cNvPr>
          <p:cNvSpPr/>
          <p:nvPr/>
        </p:nvSpPr>
        <p:spPr>
          <a:xfrm>
            <a:off x="838200" y="1281931"/>
            <a:ext cx="1218084" cy="2619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EAA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1C</a:t>
            </a:r>
            <a:endParaRPr lang="en-US" sz="135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CABA208-21B8-E5BA-3F5D-EC91D75C93CB}"/>
              </a:ext>
            </a:extLst>
          </p:cNvPr>
          <p:cNvSpPr/>
          <p:nvPr/>
        </p:nvSpPr>
        <p:spPr>
          <a:xfrm>
            <a:off x="2094384" y="1267644"/>
            <a:ext cx="3136374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D9A86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 DATASET GALLERY</a:t>
            </a:r>
            <a:endParaRPr lang="en-US" sz="135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F4F53C16-C373-501B-46F5-BEE5006E89E5}"/>
              </a:ext>
            </a:extLst>
          </p:cNvPr>
          <p:cNvSpPr/>
          <p:nvPr/>
        </p:nvSpPr>
        <p:spPr>
          <a:xfrm>
            <a:off x="838200" y="1734369"/>
            <a:ext cx="457200" cy="28575"/>
          </a:xfrm>
          <a:prstGeom prst="roundRect">
            <a:avLst>
              <a:gd name="adj" fmla="val 50000"/>
            </a:avLst>
          </a:prstGeom>
          <a:solidFill>
            <a:srgbClr val="EAAA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0C0923A-76D8-784B-0CD2-2D1E15DA2F3C}"/>
              </a:ext>
            </a:extLst>
          </p:cNvPr>
          <p:cNvSpPr/>
          <p:nvPr/>
        </p:nvSpPr>
        <p:spPr>
          <a:xfrm>
            <a:off x="838200" y="1972494"/>
            <a:ext cx="7267696" cy="1560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5550" b="1" kern="0" spc="-11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pipeline, </a:t>
            </a:r>
            <a:r>
              <a:rPr lang="en-US" sz="5550" i="1" kern="0" spc="-111" dirty="0">
                <a:solidFill>
                  <a:srgbClr val="EAA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domains</a:t>
            </a:r>
            <a:endParaRPr lang="en-US" sz="55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A43ED200-5BED-24E1-B2F6-3FA7B4376B75}"/>
              </a:ext>
            </a:extLst>
          </p:cNvPr>
          <p:cNvSpPr/>
          <p:nvPr/>
        </p:nvSpPr>
        <p:spPr>
          <a:xfrm>
            <a:off x="838200" y="3761556"/>
            <a:ext cx="8020792" cy="1109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75" dirty="0">
                <a:solidFill>
                  <a:srgbClr val="E7C9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collection of other different chemistry/materials science related domains</a:t>
            </a:r>
            <a:endParaRPr lang="en-US" sz="1875" dirty="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5347A07E-939B-2521-1FEB-09037D46899B}"/>
              </a:ext>
            </a:extLst>
          </p:cNvPr>
          <p:cNvSpPr/>
          <p:nvPr/>
        </p:nvSpPr>
        <p:spPr>
          <a:xfrm>
            <a:off x="762000" y="6176963"/>
            <a:ext cx="10668000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3E6CA47F-165A-6ADA-5897-92B1AB9B3201}"/>
              </a:ext>
            </a:extLst>
          </p:cNvPr>
          <p:cNvSpPr/>
          <p:nvPr/>
        </p:nvSpPr>
        <p:spPr>
          <a:xfrm>
            <a:off x="762000" y="6319838"/>
            <a:ext cx="2527995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EAA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UChicago PME · AI Training</a:t>
            </a:r>
            <a:endParaRPr lang="en-US" sz="1125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3CED5EBB-FF06-B101-6DA8-86F263F62849}"/>
              </a:ext>
            </a:extLst>
          </p:cNvPr>
          <p:cNvSpPr/>
          <p:nvPr/>
        </p:nvSpPr>
        <p:spPr>
          <a:xfrm>
            <a:off x="9449693" y="6319838"/>
            <a:ext cx="2056507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B3756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1b — Stability</a:t>
            </a:r>
            <a:endParaRPr lang="en-US" sz="1125" dirty="0"/>
          </a:p>
        </p:txBody>
      </p:sp>
    </p:spTree>
    <p:extLst>
      <p:ext uri="{BB962C8B-B14F-4D97-AF65-F5344CB8AC3E}">
        <p14:creationId xmlns:p14="http://schemas.microsoft.com/office/powerpoint/2010/main" val="26518487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28754-DB95-B8D5-F4B6-4A81DAA41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53F4E6D-FCA9-6781-9BED-B80ABB56DE0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A793B47-B503-933B-66DD-B748EDB16C9E}"/>
              </a:ext>
            </a:extLst>
          </p:cNvPr>
          <p:cNvSpPr/>
          <p:nvPr/>
        </p:nvSpPr>
        <p:spPr>
          <a:xfrm>
            <a:off x="762000" y="837977"/>
            <a:ext cx="1218084" cy="2619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8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1B</a:t>
            </a:r>
            <a:endParaRPr lang="en-US" sz="135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5461C7F-8B4C-FFFB-60AE-4F6DB3EA89C4}"/>
              </a:ext>
            </a:extLst>
          </p:cNvPr>
          <p:cNvSpPr/>
          <p:nvPr/>
        </p:nvSpPr>
        <p:spPr>
          <a:xfrm>
            <a:off x="2018184" y="823689"/>
            <a:ext cx="1218084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B07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 RESULTS</a:t>
            </a:r>
            <a:endParaRPr lang="en-US" sz="135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29184C4C-9092-92F7-C6C8-139BCE2CFD13}"/>
              </a:ext>
            </a:extLst>
          </p:cNvPr>
          <p:cNvSpPr/>
          <p:nvPr/>
        </p:nvSpPr>
        <p:spPr>
          <a:xfrm>
            <a:off x="762000" y="1290414"/>
            <a:ext cx="457200" cy="28575"/>
          </a:xfrm>
          <a:prstGeom prst="roundRect">
            <a:avLst>
              <a:gd name="adj" fmla="val 50000"/>
            </a:avLst>
          </a:prstGeom>
          <a:solidFill>
            <a:srgbClr val="80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D912D5B3-EA91-6DDC-F448-0A6EFED6DA22}"/>
              </a:ext>
            </a:extLst>
          </p:cNvPr>
          <p:cNvSpPr/>
          <p:nvPr/>
        </p:nvSpPr>
        <p:spPr>
          <a:xfrm>
            <a:off x="762000" y="1528539"/>
            <a:ext cx="4225137" cy="145769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3450" b="1" kern="0" spc="-69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Composition features → Model ladder → SHAP</a:t>
            </a:r>
            <a:endParaRPr lang="en-US" sz="34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83C8AF1C-26BE-576B-6080-D88CE3770767}"/>
              </a:ext>
            </a:extLst>
          </p:cNvPr>
          <p:cNvSpPr/>
          <p:nvPr/>
        </p:nvSpPr>
        <p:spPr>
          <a:xfrm>
            <a:off x="762000" y="3214836"/>
            <a:ext cx="2173932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kern="0" spc="127" dirty="0">
                <a:solidFill>
                  <a:srgbClr val="6E66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R²</a:t>
            </a:r>
            <a:endParaRPr lang="en-US" sz="1275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C68E59C7-BB07-6B9B-3A82-CFAFD3DA9A59}"/>
              </a:ext>
            </a:extLst>
          </p:cNvPr>
          <p:cNvSpPr/>
          <p:nvPr/>
        </p:nvSpPr>
        <p:spPr>
          <a:xfrm>
            <a:off x="762000" y="3552974"/>
            <a:ext cx="2173932" cy="742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00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5550" b="1" kern="0" spc="-111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0.86–0.98</a:t>
            </a:r>
            <a:endParaRPr lang="en-US" sz="555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34D6A6C9-A427-6432-3DA4-5C5808CAE032}"/>
              </a:ext>
            </a:extLst>
          </p:cNvPr>
          <p:cNvSpPr/>
          <p:nvPr/>
        </p:nvSpPr>
        <p:spPr>
          <a:xfrm>
            <a:off x="761999" y="4353074"/>
            <a:ext cx="3599794" cy="15381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dirty="0">
                <a:solidFill>
                  <a:srgbClr val="6E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Steels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dirty="0">
                <a:solidFill>
                  <a:srgbClr val="6E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MAX-phase ceramics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dirty="0">
                <a:solidFill>
                  <a:srgbClr val="6E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Double perovskites (PV)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dirty="0">
                <a:solidFill>
                  <a:srgbClr val="6E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Heusler magnets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600" dirty="0">
                <a:solidFill>
                  <a:srgbClr val="6E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Formation enthalpy</a:t>
            </a:r>
            <a:endParaRPr lang="en-US" sz="16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A6FF12D6-56E2-2153-6850-E1C5CD3AFFF7}"/>
              </a:ext>
            </a:extLst>
          </p:cNvPr>
          <p:cNvSpPr/>
          <p:nvPr/>
        </p:nvSpPr>
        <p:spPr>
          <a:xfrm>
            <a:off x="5397475" y="1264444"/>
            <a:ext cx="6032525" cy="40005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8E3DB"/>
            </a:solidFill>
            <a:prstDash val="solid"/>
          </a:ln>
          <a:effectLst>
            <a:outerShdw blurRad="114300" dist="38100" dir="5400000" algn="bl" rotWithShape="0">
              <a:srgbClr val="1A1714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5AA4ACBD-9642-F967-1C9F-19319D45854D}"/>
              </a:ext>
            </a:extLst>
          </p:cNvPr>
          <p:cNvSpPr/>
          <p:nvPr/>
        </p:nvSpPr>
        <p:spPr>
          <a:xfrm>
            <a:off x="762000" y="6176963"/>
            <a:ext cx="10668000" cy="9525"/>
          </a:xfrm>
          <a:prstGeom prst="rect">
            <a:avLst/>
          </a:prstGeom>
          <a:solidFill>
            <a:srgbClr val="E8E3D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1DBDC999-56BF-6C50-CEFD-B2DC495A8F26}"/>
              </a:ext>
            </a:extLst>
          </p:cNvPr>
          <p:cNvSpPr/>
          <p:nvPr/>
        </p:nvSpPr>
        <p:spPr>
          <a:xfrm>
            <a:off x="762000" y="6319838"/>
            <a:ext cx="2527995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8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UChicago PME · AI Training</a:t>
            </a:r>
            <a:endParaRPr lang="en-US" sz="1125" dirty="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8918062D-D824-2673-0880-747A350B4EE7}"/>
              </a:ext>
            </a:extLst>
          </p:cNvPr>
          <p:cNvSpPr/>
          <p:nvPr/>
        </p:nvSpPr>
        <p:spPr>
          <a:xfrm>
            <a:off x="9449693" y="6319838"/>
            <a:ext cx="2056507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00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938A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1c — Dataset Gallery</a:t>
            </a:r>
            <a:endParaRPr lang="en-US" sz="1125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0F70D07-2746-B887-40E8-758F0BF78D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461" y="1843954"/>
            <a:ext cx="5774135" cy="2989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30088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D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38200" y="1281931"/>
            <a:ext cx="1218084" cy="2619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EAA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2A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2094384" y="1267644"/>
            <a:ext cx="2106588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D9A86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 TEXT → DATASET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38200" y="1734369"/>
            <a:ext cx="457200" cy="28575"/>
          </a:xfrm>
          <a:prstGeom prst="roundRect">
            <a:avLst>
              <a:gd name="adj" fmla="val 50000"/>
            </a:avLst>
          </a:prstGeom>
          <a:solidFill>
            <a:srgbClr val="EAAA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38200" y="1972494"/>
            <a:ext cx="6863923" cy="1560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5550" b="1" kern="0" spc="-11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papers to a </a:t>
            </a:r>
            <a:r>
              <a:rPr lang="en-US" sz="5550" i="1" kern="0" spc="-111" dirty="0">
                <a:solidFill>
                  <a:srgbClr val="EAA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dataset</a:t>
            </a:r>
            <a:endParaRPr lang="en-US" sz="5550" dirty="0"/>
          </a:p>
        </p:txBody>
      </p:sp>
      <p:sp>
        <p:nvSpPr>
          <p:cNvPr id="7" name="Text 5"/>
          <p:cNvSpPr/>
          <p:nvPr/>
        </p:nvSpPr>
        <p:spPr>
          <a:xfrm>
            <a:off x="838200" y="3761556"/>
            <a:ext cx="7093096" cy="1109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75" dirty="0">
                <a:solidFill>
                  <a:srgbClr val="E7C9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a corpus of papers into a validated table with an LLM.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875" dirty="0">
                <a:solidFill>
                  <a:srgbClr val="E7C9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auto prompt optimization applied. </a:t>
            </a:r>
            <a:endParaRPr lang="en-US" sz="1875" dirty="0"/>
          </a:p>
        </p:txBody>
      </p:sp>
      <p:sp>
        <p:nvSpPr>
          <p:cNvPr id="8" name="Shape 6"/>
          <p:cNvSpPr/>
          <p:nvPr/>
        </p:nvSpPr>
        <p:spPr>
          <a:xfrm>
            <a:off x="838200" y="5214119"/>
            <a:ext cx="2753171" cy="376238"/>
          </a:xfrm>
          <a:prstGeom prst="roundRect">
            <a:avLst>
              <a:gd name="adj" fmla="val 50000"/>
            </a:avLst>
          </a:prstGeom>
          <a:solidFill>
            <a:srgbClr val="EAAA00">
              <a:alpha val="1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990600" y="5280794"/>
            <a:ext cx="2530967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kern="0" spc="38" dirty="0">
                <a:solidFill>
                  <a:srgbClr val="EAA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150 FET-biosensor papers</a:t>
            </a:r>
            <a:endParaRPr lang="en-US" sz="1275" dirty="0"/>
          </a:p>
        </p:txBody>
      </p:sp>
      <p:sp>
        <p:nvSpPr>
          <p:cNvPr id="10" name="Shape 8"/>
          <p:cNvSpPr/>
          <p:nvPr/>
        </p:nvSpPr>
        <p:spPr>
          <a:xfrm>
            <a:off x="3686621" y="5214119"/>
            <a:ext cx="1120973" cy="376238"/>
          </a:xfrm>
          <a:prstGeom prst="roundRect">
            <a:avLst>
              <a:gd name="adj" fmla="val 50000"/>
            </a:avLst>
          </a:prstGeom>
          <a:solidFill>
            <a:srgbClr val="EAAA00">
              <a:alpha val="1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839021" y="5280794"/>
            <a:ext cx="892373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kern="0" spc="38" dirty="0">
                <a:solidFill>
                  <a:srgbClr val="EAA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 fields</a:t>
            </a:r>
            <a:endParaRPr lang="en-US" sz="1275" dirty="0"/>
          </a:p>
        </p:txBody>
      </p:sp>
      <p:sp>
        <p:nvSpPr>
          <p:cNvPr id="14" name="Shape 12"/>
          <p:cNvSpPr/>
          <p:nvPr/>
        </p:nvSpPr>
        <p:spPr>
          <a:xfrm>
            <a:off x="762000" y="6176963"/>
            <a:ext cx="10668000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62000" y="6319838"/>
            <a:ext cx="2527995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EAA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UChicago PME · AI Training</a:t>
            </a:r>
            <a:endParaRPr lang="en-US" sz="1125" dirty="0"/>
          </a:p>
        </p:txBody>
      </p:sp>
      <p:sp>
        <p:nvSpPr>
          <p:cNvPr id="16" name="Text 14"/>
          <p:cNvSpPr/>
          <p:nvPr/>
        </p:nvSpPr>
        <p:spPr>
          <a:xfrm>
            <a:off x="9166845" y="6319838"/>
            <a:ext cx="2339355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B3756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2a — Text to data</a:t>
            </a:r>
            <a:endParaRPr lang="en-US" sz="1125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62000" y="623888"/>
            <a:ext cx="1218084" cy="2619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8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2A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2018184" y="609600"/>
            <a:ext cx="1598712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B07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 THE METHOD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62000" y="1076325"/>
            <a:ext cx="457200" cy="28575"/>
          </a:xfrm>
          <a:prstGeom prst="roundRect">
            <a:avLst>
              <a:gd name="adj" fmla="val 50000"/>
            </a:avLst>
          </a:prstGeom>
          <a:solidFill>
            <a:srgbClr val="80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62000" y="1314450"/>
            <a:ext cx="10988040" cy="51129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3450" b="1" kern="0" spc="-69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schema, three metrics, one loop</a:t>
            </a:r>
            <a:endParaRPr lang="en-US" sz="3450" dirty="0"/>
          </a:p>
        </p:txBody>
      </p:sp>
      <p:sp>
        <p:nvSpPr>
          <p:cNvPr id="7" name="Shape 5"/>
          <p:cNvSpPr/>
          <p:nvPr/>
        </p:nvSpPr>
        <p:spPr>
          <a:xfrm>
            <a:off x="762000" y="2180244"/>
            <a:ext cx="323850" cy="323850"/>
          </a:xfrm>
          <a:prstGeom prst="ellipse">
            <a:avLst/>
          </a:prstGeom>
          <a:solidFill>
            <a:srgbClr val="80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23900" y="2130549"/>
            <a:ext cx="40005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8250" y="2159124"/>
            <a:ext cx="4768025" cy="9306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2000"/>
              </a:lnSpc>
              <a:buNone/>
            </a:pPr>
            <a:r>
              <a:rPr lang="en-US" sz="1650" b="1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Pydantic schema </a:t>
            </a:r>
            <a:r>
              <a:rPr lang="en-US" sz="1650" dirty="0">
                <a:solidFill>
                  <a:srgbClr val="403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the contract for a clean dataset: the fields, types, and units you want out.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762000" y="3244630"/>
            <a:ext cx="323850" cy="323850"/>
          </a:xfrm>
          <a:prstGeom prst="ellipse">
            <a:avLst/>
          </a:prstGeom>
          <a:solidFill>
            <a:srgbClr val="80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23900" y="3184996"/>
            <a:ext cx="40005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38250" y="3213571"/>
            <a:ext cx="4768025" cy="9306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2000"/>
              </a:lnSpc>
              <a:buNone/>
            </a:pPr>
            <a:r>
              <a:rPr lang="en-US" sz="1650" b="1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kinds of metric : </a:t>
            </a:r>
            <a:r>
              <a:rPr lang="en-US" sz="1650" dirty="0">
                <a:solidFill>
                  <a:srgbClr val="403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exact for categories, unit-normalized for numbers, an LLM judge for chemicals.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762000" y="4279200"/>
            <a:ext cx="323850" cy="323850"/>
          </a:xfrm>
          <a:prstGeom prst="ellipse">
            <a:avLst/>
          </a:prstGeom>
          <a:solidFill>
            <a:srgbClr val="80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23900" y="4239444"/>
            <a:ext cx="40005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238250" y="4268019"/>
            <a:ext cx="4768025" cy="9306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2000"/>
              </a:lnSpc>
              <a:buNone/>
            </a:pPr>
            <a:r>
              <a:rPr lang="en-US" sz="1650" b="1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 / val / test discipline </a:t>
            </a:r>
            <a:r>
              <a:rPr lang="en-US" sz="1650" dirty="0">
                <a:solidFill>
                  <a:srgbClr val="403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turns prompt tweaks into measured decisions, the loop DSPy and TextGrad automate.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6324600" y="2502545"/>
            <a:ext cx="5105400" cy="1247775"/>
          </a:xfrm>
          <a:prstGeom prst="roundRect">
            <a:avLst>
              <a:gd name="adj" fmla="val 7634"/>
            </a:avLst>
          </a:prstGeom>
          <a:solidFill>
            <a:srgbClr val="FA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324600" y="2502545"/>
            <a:ext cx="28575" cy="1247775"/>
          </a:xfrm>
          <a:prstGeom prst="rect">
            <a:avLst/>
          </a:prstGeom>
          <a:solidFill>
            <a:srgbClr val="80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581775" y="2693045"/>
            <a:ext cx="4758214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00" b="1" dirty="0">
                <a:solidFill>
                  <a:srgbClr val="5B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is the point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581775" y="3016895"/>
            <a:ext cx="4758214" cy="581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25" dirty="0">
                <a:solidFill>
                  <a:srgbClr val="403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a held-out test set, every prompt change is a guess. With one, it's a decision.</a:t>
            </a:r>
            <a:endParaRPr lang="en-US" sz="1425" dirty="0"/>
          </a:p>
        </p:txBody>
      </p:sp>
      <p:sp>
        <p:nvSpPr>
          <p:cNvPr id="20" name="Shape 18"/>
          <p:cNvSpPr/>
          <p:nvPr/>
        </p:nvSpPr>
        <p:spPr>
          <a:xfrm>
            <a:off x="6324600" y="3921770"/>
            <a:ext cx="1446014" cy="395288"/>
          </a:xfrm>
          <a:prstGeom prst="roundRect">
            <a:avLst>
              <a:gd name="adj" fmla="val 50000"/>
            </a:avLst>
          </a:prstGeom>
          <a:ln w="9525">
            <a:solidFill>
              <a:srgbClr val="C9C2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486525" y="3997970"/>
            <a:ext cx="1198364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kern="0" spc="38" dirty="0">
                <a:solidFill>
                  <a:srgbClr val="403B3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exact match</a:t>
            </a:r>
            <a:endParaRPr lang="en-US" sz="1275" dirty="0"/>
          </a:p>
        </p:txBody>
      </p:sp>
      <p:sp>
        <p:nvSpPr>
          <p:cNvPr id="22" name="Shape 20"/>
          <p:cNvSpPr/>
          <p:nvPr/>
        </p:nvSpPr>
        <p:spPr>
          <a:xfrm>
            <a:off x="7865864" y="3921770"/>
            <a:ext cx="1854101" cy="395288"/>
          </a:xfrm>
          <a:prstGeom prst="roundRect">
            <a:avLst>
              <a:gd name="adj" fmla="val 50000"/>
            </a:avLst>
          </a:prstGeom>
          <a:ln w="9525">
            <a:solidFill>
              <a:srgbClr val="C9C2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8027789" y="3997970"/>
            <a:ext cx="1606451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kern="0" spc="38" dirty="0">
                <a:solidFill>
                  <a:srgbClr val="403B3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unit-normalized</a:t>
            </a:r>
            <a:endParaRPr lang="en-US" sz="1275" dirty="0"/>
          </a:p>
        </p:txBody>
      </p:sp>
      <p:sp>
        <p:nvSpPr>
          <p:cNvPr id="24" name="Shape 22"/>
          <p:cNvSpPr/>
          <p:nvPr/>
        </p:nvSpPr>
        <p:spPr>
          <a:xfrm>
            <a:off x="9815215" y="3921770"/>
            <a:ext cx="1241971" cy="395288"/>
          </a:xfrm>
          <a:prstGeom prst="roundRect">
            <a:avLst>
              <a:gd name="adj" fmla="val 50000"/>
            </a:avLst>
          </a:prstGeom>
          <a:ln w="9525">
            <a:solidFill>
              <a:srgbClr val="C9C2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9977140" y="3997970"/>
            <a:ext cx="994321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kern="0" spc="38" dirty="0">
                <a:solidFill>
                  <a:srgbClr val="403B3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LLM judge</a:t>
            </a:r>
            <a:endParaRPr lang="en-US" sz="1275" dirty="0"/>
          </a:p>
        </p:txBody>
      </p:sp>
      <p:sp>
        <p:nvSpPr>
          <p:cNvPr id="26" name="Shape 24"/>
          <p:cNvSpPr/>
          <p:nvPr/>
        </p:nvSpPr>
        <p:spPr>
          <a:xfrm>
            <a:off x="6324600" y="4412307"/>
            <a:ext cx="2141041" cy="376238"/>
          </a:xfrm>
          <a:prstGeom prst="roundRect">
            <a:avLst>
              <a:gd name="adj" fmla="val 50000"/>
            </a:avLst>
          </a:prstGeom>
          <a:solidFill>
            <a:srgbClr val="FDF7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477000" y="4478982"/>
            <a:ext cx="1912441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kern="0" spc="38" dirty="0">
                <a:solidFill>
                  <a:srgbClr val="B07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60 / 39 / 51 split</a:t>
            </a:r>
            <a:endParaRPr lang="en-US" sz="1275" dirty="0"/>
          </a:p>
        </p:txBody>
      </p:sp>
      <p:sp>
        <p:nvSpPr>
          <p:cNvPr id="28" name="Shape 26"/>
          <p:cNvSpPr/>
          <p:nvPr/>
        </p:nvSpPr>
        <p:spPr>
          <a:xfrm>
            <a:off x="762000" y="6176963"/>
            <a:ext cx="10668000" cy="9525"/>
          </a:xfrm>
          <a:prstGeom prst="rect">
            <a:avLst/>
          </a:prstGeom>
          <a:solidFill>
            <a:srgbClr val="E8E3D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762000" y="6319838"/>
            <a:ext cx="2527995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8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UChicago PME · AI Training</a:t>
            </a:r>
            <a:endParaRPr lang="en-US" sz="1125" dirty="0"/>
          </a:p>
        </p:txBody>
      </p:sp>
      <p:sp>
        <p:nvSpPr>
          <p:cNvPr id="30" name="Text 28"/>
          <p:cNvSpPr/>
          <p:nvPr/>
        </p:nvSpPr>
        <p:spPr>
          <a:xfrm>
            <a:off x="9166845" y="6319838"/>
            <a:ext cx="2339355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938A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2a — Text to data</a:t>
            </a:r>
            <a:endParaRPr lang="en-US" sz="1125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1A9473-280C-EF10-6B9E-695C9B1BB6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6585414-CD84-8AB1-D999-5590E4AF414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8DD8D9B-6E8F-271C-8ACE-F0BBDC0FDFDC}"/>
              </a:ext>
            </a:extLst>
          </p:cNvPr>
          <p:cNvSpPr/>
          <p:nvPr/>
        </p:nvSpPr>
        <p:spPr>
          <a:xfrm>
            <a:off x="762000" y="623888"/>
            <a:ext cx="1218084" cy="2619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8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2A</a:t>
            </a:r>
            <a:endParaRPr lang="en-US" sz="135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F2C5DB9-9AE1-E5AE-E9C0-E37EDB2BA983}"/>
              </a:ext>
            </a:extLst>
          </p:cNvPr>
          <p:cNvSpPr/>
          <p:nvPr/>
        </p:nvSpPr>
        <p:spPr>
          <a:xfrm>
            <a:off x="2018184" y="609600"/>
            <a:ext cx="1598712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B07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 THE METHOD</a:t>
            </a:r>
            <a:endParaRPr lang="en-US" sz="135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456015BD-3D13-466C-D874-16EF7A95AD8F}"/>
              </a:ext>
            </a:extLst>
          </p:cNvPr>
          <p:cNvSpPr/>
          <p:nvPr/>
        </p:nvSpPr>
        <p:spPr>
          <a:xfrm>
            <a:off x="762000" y="1076325"/>
            <a:ext cx="457200" cy="28575"/>
          </a:xfrm>
          <a:prstGeom prst="roundRect">
            <a:avLst>
              <a:gd name="adj" fmla="val 50000"/>
            </a:avLst>
          </a:prstGeom>
          <a:solidFill>
            <a:srgbClr val="80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4C8F466-BB80-6F2D-4FA4-23A5109DC0E8}"/>
              </a:ext>
            </a:extLst>
          </p:cNvPr>
          <p:cNvSpPr/>
          <p:nvPr/>
        </p:nvSpPr>
        <p:spPr>
          <a:xfrm>
            <a:off x="762000" y="1314450"/>
            <a:ext cx="10988040" cy="51129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3450" b="1" kern="0" spc="-69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unstructured publication text to structured knowledge</a:t>
            </a:r>
            <a:endParaRPr lang="en-US" sz="3450" dirty="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9D10D835-CCAF-0DDD-9C44-A2024068E931}"/>
              </a:ext>
            </a:extLst>
          </p:cNvPr>
          <p:cNvSpPr/>
          <p:nvPr/>
        </p:nvSpPr>
        <p:spPr>
          <a:xfrm>
            <a:off x="762000" y="6176963"/>
            <a:ext cx="10668000" cy="9525"/>
          </a:xfrm>
          <a:prstGeom prst="rect">
            <a:avLst/>
          </a:prstGeom>
          <a:solidFill>
            <a:srgbClr val="E8E3D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8C0CBD82-86E7-F5F9-C3D0-0D259F5053A3}"/>
              </a:ext>
            </a:extLst>
          </p:cNvPr>
          <p:cNvSpPr/>
          <p:nvPr/>
        </p:nvSpPr>
        <p:spPr>
          <a:xfrm>
            <a:off x="762000" y="6319838"/>
            <a:ext cx="2527995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8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UChicago PME · AI Training</a:t>
            </a:r>
            <a:endParaRPr lang="en-US" sz="1125" dirty="0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C07F946C-37DB-25E4-D02D-0E2B68AC12DD}"/>
              </a:ext>
            </a:extLst>
          </p:cNvPr>
          <p:cNvSpPr/>
          <p:nvPr/>
        </p:nvSpPr>
        <p:spPr>
          <a:xfrm>
            <a:off x="9166845" y="6319838"/>
            <a:ext cx="2339355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938A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2a — Text to data</a:t>
            </a:r>
            <a:endParaRPr lang="en-US" sz="1125" dirty="0"/>
          </a:p>
        </p:txBody>
      </p:sp>
      <p:pic>
        <p:nvPicPr>
          <p:cNvPr id="32" name="Graphic 31" descr="Document with solid fill">
            <a:extLst>
              <a:ext uri="{FF2B5EF4-FFF2-40B4-BE49-F238E27FC236}">
                <a16:creationId xmlns:a16="http://schemas.microsoft.com/office/drawing/2014/main" id="{5280992C-93F9-64C4-3970-CD7281832C7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2776" y="2673502"/>
            <a:ext cx="2386441" cy="2386441"/>
          </a:xfrm>
          <a:prstGeom prst="rect">
            <a:avLst/>
          </a:prstGeom>
        </p:spPr>
      </p:pic>
      <p:pic>
        <p:nvPicPr>
          <p:cNvPr id="36" name="Graphic 35" descr="Chat bubble with solid fill">
            <a:extLst>
              <a:ext uri="{FF2B5EF4-FFF2-40B4-BE49-F238E27FC236}">
                <a16:creationId xmlns:a16="http://schemas.microsoft.com/office/drawing/2014/main" id="{AD9E4CFD-5150-B088-DD05-F807CB5536C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616896" y="3290454"/>
            <a:ext cx="1060334" cy="1060334"/>
          </a:xfrm>
          <a:prstGeom prst="rect">
            <a:avLst/>
          </a:prstGeom>
        </p:spPr>
      </p:pic>
      <p:pic>
        <p:nvPicPr>
          <p:cNvPr id="1026" name="Picture 2" descr="Llm Images – Browse 57,682 Stock Photos, Vectors, and Video ...">
            <a:extLst>
              <a:ext uri="{FF2B5EF4-FFF2-40B4-BE49-F238E27FC236}">
                <a16:creationId xmlns:a16="http://schemas.microsoft.com/office/drawing/2014/main" id="{9B6F9B2C-DC06-9745-D272-941E5A007C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8949" y="2830021"/>
            <a:ext cx="1981200" cy="1981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65F88364-7D93-57F3-A5EB-60757DA18651}"/>
              </a:ext>
            </a:extLst>
          </p:cNvPr>
          <p:cNvSpPr txBox="1"/>
          <p:nvPr/>
        </p:nvSpPr>
        <p:spPr>
          <a:xfrm>
            <a:off x="7867562" y="2254374"/>
            <a:ext cx="4429992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{</a:t>
            </a:r>
          </a:p>
          <a:p>
            <a:r>
              <a:rPr lang="en-US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sensor_type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 Gas ,</a:t>
            </a:r>
          </a:p>
          <a:p>
            <a:r>
              <a:rPr lang="en-US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detect_target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 Nitrogen Dioxide,</a:t>
            </a:r>
          </a:p>
          <a:p>
            <a:r>
              <a:rPr lang="en-US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lower_detection_limit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 10 pb,</a:t>
            </a:r>
          </a:p>
          <a:p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upper_detection_limit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:1200 ppb,</a:t>
            </a:r>
          </a:p>
          <a:p>
            <a:r>
              <a:rPr lang="en-US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probe_material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 zinc oxide,</a:t>
            </a:r>
          </a:p>
          <a:p>
            <a:r>
              <a:rPr lang="en-US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test_operating_temperature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 40</a:t>
            </a:r>
            <a:r>
              <a:rPr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°C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}</a:t>
            </a:r>
          </a:p>
        </p:txBody>
      </p:sp>
      <p:sp>
        <p:nvSpPr>
          <p:cNvPr id="42" name="Right Arrow 41">
            <a:extLst>
              <a:ext uri="{FF2B5EF4-FFF2-40B4-BE49-F238E27FC236}">
                <a16:creationId xmlns:a16="http://schemas.microsoft.com/office/drawing/2014/main" id="{7E529992-EEC1-54F6-2D2B-3191C2D06F4B}"/>
              </a:ext>
            </a:extLst>
          </p:cNvPr>
          <p:cNvSpPr/>
          <p:nvPr/>
        </p:nvSpPr>
        <p:spPr>
          <a:xfrm>
            <a:off x="3289995" y="5417563"/>
            <a:ext cx="6408187" cy="401781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1DA902B-5C51-1F6F-C596-9A00A6EB3F6E}"/>
              </a:ext>
            </a:extLst>
          </p:cNvPr>
          <p:cNvSpPr txBox="1"/>
          <p:nvPr/>
        </p:nvSpPr>
        <p:spPr>
          <a:xfrm>
            <a:off x="3703640" y="4268423"/>
            <a:ext cx="8868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prompt</a:t>
            </a:r>
          </a:p>
        </p:txBody>
      </p:sp>
    </p:spTree>
    <p:extLst>
      <p:ext uri="{BB962C8B-B14F-4D97-AF65-F5344CB8AC3E}">
        <p14:creationId xmlns:p14="http://schemas.microsoft.com/office/powerpoint/2010/main" val="21705588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62000" y="878309"/>
            <a:ext cx="1218084" cy="2619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8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2A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2018184" y="864022"/>
            <a:ext cx="2138180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B07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 THE IMPROVEMENT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62000" y="1330747"/>
            <a:ext cx="457200" cy="28575"/>
          </a:xfrm>
          <a:prstGeom prst="roundRect">
            <a:avLst>
              <a:gd name="adj" fmla="val 50000"/>
            </a:avLst>
          </a:prstGeom>
          <a:solidFill>
            <a:srgbClr val="80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62000" y="1568872"/>
            <a:ext cx="4225137" cy="9844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3450" b="1" kern="0" spc="-69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the levers, climb the accuracy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762000" y="2743870"/>
            <a:ext cx="4225137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kern="0" spc="127" dirty="0">
                <a:solidFill>
                  <a:srgbClr val="6E66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HELD-OUT TEST ACCURACY</a:t>
            </a:r>
            <a:endParaRPr lang="en-US" sz="1275" dirty="0"/>
          </a:p>
        </p:txBody>
      </p:sp>
      <p:sp>
        <p:nvSpPr>
          <p:cNvPr id="8" name="Text 6"/>
          <p:cNvSpPr/>
          <p:nvPr/>
        </p:nvSpPr>
        <p:spPr>
          <a:xfrm>
            <a:off x="762000" y="3082007"/>
            <a:ext cx="4225137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900" b="1" kern="0" spc="-78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0.68 → 0.83</a:t>
            </a:r>
            <a:endParaRPr lang="en-US" sz="3900" dirty="0"/>
          </a:p>
        </p:txBody>
      </p:sp>
      <p:sp>
        <p:nvSpPr>
          <p:cNvPr id="9" name="Text 7"/>
          <p:cNvSpPr/>
          <p:nvPr/>
        </p:nvSpPr>
        <p:spPr>
          <a:xfrm>
            <a:off x="762000" y="3672557"/>
            <a:ext cx="2946368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dirty="0">
                <a:solidFill>
                  <a:srgbClr val="2F7D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+0.15 across three stacked levers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028700" y="4177382"/>
            <a:ext cx="3958437" cy="6732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725" b="1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optimization </a:t>
            </a:r>
            <a:r>
              <a:rPr lang="en-US" sz="1725" dirty="0">
                <a:solidFill>
                  <a:srgbClr val="403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the training set</a:t>
            </a:r>
            <a:endParaRPr lang="en-US" sz="1725" dirty="0"/>
          </a:p>
        </p:txBody>
      </p:sp>
      <p:sp>
        <p:nvSpPr>
          <p:cNvPr id="11" name="Text 9"/>
          <p:cNvSpPr/>
          <p:nvPr/>
        </p:nvSpPr>
        <p:spPr>
          <a:xfrm>
            <a:off x="1028700" y="4926881"/>
            <a:ext cx="3958437" cy="6732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725" b="1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Few-shot examples </a:t>
            </a:r>
            <a:r>
              <a:rPr lang="en-US" sz="1725" dirty="0">
                <a:solidFill>
                  <a:srgbClr val="403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the worst failures</a:t>
            </a:r>
            <a:endParaRPr lang="en-US" sz="1725" dirty="0"/>
          </a:p>
        </p:txBody>
      </p:sp>
      <p:sp>
        <p:nvSpPr>
          <p:cNvPr id="12" name="Text 10"/>
          <p:cNvSpPr/>
          <p:nvPr/>
        </p:nvSpPr>
        <p:spPr>
          <a:xfrm>
            <a:off x="1028700" y="5676379"/>
            <a:ext cx="3958437" cy="35569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725" b="1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second optimization pass</a:t>
            </a:r>
            <a:endParaRPr lang="en-US" sz="1725" dirty="0"/>
          </a:p>
        </p:txBody>
      </p:sp>
      <p:sp>
        <p:nvSpPr>
          <p:cNvPr id="13" name="Shape 11"/>
          <p:cNvSpPr/>
          <p:nvPr/>
        </p:nvSpPr>
        <p:spPr>
          <a:xfrm>
            <a:off x="5397475" y="1109663"/>
            <a:ext cx="6032525" cy="409575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8E3DB"/>
            </a:solidFill>
            <a:prstDash val="solid"/>
          </a:ln>
          <a:effectLst>
            <a:outerShdw blurRad="114300" dist="38100" dir="5400000" algn="bl" rotWithShape="0">
              <a:srgbClr val="1A1714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578450" y="1290638"/>
            <a:ext cx="5670575" cy="373380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5110907" y="5333999"/>
            <a:ext cx="6605660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dirty="0">
                <a:solidFill>
                  <a:srgbClr val="6E66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Test accuracy across prompt versions: baseline → optimized → few-shot → re-optimized.</a:t>
            </a:r>
            <a:endParaRPr lang="en-US" sz="1125" dirty="0"/>
          </a:p>
        </p:txBody>
      </p:sp>
      <p:sp>
        <p:nvSpPr>
          <p:cNvPr id="17" name="Shape 14"/>
          <p:cNvSpPr/>
          <p:nvPr/>
        </p:nvSpPr>
        <p:spPr>
          <a:xfrm>
            <a:off x="762000" y="6176963"/>
            <a:ext cx="10668000" cy="9525"/>
          </a:xfrm>
          <a:prstGeom prst="rect">
            <a:avLst/>
          </a:prstGeom>
          <a:solidFill>
            <a:srgbClr val="E8E3D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762000" y="6319838"/>
            <a:ext cx="2527995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8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UChicago PME · AI Training</a:t>
            </a:r>
            <a:endParaRPr lang="en-US" sz="1125" dirty="0"/>
          </a:p>
        </p:txBody>
      </p:sp>
      <p:sp>
        <p:nvSpPr>
          <p:cNvPr id="19" name="Text 16"/>
          <p:cNvSpPr/>
          <p:nvPr/>
        </p:nvSpPr>
        <p:spPr>
          <a:xfrm>
            <a:off x="9166845" y="6319838"/>
            <a:ext cx="2339355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938A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2a — Text to data</a:t>
            </a:r>
            <a:endParaRPr lang="en-US" sz="1125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D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38200" y="1281931"/>
            <a:ext cx="1218084" cy="2619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EAA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2B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2094384" y="1267644"/>
            <a:ext cx="210621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D9A86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 MULTIMODAL PDF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38200" y="1734369"/>
            <a:ext cx="457200" cy="28575"/>
          </a:xfrm>
          <a:prstGeom prst="roundRect">
            <a:avLst>
              <a:gd name="adj" fmla="val 50000"/>
            </a:avLst>
          </a:prstGeom>
          <a:solidFill>
            <a:srgbClr val="EAAA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38200" y="1972494"/>
            <a:ext cx="7267696" cy="1560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5550" b="1" kern="0" spc="-11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page, beyond</a:t>
            </a:r>
            <a:r>
              <a:rPr lang="zh-CN" altLang="en-US" sz="5550" b="1" kern="0" spc="-11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5550" b="1" kern="0" spc="-11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just the </a:t>
            </a:r>
            <a:r>
              <a:rPr lang="en-US" sz="5550" i="1" kern="0" spc="-111" dirty="0">
                <a:solidFill>
                  <a:srgbClr val="EAA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</a:t>
            </a:r>
            <a:endParaRPr lang="en-US" sz="5550" dirty="0"/>
          </a:p>
        </p:txBody>
      </p:sp>
      <p:sp>
        <p:nvSpPr>
          <p:cNvPr id="7" name="Text 5"/>
          <p:cNvSpPr/>
          <p:nvPr/>
        </p:nvSpPr>
        <p:spPr>
          <a:xfrm>
            <a:off x="838200" y="3761556"/>
            <a:ext cx="7365957" cy="1109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75" dirty="0">
                <a:solidFill>
                  <a:srgbClr val="E7C9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 a vision model rendered page images instead of linearized text. Same worker, same prompt, one variable changed, so any difference is the modality itself.</a:t>
            </a:r>
            <a:endParaRPr lang="en-US" sz="1875" dirty="0"/>
          </a:p>
        </p:txBody>
      </p:sp>
      <p:sp>
        <p:nvSpPr>
          <p:cNvPr id="14" name="Shape 12"/>
          <p:cNvSpPr/>
          <p:nvPr/>
        </p:nvSpPr>
        <p:spPr>
          <a:xfrm>
            <a:off x="762000" y="6176963"/>
            <a:ext cx="10668000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62000" y="6319838"/>
            <a:ext cx="2527995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EAA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UChicago PME · AI Training</a:t>
            </a:r>
            <a:endParaRPr lang="en-US" sz="1125" dirty="0"/>
          </a:p>
        </p:txBody>
      </p:sp>
      <p:sp>
        <p:nvSpPr>
          <p:cNvPr id="16" name="Text 14"/>
          <p:cNvSpPr/>
          <p:nvPr/>
        </p:nvSpPr>
        <p:spPr>
          <a:xfrm>
            <a:off x="8978205" y="6319838"/>
            <a:ext cx="2527995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B3756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2b — Multimodal PDF</a:t>
            </a:r>
            <a:endParaRPr lang="en-US" sz="1125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62000" y="1172245"/>
            <a:ext cx="1218084" cy="2619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8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2B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2018184" y="1157957"/>
            <a:ext cx="197934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B07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 TEXT VS IMAGE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62000" y="1624682"/>
            <a:ext cx="457200" cy="28575"/>
          </a:xfrm>
          <a:prstGeom prst="roundRect">
            <a:avLst>
              <a:gd name="adj" fmla="val 50000"/>
            </a:avLst>
          </a:prstGeom>
          <a:solidFill>
            <a:srgbClr val="80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62000" y="1862807"/>
            <a:ext cx="5092009" cy="9844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3450" b="1" kern="0" spc="-69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prompt, two inputs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762000" y="2860446"/>
            <a:ext cx="1000646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800" kern="0" spc="127" dirty="0">
                <a:solidFill>
                  <a:srgbClr val="6E66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TEXT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800" kern="0" spc="127" dirty="0">
                <a:solidFill>
                  <a:srgbClr val="6E66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PRECISION</a:t>
            </a:r>
          </a:p>
        </p:txBody>
      </p:sp>
      <p:sp>
        <p:nvSpPr>
          <p:cNvPr id="8" name="Text 6"/>
          <p:cNvSpPr/>
          <p:nvPr/>
        </p:nvSpPr>
        <p:spPr>
          <a:xfrm>
            <a:off x="762000" y="3375943"/>
            <a:ext cx="1000646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900" b="1" kern="0" spc="-78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0.68</a:t>
            </a:r>
            <a:endParaRPr lang="en-US" sz="3900" dirty="0"/>
          </a:p>
        </p:txBody>
      </p:sp>
      <p:sp>
        <p:nvSpPr>
          <p:cNvPr id="9" name="Shape 7"/>
          <p:cNvSpPr/>
          <p:nvPr/>
        </p:nvSpPr>
        <p:spPr>
          <a:xfrm>
            <a:off x="2029346" y="3037805"/>
            <a:ext cx="9525" cy="1185863"/>
          </a:xfrm>
          <a:prstGeom prst="rect">
            <a:avLst/>
          </a:prstGeom>
          <a:solidFill>
            <a:srgbClr val="E8E3D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381771" y="2860446"/>
            <a:ext cx="2030090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800" kern="0" spc="127" dirty="0">
                <a:solidFill>
                  <a:srgbClr val="6E66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IMAGE 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800" kern="0" spc="127" dirty="0">
                <a:solidFill>
                  <a:srgbClr val="6E66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PRECISION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2381771" y="3375943"/>
            <a:ext cx="203009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900" b="1" kern="0" spc="-78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</a:t>
            </a:r>
            <a:r>
              <a:rPr lang="en-US" altLang="zh-CN" sz="3900" b="1" kern="0" spc="-78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</a:t>
            </a:r>
            <a:endParaRPr lang="en-US" sz="3900" dirty="0">
              <a:solidFill>
                <a:srgbClr val="FF0000"/>
              </a:solidFill>
            </a:endParaRPr>
          </a:p>
        </p:txBody>
      </p:sp>
      <p:sp>
        <p:nvSpPr>
          <p:cNvPr id="12" name="Text 10"/>
          <p:cNvSpPr/>
          <p:nvPr/>
        </p:nvSpPr>
        <p:spPr>
          <a:xfrm>
            <a:off x="2381771" y="3966493"/>
            <a:ext cx="203009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dirty="0">
                <a:solidFill>
                  <a:srgbClr val="6E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</a:t>
            </a:r>
            <a:r>
              <a:rPr lang="en-US" altLang="zh-CN" sz="1350" dirty="0">
                <a:solidFill>
                  <a:srgbClr val="6E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r>
              <a:rPr lang="zh-CN" altLang="en-US" sz="1350" dirty="0">
                <a:solidFill>
                  <a:srgbClr val="6E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350" dirty="0">
                <a:solidFill>
                  <a:srgbClr val="6E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</a:t>
            </a:r>
            <a:r>
              <a:rPr lang="en-US" altLang="zh-CN" sz="1350" dirty="0">
                <a:solidFill>
                  <a:srgbClr val="6E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</a:t>
            </a:r>
            <a:r>
              <a:rPr lang="en-US" sz="1350" dirty="0">
                <a:solidFill>
                  <a:srgbClr val="6E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vs 0.6</a:t>
            </a:r>
            <a:r>
              <a:rPr lang="en-US" altLang="zh-CN" sz="1350" dirty="0">
                <a:solidFill>
                  <a:srgbClr val="6E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762000" y="4452268"/>
            <a:ext cx="4943698" cy="1247775"/>
          </a:xfrm>
          <a:prstGeom prst="roundRect">
            <a:avLst>
              <a:gd name="adj" fmla="val 7634"/>
            </a:avLst>
          </a:prstGeom>
          <a:solidFill>
            <a:srgbClr val="FA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62000" y="4452268"/>
            <a:ext cx="28575" cy="1247775"/>
          </a:xfrm>
          <a:prstGeom prst="rect">
            <a:avLst/>
          </a:prstGeom>
          <a:solidFill>
            <a:srgbClr val="80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19175" y="4642768"/>
            <a:ext cx="4591661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00" b="1" dirty="0">
                <a:solidFill>
                  <a:srgbClr val="5B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the text layer fails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019175" y="4966618"/>
            <a:ext cx="4591661" cy="581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25" dirty="0">
                <a:solidFill>
                  <a:srgbClr val="403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the scanned paper, the text arm scores 0.00</a:t>
            </a:r>
            <a:r>
              <a:rPr lang="zh-CN" altLang="en-US" sz="1425" dirty="0">
                <a:solidFill>
                  <a:srgbClr val="403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altLang="zh-CN" sz="1425" dirty="0">
                <a:solidFill>
                  <a:srgbClr val="403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some situation</a:t>
            </a:r>
            <a:endParaRPr lang="en-US" sz="1425" dirty="0"/>
          </a:p>
        </p:txBody>
      </p:sp>
      <p:sp>
        <p:nvSpPr>
          <p:cNvPr id="17" name="Shape 15"/>
          <p:cNvSpPr/>
          <p:nvPr/>
        </p:nvSpPr>
        <p:spPr>
          <a:xfrm>
            <a:off x="6239098" y="1026319"/>
            <a:ext cx="5190902" cy="447675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9525">
            <a:solidFill>
              <a:srgbClr val="E8E3DB"/>
            </a:solidFill>
            <a:prstDash val="solid"/>
          </a:ln>
          <a:effectLst>
            <a:outerShdw blurRad="114300" dist="38100" dir="5400000" algn="bl" rotWithShape="0">
              <a:srgbClr val="1A1714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420073" y="1207294"/>
            <a:ext cx="4828952" cy="4114800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7020148" y="5617369"/>
            <a:ext cx="4414838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dirty="0">
                <a:solidFill>
                  <a:srgbClr val="6E66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Text vs image extraction F1, pooled and per paper.</a:t>
            </a:r>
            <a:endParaRPr lang="en-US" sz="1125" dirty="0"/>
          </a:p>
        </p:txBody>
      </p:sp>
      <p:sp>
        <p:nvSpPr>
          <p:cNvPr id="21" name="Shape 18"/>
          <p:cNvSpPr/>
          <p:nvPr/>
        </p:nvSpPr>
        <p:spPr>
          <a:xfrm>
            <a:off x="762000" y="6176963"/>
            <a:ext cx="10668000" cy="9525"/>
          </a:xfrm>
          <a:prstGeom prst="rect">
            <a:avLst/>
          </a:prstGeom>
          <a:solidFill>
            <a:srgbClr val="E8E3D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762000" y="6319838"/>
            <a:ext cx="2527995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8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UChicago PME · AI Training</a:t>
            </a:r>
            <a:endParaRPr lang="en-US" sz="1125" dirty="0"/>
          </a:p>
        </p:txBody>
      </p:sp>
      <p:sp>
        <p:nvSpPr>
          <p:cNvPr id="23" name="Text 20"/>
          <p:cNvSpPr/>
          <p:nvPr/>
        </p:nvSpPr>
        <p:spPr>
          <a:xfrm>
            <a:off x="8978205" y="6319838"/>
            <a:ext cx="2527995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938A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2b — Multimodal PDF</a:t>
            </a:r>
            <a:endParaRPr lang="en-US" sz="1125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62000" y="1033909"/>
            <a:ext cx="1218084" cy="2619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8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2B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2018184" y="1019621"/>
            <a:ext cx="2233092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B07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 RAISING THE BAR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62000" y="1486346"/>
            <a:ext cx="457200" cy="28575"/>
          </a:xfrm>
          <a:prstGeom prst="roundRect">
            <a:avLst>
              <a:gd name="adj" fmla="val 50000"/>
            </a:avLst>
          </a:prstGeom>
          <a:solidFill>
            <a:srgbClr val="80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62000" y="1724471"/>
            <a:ext cx="4225137" cy="51129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3450" b="1" kern="0" spc="-69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a higher F1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762000" y="2445321"/>
            <a:ext cx="4225137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kern="0" spc="127" dirty="0">
                <a:solidFill>
                  <a:srgbClr val="6E66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MULTIMODAL F1</a:t>
            </a:r>
            <a:endParaRPr lang="en-US" sz="1275" dirty="0"/>
          </a:p>
        </p:txBody>
      </p:sp>
      <p:sp>
        <p:nvSpPr>
          <p:cNvPr id="8" name="Text 6"/>
          <p:cNvSpPr/>
          <p:nvPr/>
        </p:nvSpPr>
        <p:spPr>
          <a:xfrm>
            <a:off x="762000" y="2783458"/>
            <a:ext cx="4225137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900" b="1" kern="0" spc="-78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</a:t>
            </a:r>
            <a:r>
              <a:rPr lang="en-US" altLang="zh-CN" sz="3900" b="1" kern="0" spc="-78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</a:t>
            </a:r>
            <a:r>
              <a:rPr lang="en-US" sz="3900" b="1" kern="0" spc="-78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0.86</a:t>
            </a:r>
            <a:endParaRPr lang="en-US" sz="3900" dirty="0"/>
          </a:p>
        </p:txBody>
      </p:sp>
      <p:sp>
        <p:nvSpPr>
          <p:cNvPr id="9" name="Text 7"/>
          <p:cNvSpPr/>
          <p:nvPr/>
        </p:nvSpPr>
        <p:spPr>
          <a:xfrm>
            <a:off x="762000" y="3374008"/>
            <a:ext cx="2173932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dirty="0">
                <a:solidFill>
                  <a:srgbClr val="2F7D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+0.1</a:t>
            </a:r>
            <a:r>
              <a:rPr lang="en-US" altLang="zh-CN" sz="1350" dirty="0">
                <a:solidFill>
                  <a:srgbClr val="2F7D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r>
              <a:rPr lang="en-US" sz="1350" dirty="0">
                <a:solidFill>
                  <a:srgbClr val="2F7D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recall 0.79 · precision 0.95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62000" y="4145533"/>
            <a:ext cx="3958437" cy="9908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725" b="1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Selectivity-ordering recovery </a:t>
            </a:r>
            <a:endParaRPr lang="en-US" sz="1725" dirty="0">
              <a:solidFill>
                <a:srgbClr val="403B36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762000" y="5216426"/>
            <a:ext cx="3958437" cy="6732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725" b="1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two-pass read </a:t>
            </a:r>
            <a:r>
              <a:rPr lang="en-US" sz="1725" dirty="0">
                <a:solidFill>
                  <a:srgbClr val="403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an exhaustive prompt</a:t>
            </a:r>
            <a:r>
              <a:rPr lang="zh-CN" altLang="en-US" sz="1725" dirty="0">
                <a:solidFill>
                  <a:srgbClr val="403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altLang="zh-CN" sz="1725" dirty="0">
                <a:solidFill>
                  <a:srgbClr val="403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(basic multi-agent)</a:t>
            </a:r>
            <a:endParaRPr lang="en-US" sz="1725" dirty="0"/>
          </a:p>
        </p:txBody>
      </p:sp>
      <p:sp>
        <p:nvSpPr>
          <p:cNvPr id="12" name="Shape 10"/>
          <p:cNvSpPr/>
          <p:nvPr/>
        </p:nvSpPr>
        <p:spPr>
          <a:xfrm>
            <a:off x="5397475" y="1109663"/>
            <a:ext cx="6032525" cy="409575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8E3DB"/>
            </a:solidFill>
            <a:prstDash val="solid"/>
          </a:ln>
          <a:effectLst>
            <a:outerShdw blurRad="114300" dist="38100" dir="5400000" algn="bl" rotWithShape="0">
              <a:srgbClr val="1A1714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161708" y="5319713"/>
            <a:ext cx="5426341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dirty="0">
                <a:solidFill>
                  <a:srgbClr val="6E66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F1 climb from 0.</a:t>
            </a:r>
            <a:r>
              <a:rPr lang="en-US" altLang="zh-CN" sz="1125" dirty="0">
                <a:solidFill>
                  <a:srgbClr val="6E66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71</a:t>
            </a:r>
            <a:r>
              <a:rPr lang="en-US" sz="1125" dirty="0">
                <a:solidFill>
                  <a:srgbClr val="6E66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to 0.86 under selectivity-ordering recovery.</a:t>
            </a:r>
            <a:endParaRPr lang="en-US" sz="1125" dirty="0"/>
          </a:p>
        </p:txBody>
      </p:sp>
      <p:sp>
        <p:nvSpPr>
          <p:cNvPr id="16" name="Shape 13"/>
          <p:cNvSpPr/>
          <p:nvPr/>
        </p:nvSpPr>
        <p:spPr>
          <a:xfrm>
            <a:off x="762000" y="6176963"/>
            <a:ext cx="10668000" cy="9525"/>
          </a:xfrm>
          <a:prstGeom prst="rect">
            <a:avLst/>
          </a:prstGeom>
          <a:solidFill>
            <a:srgbClr val="E8E3D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762000" y="6319838"/>
            <a:ext cx="2527995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8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UChicago PME · AI Training</a:t>
            </a:r>
            <a:endParaRPr lang="en-US" sz="1125" dirty="0"/>
          </a:p>
        </p:txBody>
      </p:sp>
      <p:sp>
        <p:nvSpPr>
          <p:cNvPr id="18" name="Text 15"/>
          <p:cNvSpPr/>
          <p:nvPr/>
        </p:nvSpPr>
        <p:spPr>
          <a:xfrm>
            <a:off x="8978205" y="6319838"/>
            <a:ext cx="2527995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938A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2b — Multimodal PDF</a:t>
            </a:r>
            <a:endParaRPr lang="en-US" sz="1125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AD1D73A7-D271-1A93-5413-FD386F1C02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68372" y="1457771"/>
            <a:ext cx="5834935" cy="3471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AB28F-3195-2E45-8228-8DAC638DBF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5026C2A-FD5C-829C-BC5A-CC047DCCFC1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D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7CB391C-C113-6334-36D7-E4A81A2C4ABB}"/>
              </a:ext>
            </a:extLst>
          </p:cNvPr>
          <p:cNvSpPr/>
          <p:nvPr/>
        </p:nvSpPr>
        <p:spPr>
          <a:xfrm>
            <a:off x="838200" y="1281931"/>
            <a:ext cx="1218084" cy="2619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EAA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3</a:t>
            </a:r>
            <a:endParaRPr lang="en-US" sz="135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EFDCCB2F-AC31-F900-FB59-1477FD8E4322}"/>
              </a:ext>
            </a:extLst>
          </p:cNvPr>
          <p:cNvSpPr/>
          <p:nvPr/>
        </p:nvSpPr>
        <p:spPr>
          <a:xfrm>
            <a:off x="2094383" y="1267645"/>
            <a:ext cx="3413037" cy="27622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D9A86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 DISTILATION &amp; FINE TUNING</a:t>
            </a:r>
            <a:endParaRPr lang="en-US" sz="135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8B1A113A-C50E-121A-C439-BF8000893F48}"/>
              </a:ext>
            </a:extLst>
          </p:cNvPr>
          <p:cNvSpPr/>
          <p:nvPr/>
        </p:nvSpPr>
        <p:spPr>
          <a:xfrm>
            <a:off x="838200" y="1734369"/>
            <a:ext cx="457200" cy="28575"/>
          </a:xfrm>
          <a:prstGeom prst="roundRect">
            <a:avLst>
              <a:gd name="adj" fmla="val 50000"/>
            </a:avLst>
          </a:prstGeom>
          <a:solidFill>
            <a:srgbClr val="EAAA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2D898F96-950C-8E90-E626-0BACE585238D}"/>
              </a:ext>
            </a:extLst>
          </p:cNvPr>
          <p:cNvSpPr/>
          <p:nvPr/>
        </p:nvSpPr>
        <p:spPr>
          <a:xfrm>
            <a:off x="838199" y="1972494"/>
            <a:ext cx="8140005" cy="1560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700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5550" b="1" kern="0" spc="-11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DISTILLATION AND FINE TUNING YOUR OWN </a:t>
            </a:r>
            <a:r>
              <a:rPr lang="en-US" sz="5550" i="1" kern="0" spc="-111" dirty="0">
                <a:solidFill>
                  <a:srgbClr val="EAA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LLM</a:t>
            </a:r>
            <a:endParaRPr lang="en-US" sz="555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ACC92552-3088-83A3-705D-F1DB78B02AD9}"/>
              </a:ext>
            </a:extLst>
          </p:cNvPr>
          <p:cNvSpPr/>
          <p:nvPr/>
        </p:nvSpPr>
        <p:spPr>
          <a:xfrm>
            <a:off x="838200" y="3761556"/>
            <a:ext cx="7365957" cy="1109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75" dirty="0">
                <a:solidFill>
                  <a:srgbClr val="E7C9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would teach a small model to reason from a large one</a:t>
            </a:r>
            <a:endParaRPr lang="en-US" sz="1875" dirty="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B986B34C-F465-D8C3-968C-8BE8A9A752A6}"/>
              </a:ext>
            </a:extLst>
          </p:cNvPr>
          <p:cNvSpPr/>
          <p:nvPr/>
        </p:nvSpPr>
        <p:spPr>
          <a:xfrm>
            <a:off x="762000" y="6176963"/>
            <a:ext cx="10668000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6BFB3991-787E-93C1-2D49-0E6C98EF9715}"/>
              </a:ext>
            </a:extLst>
          </p:cNvPr>
          <p:cNvSpPr/>
          <p:nvPr/>
        </p:nvSpPr>
        <p:spPr>
          <a:xfrm>
            <a:off x="762000" y="6319838"/>
            <a:ext cx="2527995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EAA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UChicago PME · AI Training</a:t>
            </a:r>
            <a:endParaRPr lang="en-US" sz="1125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DF7F33C9-431C-FAEE-9184-0A69F82EC08B}"/>
              </a:ext>
            </a:extLst>
          </p:cNvPr>
          <p:cNvSpPr/>
          <p:nvPr/>
        </p:nvSpPr>
        <p:spPr>
          <a:xfrm>
            <a:off x="8978205" y="6319838"/>
            <a:ext cx="2527995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B3756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2b — Multimodal PDF</a:t>
            </a:r>
            <a:endParaRPr lang="en-US" sz="1125" dirty="0"/>
          </a:p>
        </p:txBody>
      </p:sp>
    </p:spTree>
    <p:extLst>
      <p:ext uri="{BB962C8B-B14F-4D97-AF65-F5344CB8AC3E}">
        <p14:creationId xmlns:p14="http://schemas.microsoft.com/office/powerpoint/2010/main" val="32111907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5941D5-F895-7FFF-E60C-FA1BEA6794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C211D5C-DBDC-E9B7-189D-195205FB650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C902227-8604-AA11-62E7-9EACFF20B9AC}"/>
              </a:ext>
            </a:extLst>
          </p:cNvPr>
          <p:cNvSpPr/>
          <p:nvPr/>
        </p:nvSpPr>
        <p:spPr>
          <a:xfrm>
            <a:off x="762000" y="1033909"/>
            <a:ext cx="1218084" cy="2619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8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3</a:t>
            </a:r>
            <a:endParaRPr lang="en-US" sz="135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B3E5D7C-2339-FC31-18F6-13A453473879}"/>
              </a:ext>
            </a:extLst>
          </p:cNvPr>
          <p:cNvSpPr/>
          <p:nvPr/>
        </p:nvSpPr>
        <p:spPr>
          <a:xfrm>
            <a:off x="2018184" y="1019621"/>
            <a:ext cx="2233092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B07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 DISTILLATION</a:t>
            </a:r>
            <a:endParaRPr lang="en-US" sz="135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E80F0E12-6C47-54A0-4D2D-9B734019D518}"/>
              </a:ext>
            </a:extLst>
          </p:cNvPr>
          <p:cNvSpPr/>
          <p:nvPr/>
        </p:nvSpPr>
        <p:spPr>
          <a:xfrm>
            <a:off x="762000" y="1486346"/>
            <a:ext cx="457200" cy="28575"/>
          </a:xfrm>
          <a:prstGeom prst="roundRect">
            <a:avLst>
              <a:gd name="adj" fmla="val 50000"/>
            </a:avLst>
          </a:prstGeom>
          <a:solidFill>
            <a:srgbClr val="80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27CC57C-C6DA-3620-6B01-061280B8CFF1}"/>
              </a:ext>
            </a:extLst>
          </p:cNvPr>
          <p:cNvSpPr/>
          <p:nvPr/>
        </p:nvSpPr>
        <p:spPr>
          <a:xfrm>
            <a:off x="761999" y="1724470"/>
            <a:ext cx="4514193" cy="83120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550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3450" b="1" kern="0" spc="-69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Task: pick the better solvent for a compound (</a:t>
            </a:r>
            <a:r>
              <a:rPr lang="en-US" sz="3450" b="1" kern="0" spc="-69" dirty="0" err="1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solubench</a:t>
            </a:r>
            <a:r>
              <a:rPr lang="en-US" sz="3450" b="1" kern="0" spc="-69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binary A/B, no reasoning given)</a:t>
            </a:r>
            <a:endParaRPr lang="en-US" sz="345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911923FB-83F4-729B-4254-521A60862245}"/>
              </a:ext>
            </a:extLst>
          </p:cNvPr>
          <p:cNvSpPr/>
          <p:nvPr/>
        </p:nvSpPr>
        <p:spPr>
          <a:xfrm>
            <a:off x="762000" y="2593777"/>
            <a:ext cx="4635474" cy="34498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Teacher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= DeepSeek v4-flash0731 writes the reasoning;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Student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= Qwen3-1.7B,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The trap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 show the teacher the answer → it rationalizes → student scores 0.41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The correct way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 teacher answers blind, keep only the chains it gets right → 2114 real derivations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Test Set Result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 student 0.01 → 0.825, matching the teacher's own 0.846 accuracy indicating real capability transfer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121CB4C1-6F05-9FD4-5A97-681882179856}"/>
              </a:ext>
            </a:extLst>
          </p:cNvPr>
          <p:cNvSpPr/>
          <p:nvPr/>
        </p:nvSpPr>
        <p:spPr>
          <a:xfrm>
            <a:off x="5397475" y="1109663"/>
            <a:ext cx="6032525" cy="409575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8E3DB"/>
            </a:solidFill>
            <a:prstDash val="solid"/>
          </a:ln>
          <a:effectLst>
            <a:outerShdw blurRad="114300" dist="38100" dir="5400000" algn="bl" rotWithShape="0">
              <a:srgbClr val="1A1714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2FD24BF8-C118-235F-0BB0-445A3B543D0B}"/>
              </a:ext>
            </a:extLst>
          </p:cNvPr>
          <p:cNvSpPr/>
          <p:nvPr/>
        </p:nvSpPr>
        <p:spPr>
          <a:xfrm>
            <a:off x="762000" y="6176963"/>
            <a:ext cx="10668000" cy="9525"/>
          </a:xfrm>
          <a:prstGeom prst="rect">
            <a:avLst/>
          </a:prstGeom>
          <a:solidFill>
            <a:srgbClr val="E8E3D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C349AD57-5604-BBD0-FE22-D6DA15C249C9}"/>
              </a:ext>
            </a:extLst>
          </p:cNvPr>
          <p:cNvSpPr/>
          <p:nvPr/>
        </p:nvSpPr>
        <p:spPr>
          <a:xfrm>
            <a:off x="762000" y="6319838"/>
            <a:ext cx="2527995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8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UChicago PME · AI Training</a:t>
            </a:r>
            <a:endParaRPr lang="en-US" sz="1125" dirty="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6A318362-2863-F984-AAA2-456A36DBC63D}"/>
              </a:ext>
            </a:extLst>
          </p:cNvPr>
          <p:cNvSpPr/>
          <p:nvPr/>
        </p:nvSpPr>
        <p:spPr>
          <a:xfrm>
            <a:off x="8978205" y="6319838"/>
            <a:ext cx="2527995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938A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3 — DISTILLATION</a:t>
            </a:r>
            <a:endParaRPr lang="en-US" sz="1125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5F7B965-F99A-CE9E-58CC-7941CD407C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587" y="1400175"/>
            <a:ext cx="4178300" cy="3733800"/>
          </a:xfrm>
          <a:prstGeom prst="rect">
            <a:avLst/>
          </a:prstGeom>
        </p:spPr>
      </p:pic>
      <p:pic>
        <p:nvPicPr>
          <p:cNvPr id="14" name="Picture 13" descr="DeepSeek Logo and symbol, meaning, history, PNG, brand">
            <a:extLst>
              <a:ext uri="{FF2B5EF4-FFF2-40B4-BE49-F238E27FC236}">
                <a16:creationId xmlns:a16="http://schemas.microsoft.com/office/drawing/2014/main" id="{3E2D12D5-0306-8FC2-7359-B388855F5B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0925" y="1823530"/>
            <a:ext cx="1125483" cy="633084"/>
          </a:xfrm>
          <a:prstGeom prst="rect">
            <a:avLst/>
          </a:prstGeom>
        </p:spPr>
      </p:pic>
      <p:pic>
        <p:nvPicPr>
          <p:cNvPr id="19" name="Picture 18" descr="Logos Download | Qwen">
            <a:extLst>
              <a:ext uri="{FF2B5EF4-FFF2-40B4-BE49-F238E27FC236}">
                <a16:creationId xmlns:a16="http://schemas.microsoft.com/office/drawing/2014/main" id="{AB15AF88-0301-AC12-B42D-668EEA32C0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71814" y="2452493"/>
            <a:ext cx="1003704" cy="293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33444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644</TotalTime>
  <Words>1224</Words>
  <Application>Microsoft Macintosh PowerPoint</Application>
  <PresentationFormat>Widescreen</PresentationFormat>
  <Paragraphs>217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IBM Plex 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Rui Ding</cp:lastModifiedBy>
  <cp:revision>8</cp:revision>
  <dcterms:created xsi:type="dcterms:W3CDTF">2026-06-06T19:55:52Z</dcterms:created>
  <dcterms:modified xsi:type="dcterms:W3CDTF">2026-08-20T22:25:29Z</dcterms:modified>
</cp:coreProperties>
</file>